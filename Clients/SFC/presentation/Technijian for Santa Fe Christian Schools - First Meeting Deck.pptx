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WARM and PEER-TO-PEER. You're Ravi, Founder &amp; CEO of Technijian — Irvine-based, 25+ years, security-first, CISSP. You're meeting Rob Honma, CTO — and he is a credentialed, award-winning peer (Cox Business 'Top Tech Awards' 2023 Nonprofit winner, ITIL-certified, ~30-yr career, ran tech for a large multi-campus church and a public HS district). Treat this tech-to-tech, not as a sales call. Frame the whole meeting in one sentence: 'Let's get your 3CX project sorted first, and use it as a window into where an outside team could COMPLEMENT what you already run.' He reached out for help with a SPECIFIC, current task — lead with that, not a generic MSP pitch. VERIFY-LIVE (do NOT assert on slides): confirm ~1,100 K-12 enrollment; how 3CX is hosted (on-prem vs cloud); the Check Point model/firmware; whether Twilio is for SIP calls, parent SMS, or both; the size of his IT team; whether SFC takes E-rate (decides CIPA). CONTACT: the booking listed 858-298-2360 (likely his cell) — the school main is 858-755-8900; confirm the best email/number before any follow-up. Budget for a later commercial step runs through Kurt de Pfyffer, CFOO; Rod Gilbert is Head of Schools.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in 20 seconds: we start with your phone-and-firewall project, then a few quick stops, ending on YOUR questions and a free, no-commitment next step. Say it plainly: 'I'm not here to take over your network — you clearly run a good shop. I'm here to clear this 3CX hurdle and find the two or three places a partner takes work off your plate.' Then hand him the wheel: 'Before I talk — what's the state of the 3CX cutover right now, and what made you reach out?' Let his answer reorder the deck. The dark card is the promise: he keeps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back what we know so he sees we listened and prepared. The booking said: configuring 3CX V20 Update 9, Check Point firewall, Twilio. Confirm LIVE: is 3CX on-prem or hosted? Which Check Point model (Quantum Spark SMB is typical for a school)? Is the Twilio trunk live, half-configured, or not started — and is it for calls, parent SMS, or both? What EXACTLY is failing — registration, one-way audio, inbound, the Firewall Checker? Good probes: 'Where are you stuck right now?' / 'Did U9 change behaviour vs your prior build?' He's Google Workspace + Hapara + MacBooks/Chromebooks + MySchoolApp (likely Blackbaud) + School Pass — acknowledge the stack you can see, but ask, don't assert. Don't lecture a CTO on his own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Earn the right to keep talking — 20 seconds, not a history lesson. Four proof points for a fellow technologist: (1) 25+ years, we're not going anywhere; (2) the POD model — a named team that learns YOUR environment, not a stranger every ticket; (3) security-first, CISSP-led, 24/7 MDR (My Jian SIEM correlating CrowdStrike/Huntress, our analysts triaging); (4) AI-forward — we actually build, not just resell. Land the pod model and the 'we've configured 3CX behind enterprise firewalls many times' point hardest. If he's quiet, ask about his own award-winning safety/geo-fencing work — he'll light up, and it tells you what he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differentiator slide — it proves we understand his exact problem, not a generic pitch. Walk the three seams: (1) 3CX needs Full-Cone NAT + a clean path for SIP 5060 / RTP 9000-10999 / tunnel 5090, and its Firewall Checker validates NAT TYPE not just open ports; (2) Check Point does SIP inspection/ALG by default — it must be turned OFF, then the RTP ports defined manually, with a stable 1:1 NAT; (3) Twilio Elastic SIP needs Termination + Origination URIs pointed at the 3CX FQDN, with the IP ACL and credentials kept in sync. The classic symptoms — dropped registration, one-way audio, calls dying at ~30s — are almost always the firewall, not 3CX/Twilio. Mention U9 went Final June 16, 2026 (~a week ago) and its new Custom SIP-trunk Template Builder. Then STOP and ask him where he actually is. Offer: we can scope this as a one-time project OR fold it into the free assessment. Do NOT over-promise a fix sight-unseen — say 'this is the shape of it; we confirm your specifics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fear in the room for any capable CTO is 'is this guy here to make me redundant?' Kill it directly: co-managed means he stays in charge and we plug specific gaps. Walk the left column (old all-or-nothing outsourcing he's right to distrust) vs the right (co-managed). Three takeaways — lead with #1 (you keep control) and #3 (augment, not replace). Concrete for a lean school team: we take nights/weekends and breaks so he's not the only pager; we run 24/7 monitoring he can't staff solo; we bring hands for the projects that wait for summer. Say: 'On your worst week, we're the bench. On a normal week, you barely notice us — and a junior tech on your side grows working next to our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 2-3 seeds, then read which one he reacts to. Don't pitch all three equally. For a lean-team CTO the live wires are usually #1 (give me coverage and project hands) or #2 (the security/insurance stack I can't fully staff). #3 (AI for staff + admissions) is the differentiator nobody else brings — mention it lightly as 'once the basics are solid.' Frame each as a hypothesis: 'teams your size usually feel X — true for you?' Tie the security card to the cyber-insurance angle (concrete, non-political): MFA + EDR + tested backups + email security + awareness + IR plan is what an underwriter wants at renewal. Leave room for him to correct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layers fast; do NOT lecture a CISSP-adjacent CTO on security basics — ask which layers he already feels good about and which keep him up at night. The honest hook: 'You can build any one of these. The hard part is running all six, 24/7, over school breaks, with evidence your insurer and board will accept — that's where a partner earns its keep.' Lead the 'why' with the CYBER-INSURANCE control stack — it's concrete and avoids politics. WHY NOW (sourced, market facts — NOT claims about SFC): 82% of K-12 schools had a cyber incident (Jul'23-Dec'24); the PowerSchool SIS breach exposed 60M+ students; and federal K-12 cyber support was cut in 2025, so schools are more on their own. VERIFY-LIVE: MFA everywhere? current EDR/email security? backups tested? cyber-insurance in place and what did it require? Don't assert gaps you haven't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THE MEETING. Put the deck down and let him talk — aim for him doing most of the talking. Questions ordered easy-&gt;strategic; skip any he already answered. Must-learns: (a) the real state of the 3CX/Check Point/Twilio project and what's failing, (b) environment shape (servers/endpoints, on-prem vs cloud, all-Google?), (c) security + insurance posture, (d) the SIS (is MySchoolApp Blackbaud?) and E-rate status (decides CIPA), (e) team size + 2026 roadmap, (f) decision chain (CFOO Kurt de Pfyffer? Head of Schools Rod Gilbert? board?). End on 'what would make this worth your time today.' Never ask what you should already know — signals you didn't prepare.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 the stakes to near zero. Two easy yeses: (1) let us help close out the 3CX project — scoped on its own; (2) the free Nexus Assess — internal + external vulnerability scan, dark-web credential check, and a Google Workspace / M365 security review, handed back as a prioritized roadmap that's his to keep whether or not we ever work together. It gives him a real artifact for his CFOO and board, and gives us the data to scope a right-sized co-managed proposal. Reassure: 'This isn't a sales trap — it's a read of your environment you can act on with your own team.' If he asks price: verbal range only; the fixed number comes after the assessment. NEVER discuss our cost basis or staffing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ONE concrete next thing: get the 3CX project scoped and book the free Nexus Assess, roadmap back within ~10 business days. Pair it with the risk-reversal out loud — free, no contract, no obligation, the roadmap is yours to keep. Broaden slightly so you're a peer strategist, not a one-deal pitch: '...and I'm happy to share the broader security + AI playbook we run for ourselves and our other clients, including the school-specific pieces.' Confirm the best email/number (the booking line may be his cell; school main is 858-755-8900), propose a specific time this week, and send a short recap email TODAY with the booking link and your signature. End warm, zero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12188952" cy="365760"/>
          </a:xfrm>
          <a:prstGeom prst="rect">
            <a:avLst/>
          </a:prstGeom>
          <a:solidFill>
            <a:srgbClr val="F67D4B"/>
          </a:solidFill>
          <a:ln w="12700">
            <a:solidFill>
              <a:srgbClr val="F67D4B">
                <a:alpha val="0"/>
              </a:srgbClr>
            </a:solidFill>
            <a:prstDash val="solid"/>
          </a:ln>
        </p:spPr>
      </p:sp>
      <p:sp>
        <p:nvSpPr>
          <p:cNvPr id="3" name="Shape 1"/>
          <p:cNvSpPr/>
          <p:nvPr/>
        </p:nvSpPr>
        <p:spPr>
          <a:xfrm>
            <a:off x="0" y="6492240"/>
            <a:ext cx="12188952" cy="365760"/>
          </a:xfrm>
          <a:prstGeom prst="rect">
            <a:avLst/>
          </a:prstGeom>
          <a:solidFill>
            <a:srgbClr val="006DB6"/>
          </a:solidFill>
          <a:ln w="12700">
            <a:solidFill>
              <a:srgbClr val="006DB6">
                <a:alpha val="0"/>
              </a:srgbClr>
            </a:solidFill>
            <a:prstDash val="solid"/>
          </a:ln>
        </p:spPr>
      </p:sp>
      <p:sp>
        <p:nvSpPr>
          <p:cNvPr id="4" name="Shape 2"/>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5" name="Shape 3"/>
          <p:cNvSpPr/>
          <p:nvPr/>
        </p:nvSpPr>
        <p:spPr>
          <a:xfrm>
            <a:off x="-914400" y="4572000"/>
            <a:ext cx="4572000" cy="4572000"/>
          </a:xfrm>
          <a:prstGeom prst="ellipse">
            <a:avLst/>
          </a:prstGeom>
          <a:solidFill>
            <a:srgbClr val="F67D4B">
              <a:alpha val="8000"/>
            </a:srgbClr>
          </a:solidFill>
          <a:ln w="12700">
            <a:solidFill>
              <a:srgbClr val="F67D4B">
                <a:alpha val="0"/>
              </a:srgbClr>
            </a:solidFill>
            <a:prstDash val="solid"/>
          </a:ln>
        </p:spPr>
      </p:sp>
      <p:pic>
        <p:nvPicPr>
          <p:cNvPr id="6" name="Image 0" descr="C:/vscode/tech-branding/tech-branding/Clients/SFC/assets/Technijian Logo - white text.png">    </p:cNvPr>
          <p:cNvPicPr>
            <a:picLocks noChangeAspect="1"/>
          </p:cNvPicPr>
          <p:nvPr/>
        </p:nvPicPr>
        <p:blipFill>
          <a:blip r:embed="rId1"/>
          <a:stretch>
            <a:fillRect/>
          </a:stretch>
        </p:blipFill>
        <p:spPr>
          <a:xfrm>
            <a:off x="640080" y="731520"/>
            <a:ext cx="2468880" cy="516610"/>
          </a:xfrm>
          <a:prstGeom prst="rect">
            <a:avLst/>
          </a:prstGeom>
        </p:spPr>
      </p:pic>
      <p:sp>
        <p:nvSpPr>
          <p:cNvPr id="7" name="Shape 4"/>
          <p:cNvSpPr/>
          <p:nvPr/>
        </p:nvSpPr>
        <p:spPr>
          <a:xfrm>
            <a:off x="8869680" y="868680"/>
            <a:ext cx="2651760" cy="292608"/>
          </a:xfrm>
          <a:prstGeom prst="roundRect">
            <a:avLst>
              <a:gd name="adj" fmla="val 12500"/>
            </a:avLst>
          </a:prstGeom>
          <a:solidFill>
            <a:srgbClr val="1A1A2E">
              <a:alpha val="70000"/>
            </a:srgbClr>
          </a:solidFill>
          <a:ln w="12700">
            <a:solidFill>
              <a:srgbClr val="1EAAC8"/>
            </a:solidFill>
            <a:prstDash val="solid"/>
          </a:ln>
        </p:spPr>
      </p:sp>
      <p:sp>
        <p:nvSpPr>
          <p:cNvPr id="8" name="Text 5"/>
          <p:cNvSpPr/>
          <p:nvPr/>
        </p:nvSpPr>
        <p:spPr>
          <a:xfrm>
            <a:off x="8869680" y="868680"/>
            <a:ext cx="2651760" cy="292608"/>
          </a:xfrm>
          <a:prstGeom prst="rect">
            <a:avLst/>
          </a:prstGeom>
          <a:noFill/>
          <a:ln/>
        </p:spPr>
        <p:txBody>
          <a:bodyPr wrap="square" lIns="0" tIns="0" rIns="0" bIns="0" rtlCol="0" anchor="ctr"/>
          <a:lstStyle/>
          <a:p>
            <a:pPr algn="ctr" indent="0" marL="0">
              <a:buNone/>
            </a:pPr>
            <a:r>
              <a:rPr lang="en-US" sz="800" b="1" dirty="0">
                <a:solidFill>
                  <a:srgbClr val="1EAAC8"/>
                </a:solidFill>
                <a:latin typeface="Arial" pitchFamily="34" charset="0"/>
                <a:ea typeface="Arial" pitchFamily="34" charset="-122"/>
                <a:cs typeface="Arial" pitchFamily="34" charset="-120"/>
              </a:rPr>
              <a:t>PREPARED FOR SANTA FE CHRISTIAN</a:t>
            </a:r>
            <a:endParaRPr lang="en-US" sz="800" dirty="0"/>
          </a:p>
        </p:txBody>
      </p:sp>
      <p:sp>
        <p:nvSpPr>
          <p:cNvPr id="9" name="Text 6"/>
          <p:cNvSpPr/>
          <p:nvPr/>
        </p:nvSpPr>
        <p:spPr>
          <a:xfrm>
            <a:off x="640080" y="2011680"/>
            <a:ext cx="10972800" cy="86868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Technijian</a:t>
            </a:r>
            <a:endParaRPr lang="en-US" sz="5200" dirty="0"/>
          </a:p>
        </p:txBody>
      </p:sp>
      <p:sp>
        <p:nvSpPr>
          <p:cNvPr id="10" name="Text 7"/>
          <p:cNvSpPr/>
          <p:nvPr/>
        </p:nvSpPr>
        <p:spPr>
          <a:xfrm>
            <a:off x="640080" y="2880360"/>
            <a:ext cx="11155680" cy="640080"/>
          </a:xfrm>
          <a:prstGeom prst="rect">
            <a:avLst/>
          </a:prstGeom>
          <a:noFill/>
          <a:ln/>
        </p:spPr>
        <p:txBody>
          <a:bodyPr wrap="square" lIns="0" tIns="0" rIns="0" bIns="0" rtlCol="0" anchor="ctr"/>
          <a:lstStyle/>
          <a:p>
            <a:pPr indent="0" marL="0">
              <a:buNone/>
            </a:pPr>
            <a:r>
              <a:rPr lang="en-US" sz="2900" b="1" dirty="0">
                <a:solidFill>
                  <a:srgbClr val="F67D4B"/>
                </a:solidFill>
                <a:latin typeface="Arial" pitchFamily="34" charset="0"/>
                <a:ea typeface="Arial" pitchFamily="34" charset="-122"/>
                <a:cs typeface="Arial" pitchFamily="34" charset="-120"/>
              </a:rPr>
              <a:t>for Santa Fe Christian Schools</a:t>
            </a:r>
            <a:endParaRPr lang="en-US" sz="2900" dirty="0"/>
          </a:p>
        </p:txBody>
      </p:sp>
      <p:sp>
        <p:nvSpPr>
          <p:cNvPr id="11" name="Text 8"/>
          <p:cNvSpPr/>
          <p:nvPr/>
        </p:nvSpPr>
        <p:spPr>
          <a:xfrm>
            <a:off x="640080" y="3703320"/>
            <a:ext cx="10881360" cy="457200"/>
          </a:xfrm>
          <a:prstGeom prst="rect">
            <a:avLst/>
          </a:prstGeom>
          <a:noFill/>
          <a:ln/>
        </p:spPr>
        <p:txBody>
          <a:bodyPr wrap="square" lIns="0" tIns="0" rIns="0" bIns="0" rtlCol="0" anchor="ctr"/>
          <a:lstStyle/>
          <a:p>
            <a:pPr indent="0" marL="0">
              <a:buNone/>
            </a:pPr>
            <a:r>
              <a:rPr lang="en-US" sz="1600" dirty="0">
                <a:solidFill>
                  <a:srgbClr val="FFFFFF">
                    <a:alpha val="88000"/>
                  </a:srgbClr>
                </a:solidFill>
                <a:latin typeface="Arial" pitchFamily="34" charset="0"/>
                <a:ea typeface="Arial" pitchFamily="34" charset="-122"/>
                <a:cs typeface="Arial" pitchFamily="34" charset="-120"/>
              </a:rPr>
              <a:t>Let's solve the phone-and-firewall project — then look at what a partner takes off your plate next.</a:t>
            </a:r>
            <a:endParaRPr lang="en-US" sz="1600" dirty="0"/>
          </a:p>
        </p:txBody>
      </p:sp>
      <p:sp>
        <p:nvSpPr>
          <p:cNvPr id="12" name="Shape 9"/>
          <p:cNvSpPr/>
          <p:nvPr/>
        </p:nvSpPr>
        <p:spPr>
          <a:xfrm>
            <a:off x="640080" y="4617720"/>
            <a:ext cx="10881360" cy="16459"/>
          </a:xfrm>
          <a:prstGeom prst="rect">
            <a:avLst/>
          </a:prstGeom>
          <a:solidFill>
            <a:srgbClr val="1EAAC8"/>
          </a:solidFill>
          <a:ln w="12700">
            <a:solidFill>
              <a:srgbClr val="1EAAC8">
                <a:alpha val="0"/>
              </a:srgbClr>
            </a:solidFill>
            <a:prstDash val="solid"/>
          </a:ln>
        </p:spPr>
      </p:sp>
      <p:sp>
        <p:nvSpPr>
          <p:cNvPr id="13" name="Text 10"/>
          <p:cNvSpPr/>
          <p:nvPr/>
        </p:nvSpPr>
        <p:spPr>
          <a:xfrm>
            <a:off x="640080" y="4754880"/>
            <a:ext cx="10972800" cy="27432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First meeting  |  Ravi Jain, Founder &amp; CEO  ↔  Rob Honma, Chief Technology Officer  |  Solana Beach, CA</a:t>
            </a:r>
            <a:endParaRPr lang="en-US" sz="1100" dirty="0"/>
          </a:p>
        </p:txBody>
      </p:sp>
      <p:sp>
        <p:nvSpPr>
          <p:cNvPr id="14" name="Text 11"/>
          <p:cNvSpPr/>
          <p:nvPr/>
        </p:nvSpPr>
        <p:spPr>
          <a:xfrm>
            <a:off x="640080" y="5102352"/>
            <a:ext cx="10972800" cy="274320"/>
          </a:xfrm>
          <a:prstGeom prst="rect">
            <a:avLst/>
          </a:prstGeom>
          <a:noFill/>
          <a:ln/>
        </p:spPr>
        <p:txBody>
          <a:bodyPr wrap="square" lIns="0" tIns="0" rIns="0" bIns="0" rtlCol="0" anchor="ctr"/>
          <a:lstStyle/>
          <a:p>
            <a:pPr indent="0" marL="0">
              <a:buNone/>
            </a:pPr>
            <a:r>
              <a:rPr lang="en-US" sz="1100" b="1" dirty="0">
                <a:solidFill>
                  <a:srgbClr val="1EAAC8"/>
                </a:solidFill>
                <a:latin typeface="Arial" pitchFamily="34" charset="0"/>
                <a:ea typeface="Arial" pitchFamily="34" charset="-122"/>
                <a:cs typeface="Arial" pitchFamily="34" charset="-120"/>
              </a:rPr>
              <a:t>K-12 Christian school  ·  ~1,100 students  ·  3CX V20 + Check Point + Twilio  ·  Google Workspace  ·  lean in-house IT</a:t>
            </a:r>
            <a:endParaRPr lang="en-US" sz="1100" dirty="0"/>
          </a:p>
        </p:txBody>
      </p:sp>
      <p:sp>
        <p:nvSpPr>
          <p:cNvPr id="15" name="Text 12"/>
          <p:cNvSpPr/>
          <p:nvPr/>
        </p:nvSpPr>
        <p:spPr>
          <a:xfrm>
            <a:off x="640080" y="5440680"/>
            <a:ext cx="10881360" cy="274320"/>
          </a:xfrm>
          <a:prstGeom prst="rect">
            <a:avLst/>
          </a:prstGeom>
          <a:noFill/>
          <a:ln/>
        </p:spPr>
        <p:txBody>
          <a:bodyPr wrap="square" lIns="0" tIns="0" rIns="0" bIns="0" rtlCol="0" anchor="ctr"/>
          <a:lstStyle/>
          <a:p>
            <a:pPr indent="0" marL="0">
              <a:buNone/>
            </a:pPr>
            <a:r>
              <a:rPr lang="en-US" sz="1000" dirty="0">
                <a:solidFill>
                  <a:srgbClr val="FFFFFF">
                    <a:alpha val="60000"/>
                  </a:srgbClr>
                </a:solidFill>
                <a:latin typeface="Arial" pitchFamily="34" charset="0"/>
                <a:ea typeface="Arial" pitchFamily="34" charset="-122"/>
                <a:cs typeface="Arial" pitchFamily="34" charset="-120"/>
              </a:rPr>
              <a:t>18 Technology Dr. Ste 141, Irvine CA 92618  ·  technijian.com  ·  949.379.8499  ·  technology as a solution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WHY WE'RE HERE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Start with your project — then the bigger picture</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You reached out to get 3CX V20 working cleanly through your Check Point firewall with Twilio. Let's solve that first, then see where a partner fits.</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2</a:t>
            </a:r>
            <a:endParaRPr lang="en-US" sz="1000" dirty="0"/>
          </a:p>
        </p:txBody>
      </p:sp>
      <p:sp>
        <p:nvSpPr>
          <p:cNvPr id="11" name="Shape 8"/>
          <p:cNvSpPr/>
          <p:nvPr/>
        </p:nvSpPr>
        <p:spPr>
          <a:xfrm>
            <a:off x="502920" y="2148840"/>
            <a:ext cx="3657600" cy="4114800"/>
          </a:xfrm>
          <a:prstGeom prst="roundRect">
            <a:avLst>
              <a:gd name="adj" fmla="val 2000"/>
            </a:avLst>
          </a:prstGeom>
          <a:solidFill>
            <a:srgbClr val="1A1A2E"/>
          </a:solidFill>
          <a:ln w="12700">
            <a:solidFill>
              <a:srgbClr val="1A1A2E">
                <a:alpha val="0"/>
              </a:srgbClr>
            </a:solidFill>
            <a:prstDash val="solid"/>
          </a:ln>
        </p:spPr>
      </p:sp>
      <p:sp>
        <p:nvSpPr>
          <p:cNvPr id="12" name="Shape 9"/>
          <p:cNvSpPr/>
          <p:nvPr/>
        </p:nvSpPr>
        <p:spPr>
          <a:xfrm>
            <a:off x="502920" y="2148840"/>
            <a:ext cx="3657600" cy="91440"/>
          </a:xfrm>
          <a:prstGeom prst="rect">
            <a:avLst/>
          </a:prstGeom>
          <a:solidFill>
            <a:srgbClr val="F67D4B"/>
          </a:solidFill>
          <a:ln w="12700">
            <a:solidFill>
              <a:srgbClr val="F67D4B">
                <a:alpha val="0"/>
              </a:srgbClr>
            </a:solidFill>
            <a:prstDash val="solid"/>
          </a:ln>
        </p:spPr>
      </p:sp>
      <p:sp>
        <p:nvSpPr>
          <p:cNvPr id="13" name="Text 10"/>
          <p:cNvSpPr/>
          <p:nvPr/>
        </p:nvSpPr>
        <p:spPr>
          <a:xfrm>
            <a:off x="713232" y="2423160"/>
            <a:ext cx="329184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OUR PROMISE TODAY</a:t>
            </a:r>
            <a:endParaRPr lang="en-US" sz="1000" dirty="0"/>
          </a:p>
        </p:txBody>
      </p:sp>
      <p:sp>
        <p:nvSpPr>
          <p:cNvPr id="14" name="Text 11"/>
          <p:cNvSpPr/>
          <p:nvPr/>
        </p:nvSpPr>
        <p:spPr>
          <a:xfrm>
            <a:off x="713232" y="2788920"/>
            <a:ext cx="3200400" cy="1737360"/>
          </a:xfrm>
          <a:prstGeom prst="rect">
            <a:avLst/>
          </a:prstGeom>
          <a:noFill/>
          <a:ln/>
        </p:spPr>
        <p:txBody>
          <a:bodyPr wrap="square" lIns="0" tIns="0" rIns="0" bIns="0" rtlCol="0" anchor="t"/>
          <a:lstStyle/>
          <a:p>
            <a:pPr indent="0" marL="0">
              <a:buNone/>
            </a:pPr>
            <a:r>
              <a:rPr lang="en-US" sz="1300" dirty="0">
                <a:solidFill>
                  <a:srgbClr val="FFFFFF">
                    <a:alpha val="94000"/>
                  </a:srgbClr>
                </a:solidFill>
                <a:latin typeface="Arial" pitchFamily="34" charset="0"/>
                <a:ea typeface="Arial" pitchFamily="34" charset="-122"/>
                <a:cs typeface="Arial" pitchFamily="34" charset="-120"/>
              </a:rPr>
              <a:t>We're not here to take over your network. We're here to clear the 3CX hurdle, and find the two or three places an outside team genuinely takes work off your plate — and to leave you with something useful either way.</a:t>
            </a:r>
            <a:endParaRPr lang="en-US" sz="1300" dirty="0"/>
          </a:p>
        </p:txBody>
      </p:sp>
      <p:sp>
        <p:nvSpPr>
          <p:cNvPr id="15" name="Text 12"/>
          <p:cNvSpPr/>
          <p:nvPr/>
        </p:nvSpPr>
        <p:spPr>
          <a:xfrm>
            <a:off x="713232" y="5074920"/>
            <a:ext cx="3200400" cy="1005840"/>
          </a:xfrm>
          <a:prstGeom prst="rect">
            <a:avLst/>
          </a:prstGeom>
          <a:noFill/>
          <a:ln/>
        </p:spPr>
        <p:txBody>
          <a:bodyPr wrap="square" lIns="0" tIns="0" rIns="0" bIns="0" rtlCol="0" anchor="t"/>
          <a:lstStyle/>
          <a:p>
            <a:pPr indent="0" marL="0">
              <a:buNone/>
            </a:pPr>
            <a:r>
              <a:rPr lang="en-US" sz="1200" b="1" dirty="0">
                <a:solidFill>
                  <a:srgbClr val="1EAAC8"/>
                </a:solidFill>
              </a:rPr>
              <a:t>You keep control.
</a:t>
            </a:r>
            <a:pPr indent="0" marL="0">
              <a:buNone/>
            </a:pPr>
            <a:r>
              <a:rPr lang="en-US" sz="1200" dirty="0">
                <a:solidFill>
                  <a:srgbClr val="FFFFFF">
                    <a:alpha val="88000"/>
                  </a:srgbClr>
                </a:solidFill>
              </a:rPr>
              <a:t>We fill the gaps a lean in-house team can't staff around the clock.</a:t>
            </a:r>
            <a:endParaRPr lang="en-US" sz="1200" dirty="0"/>
          </a:p>
        </p:txBody>
      </p:sp>
      <p:sp>
        <p:nvSpPr>
          <p:cNvPr id="16" name="Shape 13"/>
          <p:cNvSpPr/>
          <p:nvPr/>
        </p:nvSpPr>
        <p:spPr>
          <a:xfrm>
            <a:off x="4389120" y="2194560"/>
            <a:ext cx="502920" cy="502920"/>
          </a:xfrm>
          <a:prstGeom prst="roundRect">
            <a:avLst>
              <a:gd name="adj" fmla="val 18182"/>
            </a:avLst>
          </a:prstGeom>
          <a:solidFill>
            <a:srgbClr val="006DB6"/>
          </a:solidFill>
          <a:ln w="12700">
            <a:solidFill>
              <a:srgbClr val="006DB6">
                <a:alpha val="0"/>
              </a:srgbClr>
            </a:solidFill>
            <a:prstDash val="solid"/>
          </a:ln>
        </p:spPr>
      </p:sp>
      <p:sp>
        <p:nvSpPr>
          <p:cNvPr id="17" name="Text 14"/>
          <p:cNvSpPr/>
          <p:nvPr/>
        </p:nvSpPr>
        <p:spPr>
          <a:xfrm>
            <a:off x="4389120" y="2194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8" name="Text 15"/>
          <p:cNvSpPr/>
          <p:nvPr/>
        </p:nvSpPr>
        <p:spPr>
          <a:xfrm>
            <a:off x="5074920" y="217627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The project on your desk</a:t>
            </a:r>
            <a:endParaRPr lang="en-US" sz="1400" dirty="0"/>
          </a:p>
        </p:txBody>
      </p:sp>
      <p:sp>
        <p:nvSpPr>
          <p:cNvPr id="19" name="Text 16"/>
          <p:cNvSpPr/>
          <p:nvPr/>
        </p:nvSpPr>
        <p:spPr>
          <a:xfrm>
            <a:off x="5074920" y="244144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3CX V20 Update 9 + Check Point + Twilio — what it takes to get clean.</a:t>
            </a:r>
            <a:endParaRPr lang="en-US" sz="1050" dirty="0"/>
          </a:p>
        </p:txBody>
      </p:sp>
      <p:sp>
        <p:nvSpPr>
          <p:cNvPr id="20" name="Shape 17"/>
          <p:cNvSpPr/>
          <p:nvPr/>
        </p:nvSpPr>
        <p:spPr>
          <a:xfrm>
            <a:off x="4389120" y="2871216"/>
            <a:ext cx="502920" cy="502920"/>
          </a:xfrm>
          <a:prstGeom prst="roundRect">
            <a:avLst>
              <a:gd name="adj" fmla="val 18182"/>
            </a:avLst>
          </a:prstGeom>
          <a:solidFill>
            <a:srgbClr val="1EAAC8"/>
          </a:solidFill>
          <a:ln w="12700">
            <a:solidFill>
              <a:srgbClr val="1EAAC8">
                <a:alpha val="0"/>
              </a:srgbClr>
            </a:solidFill>
            <a:prstDash val="solid"/>
          </a:ln>
        </p:spPr>
      </p:sp>
      <p:sp>
        <p:nvSpPr>
          <p:cNvPr id="21" name="Text 18"/>
          <p:cNvSpPr/>
          <p:nvPr/>
        </p:nvSpPr>
        <p:spPr>
          <a:xfrm>
            <a:off x="4389120" y="287121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22" name="Text 19"/>
          <p:cNvSpPr/>
          <p:nvPr/>
        </p:nvSpPr>
        <p:spPr>
          <a:xfrm>
            <a:off x="5074920" y="2852928"/>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What we heard from you</a:t>
            </a:r>
            <a:endParaRPr lang="en-US" sz="1400" dirty="0"/>
          </a:p>
        </p:txBody>
      </p:sp>
      <p:sp>
        <p:nvSpPr>
          <p:cNvPr id="23" name="Text 20"/>
          <p:cNvSpPr/>
          <p:nvPr/>
        </p:nvSpPr>
        <p:spPr>
          <a:xfrm>
            <a:off x="5074920" y="3118104"/>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Your environment, said back — so you can correct anything.</a:t>
            </a:r>
            <a:endParaRPr lang="en-US" sz="1050" dirty="0"/>
          </a:p>
        </p:txBody>
      </p:sp>
      <p:sp>
        <p:nvSpPr>
          <p:cNvPr id="24" name="Shape 21"/>
          <p:cNvSpPr/>
          <p:nvPr/>
        </p:nvSpPr>
        <p:spPr>
          <a:xfrm>
            <a:off x="4389120" y="3547872"/>
            <a:ext cx="502920" cy="502920"/>
          </a:xfrm>
          <a:prstGeom prst="roundRect">
            <a:avLst>
              <a:gd name="adj" fmla="val 18182"/>
            </a:avLst>
          </a:prstGeom>
          <a:solidFill>
            <a:srgbClr val="006DB6"/>
          </a:solidFill>
          <a:ln w="12700">
            <a:solidFill>
              <a:srgbClr val="006DB6">
                <a:alpha val="0"/>
              </a:srgbClr>
            </a:solidFill>
            <a:prstDash val="solid"/>
          </a:ln>
        </p:spPr>
      </p:sp>
      <p:sp>
        <p:nvSpPr>
          <p:cNvPr id="25" name="Text 22"/>
          <p:cNvSpPr/>
          <p:nvPr/>
        </p:nvSpPr>
        <p:spPr>
          <a:xfrm>
            <a:off x="4389120" y="354787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26" name="Text 23"/>
          <p:cNvSpPr/>
          <p:nvPr/>
        </p:nvSpPr>
        <p:spPr>
          <a:xfrm>
            <a:off x="5074920" y="3529584"/>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Who Technijian is</a:t>
            </a:r>
            <a:endParaRPr lang="en-US" sz="1400" dirty="0"/>
          </a:p>
        </p:txBody>
      </p:sp>
      <p:sp>
        <p:nvSpPr>
          <p:cNvPr id="27" name="Text 24"/>
          <p:cNvSpPr/>
          <p:nvPr/>
        </p:nvSpPr>
        <p:spPr>
          <a:xfrm>
            <a:off x="5074920" y="3794760"/>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25+ years, security-first, a dedicated team model — in 20 seconds.</a:t>
            </a:r>
            <a:endParaRPr lang="en-US" sz="1050" dirty="0"/>
          </a:p>
        </p:txBody>
      </p:sp>
      <p:sp>
        <p:nvSpPr>
          <p:cNvPr id="28" name="Shape 25"/>
          <p:cNvSpPr/>
          <p:nvPr/>
        </p:nvSpPr>
        <p:spPr>
          <a:xfrm>
            <a:off x="4389120" y="4224528"/>
            <a:ext cx="502920" cy="502920"/>
          </a:xfrm>
          <a:prstGeom prst="roundRect">
            <a:avLst>
              <a:gd name="adj" fmla="val 18182"/>
            </a:avLst>
          </a:prstGeom>
          <a:solidFill>
            <a:srgbClr val="1EAAC8"/>
          </a:solidFill>
          <a:ln w="12700">
            <a:solidFill>
              <a:srgbClr val="1EAAC8">
                <a:alpha val="0"/>
              </a:srgbClr>
            </a:solidFill>
            <a:prstDash val="solid"/>
          </a:ln>
        </p:spPr>
      </p:sp>
      <p:sp>
        <p:nvSpPr>
          <p:cNvPr id="29" name="Text 26"/>
          <p:cNvSpPr/>
          <p:nvPr/>
        </p:nvSpPr>
        <p:spPr>
          <a:xfrm>
            <a:off x="4389120" y="422452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30" name="Text 27"/>
          <p:cNvSpPr/>
          <p:nvPr/>
        </p:nvSpPr>
        <p:spPr>
          <a:xfrm>
            <a:off x="5074920" y="4206240"/>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Where a partner actually helps</a:t>
            </a:r>
            <a:endParaRPr lang="en-US" sz="1400" dirty="0"/>
          </a:p>
        </p:txBody>
      </p:sp>
      <p:sp>
        <p:nvSpPr>
          <p:cNvPr id="31" name="Text 28"/>
          <p:cNvSpPr/>
          <p:nvPr/>
        </p:nvSpPr>
        <p:spPr>
          <a:xfrm>
            <a:off x="5074920" y="4471416"/>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Co-managed: augment your team, don't replace it.</a:t>
            </a:r>
            <a:endParaRPr lang="en-US" sz="1050" dirty="0"/>
          </a:p>
        </p:txBody>
      </p:sp>
      <p:sp>
        <p:nvSpPr>
          <p:cNvPr id="32" name="Shape 29"/>
          <p:cNvSpPr/>
          <p:nvPr/>
        </p:nvSpPr>
        <p:spPr>
          <a:xfrm>
            <a:off x="4389120" y="4901184"/>
            <a:ext cx="502920" cy="502920"/>
          </a:xfrm>
          <a:prstGeom prst="roundRect">
            <a:avLst>
              <a:gd name="adj" fmla="val 18182"/>
            </a:avLst>
          </a:prstGeom>
          <a:solidFill>
            <a:srgbClr val="006DB6"/>
          </a:solidFill>
          <a:ln w="12700">
            <a:solidFill>
              <a:srgbClr val="006DB6">
                <a:alpha val="0"/>
              </a:srgbClr>
            </a:solidFill>
            <a:prstDash val="solid"/>
          </a:ln>
        </p:spPr>
      </p:sp>
      <p:sp>
        <p:nvSpPr>
          <p:cNvPr id="33" name="Text 30"/>
          <p:cNvSpPr/>
          <p:nvPr/>
        </p:nvSpPr>
        <p:spPr>
          <a:xfrm>
            <a:off x="4389120" y="490118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34" name="Text 31"/>
          <p:cNvSpPr/>
          <p:nvPr/>
        </p:nvSpPr>
        <p:spPr>
          <a:xfrm>
            <a:off x="5074920" y="4882896"/>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Security &amp; student data for a school</a:t>
            </a:r>
            <a:endParaRPr lang="en-US" sz="1400" dirty="0"/>
          </a:p>
        </p:txBody>
      </p:sp>
      <p:sp>
        <p:nvSpPr>
          <p:cNvPr id="35" name="Text 32"/>
          <p:cNvSpPr/>
          <p:nvPr/>
        </p:nvSpPr>
        <p:spPr>
          <a:xfrm>
            <a:off x="5074920" y="5148072"/>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What an insurer, a board, and families expect a partner to shoulder.</a:t>
            </a:r>
            <a:endParaRPr lang="en-US" sz="1050" dirty="0"/>
          </a:p>
        </p:txBody>
      </p:sp>
      <p:sp>
        <p:nvSpPr>
          <p:cNvPr id="36" name="Shape 33"/>
          <p:cNvSpPr/>
          <p:nvPr/>
        </p:nvSpPr>
        <p:spPr>
          <a:xfrm>
            <a:off x="4389120" y="5577840"/>
            <a:ext cx="502920" cy="502920"/>
          </a:xfrm>
          <a:prstGeom prst="roundRect">
            <a:avLst>
              <a:gd name="adj" fmla="val 18182"/>
            </a:avLst>
          </a:prstGeom>
          <a:solidFill>
            <a:srgbClr val="1EAAC8"/>
          </a:solidFill>
          <a:ln w="12700">
            <a:solidFill>
              <a:srgbClr val="1EAAC8">
                <a:alpha val="0"/>
              </a:srgbClr>
            </a:solidFill>
            <a:prstDash val="solid"/>
          </a:ln>
        </p:spPr>
      </p:sp>
      <p:sp>
        <p:nvSpPr>
          <p:cNvPr id="37" name="Text 34"/>
          <p:cNvSpPr/>
          <p:nvPr/>
        </p:nvSpPr>
        <p:spPr>
          <a:xfrm>
            <a:off x="4389120" y="55778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38" name="Text 35"/>
          <p:cNvSpPr/>
          <p:nvPr/>
        </p:nvSpPr>
        <p:spPr>
          <a:xfrm>
            <a:off x="5074920" y="5559552"/>
            <a:ext cx="6583680" cy="274320"/>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Your questions + a free next step</a:t>
            </a:r>
            <a:endParaRPr lang="en-US" sz="1400" dirty="0"/>
          </a:p>
        </p:txBody>
      </p:sp>
      <p:sp>
        <p:nvSpPr>
          <p:cNvPr id="39" name="Text 36"/>
          <p:cNvSpPr/>
          <p:nvPr/>
        </p:nvSpPr>
        <p:spPr>
          <a:xfrm>
            <a:off x="5074920" y="5824728"/>
            <a:ext cx="6629400" cy="3657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 heart of the meeting — and a read of your environment to keep.</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WE HEARD</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Your environment, said back to you</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From your booking note and your public technology pages. If we got anything wrong, now's the time to fix it — this is your meeting.</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3</a:t>
            </a:r>
            <a:endParaRPr lang="en-US" sz="1000" dirty="0"/>
          </a:p>
        </p:txBody>
      </p:sp>
      <p:sp>
        <p:nvSpPr>
          <p:cNvPr id="11" name="Shape 8"/>
          <p:cNvSpPr/>
          <p:nvPr/>
        </p:nvSpPr>
        <p:spPr>
          <a:xfrm>
            <a:off x="502920"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2" name="Text 9"/>
          <p:cNvSpPr/>
          <p:nvPr/>
        </p:nvSpPr>
        <p:spPr>
          <a:xfrm>
            <a:off x="502920" y="2249424"/>
            <a:ext cx="2615184" cy="566928"/>
          </a:xfrm>
          <a:prstGeom prst="rect">
            <a:avLst/>
          </a:prstGeom>
          <a:noFill/>
          <a:ln/>
        </p:spPr>
        <p:txBody>
          <a:bodyPr wrap="square" lIns="0" tIns="0" rIns="0" bIns="0" rtlCol="0" anchor="ctr"/>
          <a:lstStyle/>
          <a:p>
            <a:pPr algn="ctr" indent="0" marL="0">
              <a:buNone/>
            </a:pPr>
            <a:r>
              <a:rPr lang="en-US" sz="2200" b="1" dirty="0">
                <a:solidFill>
                  <a:srgbClr val="F67D4B"/>
                </a:solidFill>
                <a:latin typeface="Arial" pitchFamily="34" charset="0"/>
                <a:ea typeface="Arial" pitchFamily="34" charset="-122"/>
                <a:cs typeface="Arial" pitchFamily="34" charset="-120"/>
              </a:rPr>
              <a:t>3CX V20</a:t>
            </a:r>
            <a:endParaRPr lang="en-US" sz="2200" dirty="0"/>
          </a:p>
        </p:txBody>
      </p:sp>
      <p:sp>
        <p:nvSpPr>
          <p:cNvPr id="13" name="Text 10"/>
          <p:cNvSpPr/>
          <p:nvPr/>
        </p:nvSpPr>
        <p:spPr>
          <a:xfrm>
            <a:off x="594360"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PHONE SYSTEM · THE PROJECT</a:t>
            </a:r>
            <a:endParaRPr lang="en-US" sz="900" dirty="0"/>
          </a:p>
        </p:txBody>
      </p:sp>
      <p:sp>
        <p:nvSpPr>
          <p:cNvPr id="14" name="Shape 11"/>
          <p:cNvSpPr/>
          <p:nvPr/>
        </p:nvSpPr>
        <p:spPr>
          <a:xfrm>
            <a:off x="3300984"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5" name="Text 12"/>
          <p:cNvSpPr/>
          <p:nvPr/>
        </p:nvSpPr>
        <p:spPr>
          <a:xfrm>
            <a:off x="3300984" y="2249424"/>
            <a:ext cx="2615184" cy="566928"/>
          </a:xfrm>
          <a:prstGeom prst="rect">
            <a:avLst/>
          </a:prstGeom>
          <a:noFill/>
          <a:ln/>
        </p:spPr>
        <p:txBody>
          <a:bodyPr wrap="square" lIns="0" tIns="0" rIns="0" bIns="0" rtlCol="0" anchor="ctr"/>
          <a:lstStyle/>
          <a:p>
            <a:pPr algn="ctr" indent="0" marL="0">
              <a:buNone/>
            </a:pPr>
            <a:r>
              <a:rPr lang="en-US" sz="2200" b="1" dirty="0">
                <a:solidFill>
                  <a:srgbClr val="F67D4B"/>
                </a:solidFill>
                <a:latin typeface="Arial" pitchFamily="34" charset="0"/>
                <a:ea typeface="Arial" pitchFamily="34" charset="-122"/>
                <a:cs typeface="Arial" pitchFamily="34" charset="-120"/>
              </a:rPr>
              <a:t>Check Point</a:t>
            </a:r>
            <a:endParaRPr lang="en-US" sz="2200" dirty="0"/>
          </a:p>
        </p:txBody>
      </p:sp>
      <p:sp>
        <p:nvSpPr>
          <p:cNvPr id="16" name="Text 13"/>
          <p:cNvSpPr/>
          <p:nvPr/>
        </p:nvSpPr>
        <p:spPr>
          <a:xfrm>
            <a:off x="3392424"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FIREWALL AT THE EDGE</a:t>
            </a:r>
            <a:endParaRPr lang="en-US" sz="900" dirty="0"/>
          </a:p>
        </p:txBody>
      </p:sp>
      <p:sp>
        <p:nvSpPr>
          <p:cNvPr id="17" name="Shape 14"/>
          <p:cNvSpPr/>
          <p:nvPr/>
        </p:nvSpPr>
        <p:spPr>
          <a:xfrm>
            <a:off x="6099048"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18" name="Text 15"/>
          <p:cNvSpPr/>
          <p:nvPr/>
        </p:nvSpPr>
        <p:spPr>
          <a:xfrm>
            <a:off x="6099048" y="2249424"/>
            <a:ext cx="2615184" cy="566928"/>
          </a:xfrm>
          <a:prstGeom prst="rect">
            <a:avLst/>
          </a:prstGeom>
          <a:noFill/>
          <a:ln/>
        </p:spPr>
        <p:txBody>
          <a:bodyPr wrap="square" lIns="0" tIns="0" rIns="0" bIns="0" rtlCol="0" anchor="ctr"/>
          <a:lstStyle/>
          <a:p>
            <a:pPr algn="ctr" indent="0" marL="0">
              <a:buNone/>
            </a:pPr>
            <a:r>
              <a:rPr lang="en-US" sz="2200" b="1" dirty="0">
                <a:solidFill>
                  <a:srgbClr val="F67D4B"/>
                </a:solidFill>
                <a:latin typeface="Arial" pitchFamily="34" charset="0"/>
                <a:ea typeface="Arial" pitchFamily="34" charset="-122"/>
                <a:cs typeface="Arial" pitchFamily="34" charset="-120"/>
              </a:rPr>
              <a:t>Twilio</a:t>
            </a:r>
            <a:endParaRPr lang="en-US" sz="2200" dirty="0"/>
          </a:p>
        </p:txBody>
      </p:sp>
      <p:sp>
        <p:nvSpPr>
          <p:cNvPr id="19" name="Text 16"/>
          <p:cNvSpPr/>
          <p:nvPr/>
        </p:nvSpPr>
        <p:spPr>
          <a:xfrm>
            <a:off x="6190488"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SIP TRUNK / MESSAGING</a:t>
            </a:r>
            <a:endParaRPr lang="en-US" sz="900" dirty="0"/>
          </a:p>
        </p:txBody>
      </p:sp>
      <p:sp>
        <p:nvSpPr>
          <p:cNvPr id="20" name="Shape 17"/>
          <p:cNvSpPr/>
          <p:nvPr/>
        </p:nvSpPr>
        <p:spPr>
          <a:xfrm>
            <a:off x="8897112" y="2148840"/>
            <a:ext cx="2615184" cy="1234440"/>
          </a:xfrm>
          <a:prstGeom prst="roundRect">
            <a:avLst>
              <a:gd name="adj" fmla="val 5926"/>
            </a:avLst>
          </a:prstGeom>
          <a:solidFill>
            <a:srgbClr val="1A1A2E"/>
          </a:solidFill>
          <a:ln w="12700">
            <a:solidFill>
              <a:srgbClr val="1A1A2E">
                <a:alpha val="0"/>
              </a:srgbClr>
            </a:solidFill>
            <a:prstDash val="solid"/>
          </a:ln>
        </p:spPr>
      </p:sp>
      <p:sp>
        <p:nvSpPr>
          <p:cNvPr id="21" name="Text 18"/>
          <p:cNvSpPr/>
          <p:nvPr/>
        </p:nvSpPr>
        <p:spPr>
          <a:xfrm>
            <a:off x="8897112" y="2249424"/>
            <a:ext cx="2615184" cy="566928"/>
          </a:xfrm>
          <a:prstGeom prst="rect">
            <a:avLst/>
          </a:prstGeom>
          <a:noFill/>
          <a:ln/>
        </p:spPr>
        <p:txBody>
          <a:bodyPr wrap="square" lIns="0" tIns="0" rIns="0" bIns="0" rtlCol="0" anchor="ctr"/>
          <a:lstStyle/>
          <a:p>
            <a:pPr algn="ctr" indent="0" marL="0">
              <a:buNone/>
            </a:pPr>
            <a:r>
              <a:rPr lang="en-US" sz="2200" b="1" dirty="0">
                <a:solidFill>
                  <a:srgbClr val="F67D4B"/>
                </a:solidFill>
                <a:latin typeface="Arial" pitchFamily="34" charset="0"/>
                <a:ea typeface="Arial" pitchFamily="34" charset="-122"/>
                <a:cs typeface="Arial" pitchFamily="34" charset="-120"/>
              </a:rPr>
              <a:t>Google</a:t>
            </a:r>
            <a:endParaRPr lang="en-US" sz="2200" dirty="0"/>
          </a:p>
        </p:txBody>
      </p:sp>
      <p:sp>
        <p:nvSpPr>
          <p:cNvPr id="22" name="Text 19"/>
          <p:cNvSpPr/>
          <p:nvPr/>
        </p:nvSpPr>
        <p:spPr>
          <a:xfrm>
            <a:off x="8988552" y="2852928"/>
            <a:ext cx="2432304" cy="457200"/>
          </a:xfrm>
          <a:prstGeom prst="rect">
            <a:avLst/>
          </a:prstGeom>
          <a:noFill/>
          <a:ln/>
        </p:spPr>
        <p:txBody>
          <a:bodyPr wrap="square" lIns="0" tIns="0" rIns="0" bIns="0" rtlCol="0" anchor="t"/>
          <a:lstStyle/>
          <a:p>
            <a:pPr algn="ctr" indent="0" marL="0">
              <a:buNone/>
            </a:pPr>
            <a:r>
              <a:rPr lang="en-US" sz="900" b="1" dirty="0">
                <a:solidFill>
                  <a:srgbClr val="FFFFFF">
                    <a:alpha val="80000"/>
                  </a:srgbClr>
                </a:solidFill>
                <a:latin typeface="Arial" pitchFamily="34" charset="0"/>
                <a:ea typeface="Arial" pitchFamily="34" charset="-122"/>
                <a:cs typeface="Arial" pitchFamily="34" charset="-120"/>
              </a:rPr>
              <a:t>WORKSPACE · HAPARA · MACS</a:t>
            </a:r>
            <a:endParaRPr lang="en-US" sz="900" dirty="0"/>
          </a:p>
        </p:txBody>
      </p:sp>
      <p:sp>
        <p:nvSpPr>
          <p:cNvPr id="23" name="Shape 20"/>
          <p:cNvSpPr/>
          <p:nvPr/>
        </p:nvSpPr>
        <p:spPr>
          <a:xfrm>
            <a:off x="502920" y="3611880"/>
            <a:ext cx="11201400" cy="2560320"/>
          </a:xfrm>
          <a:prstGeom prst="roundRect">
            <a:avLst>
              <a:gd name="adj" fmla="val 2857"/>
            </a:avLst>
          </a:prstGeom>
          <a:solidFill>
            <a:srgbClr val="FFFFFF"/>
          </a:solidFill>
          <a:ln w="12700">
            <a:solidFill>
              <a:srgbClr val="D8E0EA"/>
            </a:solidFill>
            <a:prstDash val="solid"/>
          </a:ln>
        </p:spPr>
      </p:sp>
      <p:sp>
        <p:nvSpPr>
          <p:cNvPr id="24" name="Shape 21"/>
          <p:cNvSpPr/>
          <p:nvPr/>
        </p:nvSpPr>
        <p:spPr>
          <a:xfrm>
            <a:off x="502920" y="3611880"/>
            <a:ext cx="109728" cy="2560320"/>
          </a:xfrm>
          <a:prstGeom prst="rect">
            <a:avLst/>
          </a:prstGeom>
          <a:solidFill>
            <a:srgbClr val="1EAAC8"/>
          </a:solidFill>
          <a:ln w="12700">
            <a:solidFill>
              <a:srgbClr val="1EAAC8">
                <a:alpha val="0"/>
              </a:srgbClr>
            </a:solidFill>
            <a:prstDash val="solid"/>
          </a:ln>
        </p:spPr>
      </p:sp>
      <p:sp>
        <p:nvSpPr>
          <p:cNvPr id="25" name="Text 22"/>
          <p:cNvSpPr/>
          <p:nvPr/>
        </p:nvSpPr>
        <p:spPr>
          <a:xfrm>
            <a:off x="777240" y="3794760"/>
            <a:ext cx="10607040" cy="27432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WHAT THAT TELLS US</a:t>
            </a:r>
            <a:endParaRPr lang="en-US" sz="1000" dirty="0"/>
          </a:p>
        </p:txBody>
      </p:sp>
      <p:sp>
        <p:nvSpPr>
          <p:cNvPr id="26" name="Text 23"/>
          <p:cNvSpPr/>
          <p:nvPr/>
        </p:nvSpPr>
        <p:spPr>
          <a:xfrm>
            <a:off x="777240" y="4114800"/>
            <a:ext cx="10698480" cy="1920240"/>
          </a:xfrm>
          <a:prstGeom prst="rect">
            <a:avLst/>
          </a:prstGeom>
          <a:noFill/>
          <a:ln/>
        </p:spPr>
        <p:txBody>
          <a:bodyPr wrap="square" lIns="0" tIns="0" rIns="0" bIns="0" rtlCol="0" anchor="t"/>
          <a:lstStyle/>
          <a:p>
            <a:pPr indent="0" marL="0">
              <a:buNone/>
            </a:pPr>
            <a:r>
              <a:rPr lang="en-US" sz="1250" b="1" dirty="0">
                <a:solidFill>
                  <a:srgbClr val="1A1A2E"/>
                </a:solidFill>
              </a:rPr>
              <a:t>You run a real, modern shop. </a:t>
            </a:r>
            <a:pPr indent="0" marL="0">
              <a:buNone/>
            </a:pPr>
            <a:r>
              <a:rPr lang="en-US" sz="1250" dirty="0">
                <a:solidFill>
                  <a:srgbClr val="334155"/>
                </a:solidFill>
              </a:rPr>
              <a:t>Google Workspace with Hapara, a mixed Mac and Chromebook fleet, a Blackbaud-style portal, and an enterprise Check Point firewall — this is a thoughtfully built environment, led by a CTO who's been recognized for it. You don't need someone to take the wheel; you need depth and coverage on top.
</a:t>
            </a:r>
            <a:pPr indent="0" marL="0">
              <a:buNone/>
            </a:pPr>
            <a:r>
              <a:rPr lang="en-US" sz="1250" b="1" dirty="0">
                <a:solidFill>
                  <a:srgbClr val="1A1A2E"/>
                </a:solidFill>
              </a:rPr>
              <a:t>The 3CX cutover is a real, current task. </a:t>
            </a:r>
            <a:pPr indent="0" marL="0">
              <a:buNone/>
            </a:pPr>
            <a:r>
              <a:rPr lang="en-US" sz="1250" dirty="0">
                <a:solidFill>
                  <a:srgbClr val="334155"/>
                </a:solidFill>
              </a:rPr>
              <a:t>Update 9 went Final about a week ago, and getting a brand-new PBX release clean through Check Point and Twilio is genuinely fiddly the first time — a fair reason to want a second set of hands.
</a:t>
            </a:r>
            <a:pPr indent="0" marL="0">
              <a:buNone/>
            </a:pPr>
            <a:r>
              <a:rPr lang="en-US" sz="1250" b="1" dirty="0">
                <a:solidFill>
                  <a:srgbClr val="1A1A2E"/>
                </a:solidFill>
              </a:rPr>
              <a:t>A school carries a higher security floor. </a:t>
            </a:r>
            <a:pPr indent="0" marL="0">
              <a:buNone/>
            </a:pPr>
            <a:r>
              <a:rPr lang="en-US" sz="1250" dirty="0">
                <a:solidFill>
                  <a:srgbClr val="334155"/>
                </a:solidFill>
              </a:rPr>
              <a:t>Children's data, tuition payments, and a cyber-insurer's checklist set a bar that's a lot for a lean team to hold alone, every hour of every day.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WHO WE ARE</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Technijian, in 20 seconds</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Enough to know we're a serious, local, security-first partner — then back to you.</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4</a:t>
            </a:r>
            <a:endParaRPr lang="en-US" sz="1000" dirty="0"/>
          </a:p>
        </p:txBody>
      </p:sp>
      <p:sp>
        <p:nvSpPr>
          <p:cNvPr id="11" name="Shape 8"/>
          <p:cNvSpPr/>
          <p:nvPr/>
        </p:nvSpPr>
        <p:spPr>
          <a:xfrm>
            <a:off x="502920" y="2103120"/>
            <a:ext cx="5486400" cy="1828800"/>
          </a:xfrm>
          <a:prstGeom prst="roundRect">
            <a:avLst>
              <a:gd name="adj" fmla="val 4000"/>
            </a:avLst>
          </a:prstGeom>
          <a:solidFill>
            <a:srgbClr val="FFFFFF"/>
          </a:solidFill>
          <a:ln w="12700">
            <a:solidFill>
              <a:srgbClr val="D8E0EA"/>
            </a:solidFill>
            <a:prstDash val="solid"/>
          </a:ln>
        </p:spPr>
      </p:sp>
      <p:sp>
        <p:nvSpPr>
          <p:cNvPr id="12" name="Shape 9"/>
          <p:cNvSpPr/>
          <p:nvPr/>
        </p:nvSpPr>
        <p:spPr>
          <a:xfrm>
            <a:off x="502920" y="2103120"/>
            <a:ext cx="548640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515721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SINCE 2000</a:t>
            </a:r>
            <a:endParaRPr lang="en-US" sz="900" dirty="0"/>
          </a:p>
        </p:txBody>
      </p:sp>
      <p:sp>
        <p:nvSpPr>
          <p:cNvPr id="14" name="Text 11"/>
          <p:cNvSpPr/>
          <p:nvPr/>
        </p:nvSpPr>
        <p:spPr>
          <a:xfrm>
            <a:off x="667512" y="250545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25+ years, still here</a:t>
            </a:r>
            <a:endParaRPr lang="en-US" sz="1600" dirty="0"/>
          </a:p>
        </p:txBody>
      </p:sp>
      <p:sp>
        <p:nvSpPr>
          <p:cNvPr id="15" name="Text 12"/>
          <p:cNvSpPr/>
          <p:nvPr/>
        </p:nvSpPr>
        <p:spPr>
          <a:xfrm>
            <a:off x="667512" y="281635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An Irvine-based IT firm founded in 2000, with a Panchkula, India delivery center for true follow-the-sun coverage. We're built for the long relationship, not the quick flip.</a:t>
            </a:r>
            <a:endParaRPr lang="en-US" sz="1150" dirty="0"/>
          </a:p>
        </p:txBody>
      </p:sp>
      <p:sp>
        <p:nvSpPr>
          <p:cNvPr id="16" name="Shape 13"/>
          <p:cNvSpPr/>
          <p:nvPr/>
        </p:nvSpPr>
        <p:spPr>
          <a:xfrm>
            <a:off x="6199632" y="2103120"/>
            <a:ext cx="5486400" cy="1828800"/>
          </a:xfrm>
          <a:prstGeom prst="roundRect">
            <a:avLst>
              <a:gd name="adj" fmla="val 4000"/>
            </a:avLst>
          </a:prstGeom>
          <a:solidFill>
            <a:srgbClr val="FFFFFF"/>
          </a:solidFill>
          <a:ln w="12700">
            <a:solidFill>
              <a:srgbClr val="D8E0EA"/>
            </a:solidFill>
            <a:prstDash val="solid"/>
          </a:ln>
        </p:spPr>
      </p:sp>
      <p:sp>
        <p:nvSpPr>
          <p:cNvPr id="17" name="Shape 14"/>
          <p:cNvSpPr/>
          <p:nvPr/>
        </p:nvSpPr>
        <p:spPr>
          <a:xfrm>
            <a:off x="6199632" y="2103120"/>
            <a:ext cx="5486400" cy="91440"/>
          </a:xfrm>
          <a:prstGeom prst="rect">
            <a:avLst/>
          </a:prstGeom>
          <a:solidFill>
            <a:srgbClr val="F67D4B"/>
          </a:solidFill>
          <a:ln w="12700">
            <a:solidFill>
              <a:srgbClr val="F67D4B">
                <a:alpha val="0"/>
              </a:srgbClr>
            </a:solidFill>
            <a:prstDash val="solid"/>
          </a:ln>
        </p:spPr>
      </p:sp>
      <p:sp>
        <p:nvSpPr>
          <p:cNvPr id="18" name="Text 15"/>
          <p:cNvSpPr/>
          <p:nvPr/>
        </p:nvSpPr>
        <p:spPr>
          <a:xfrm>
            <a:off x="6364224" y="2286000"/>
            <a:ext cx="515721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THE POD MODEL</a:t>
            </a:r>
            <a:endParaRPr lang="en-US" sz="900" dirty="0"/>
          </a:p>
        </p:txBody>
      </p:sp>
      <p:sp>
        <p:nvSpPr>
          <p:cNvPr id="19" name="Text 16"/>
          <p:cNvSpPr/>
          <p:nvPr/>
        </p:nvSpPr>
        <p:spPr>
          <a:xfrm>
            <a:off x="6364224" y="250545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A team that knows you</a:t>
            </a:r>
            <a:endParaRPr lang="en-US" sz="1600" dirty="0"/>
          </a:p>
        </p:txBody>
      </p:sp>
      <p:sp>
        <p:nvSpPr>
          <p:cNvPr id="20" name="Text 17"/>
          <p:cNvSpPr/>
          <p:nvPr/>
        </p:nvSpPr>
        <p:spPr>
          <a:xfrm>
            <a:off x="6364224" y="281635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You get a dedicated pod — a named team that learns your environment — not a different stranger on every ticket. It's the single thing clients tell us they were missing before.</a:t>
            </a:r>
            <a:endParaRPr lang="en-US" sz="1150" dirty="0"/>
          </a:p>
        </p:txBody>
      </p:sp>
      <p:sp>
        <p:nvSpPr>
          <p:cNvPr id="21" name="Shape 18"/>
          <p:cNvSpPr/>
          <p:nvPr/>
        </p:nvSpPr>
        <p:spPr>
          <a:xfrm>
            <a:off x="502920" y="4114800"/>
            <a:ext cx="5486400" cy="1828800"/>
          </a:xfrm>
          <a:prstGeom prst="roundRect">
            <a:avLst>
              <a:gd name="adj" fmla="val 4000"/>
            </a:avLst>
          </a:prstGeom>
          <a:solidFill>
            <a:srgbClr val="FFFFFF"/>
          </a:solidFill>
          <a:ln w="12700">
            <a:solidFill>
              <a:srgbClr val="D8E0EA"/>
            </a:solidFill>
            <a:prstDash val="solid"/>
          </a:ln>
        </p:spPr>
      </p:sp>
      <p:sp>
        <p:nvSpPr>
          <p:cNvPr id="22" name="Shape 19"/>
          <p:cNvSpPr/>
          <p:nvPr/>
        </p:nvSpPr>
        <p:spPr>
          <a:xfrm>
            <a:off x="502920" y="4114800"/>
            <a:ext cx="5486400" cy="91440"/>
          </a:xfrm>
          <a:prstGeom prst="rect">
            <a:avLst/>
          </a:prstGeom>
          <a:solidFill>
            <a:srgbClr val="1EAAC8"/>
          </a:solidFill>
          <a:ln w="12700">
            <a:solidFill>
              <a:srgbClr val="1EAAC8">
                <a:alpha val="0"/>
              </a:srgbClr>
            </a:solidFill>
            <a:prstDash val="solid"/>
          </a:ln>
        </p:spPr>
      </p:sp>
      <p:sp>
        <p:nvSpPr>
          <p:cNvPr id="23" name="Text 20"/>
          <p:cNvSpPr/>
          <p:nvPr/>
        </p:nvSpPr>
        <p:spPr>
          <a:xfrm>
            <a:off x="667512" y="4297680"/>
            <a:ext cx="515721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SECURITY-FIRST</a:t>
            </a:r>
            <a:endParaRPr lang="en-US" sz="900" dirty="0"/>
          </a:p>
        </p:txBody>
      </p:sp>
      <p:sp>
        <p:nvSpPr>
          <p:cNvPr id="24" name="Text 21"/>
          <p:cNvSpPr/>
          <p:nvPr/>
        </p:nvSpPr>
        <p:spPr>
          <a:xfrm>
            <a:off x="667512" y="451713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Built in, not bolted on</a:t>
            </a:r>
            <a:endParaRPr lang="en-US" sz="1600" dirty="0"/>
          </a:p>
        </p:txBody>
      </p:sp>
      <p:sp>
        <p:nvSpPr>
          <p:cNvPr id="25" name="Text 22"/>
          <p:cNvSpPr/>
          <p:nvPr/>
        </p:nvSpPr>
        <p:spPr>
          <a:xfrm>
            <a:off x="667512" y="482803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CISSP-led, delivering 24/7 managed detection &amp; response — our My Jian SIEM correlating across CrowdStrike / Huntress MDR, with our analysts triaging. Security is how we run everything.</a:t>
            </a:r>
            <a:endParaRPr lang="en-US" sz="1150" dirty="0"/>
          </a:p>
        </p:txBody>
      </p:sp>
      <p:sp>
        <p:nvSpPr>
          <p:cNvPr id="26" name="Shape 23"/>
          <p:cNvSpPr/>
          <p:nvPr/>
        </p:nvSpPr>
        <p:spPr>
          <a:xfrm>
            <a:off x="6199632" y="4114800"/>
            <a:ext cx="5486400" cy="1828800"/>
          </a:xfrm>
          <a:prstGeom prst="roundRect">
            <a:avLst>
              <a:gd name="adj" fmla="val 4000"/>
            </a:avLst>
          </a:prstGeom>
          <a:solidFill>
            <a:srgbClr val="FFFFFF"/>
          </a:solidFill>
          <a:ln w="12700">
            <a:solidFill>
              <a:srgbClr val="D8E0EA"/>
            </a:solidFill>
            <a:prstDash val="solid"/>
          </a:ln>
        </p:spPr>
      </p:sp>
      <p:sp>
        <p:nvSpPr>
          <p:cNvPr id="27" name="Shape 24"/>
          <p:cNvSpPr/>
          <p:nvPr/>
        </p:nvSpPr>
        <p:spPr>
          <a:xfrm>
            <a:off x="6199632" y="4114800"/>
            <a:ext cx="5486400" cy="91440"/>
          </a:xfrm>
          <a:prstGeom prst="rect">
            <a:avLst/>
          </a:prstGeom>
          <a:solidFill>
            <a:srgbClr val="CBDB2D"/>
          </a:solidFill>
          <a:ln w="12700">
            <a:solidFill>
              <a:srgbClr val="CBDB2D">
                <a:alpha val="0"/>
              </a:srgbClr>
            </a:solidFill>
            <a:prstDash val="solid"/>
          </a:ln>
        </p:spPr>
      </p:sp>
      <p:sp>
        <p:nvSpPr>
          <p:cNvPr id="28" name="Text 25"/>
          <p:cNvSpPr/>
          <p:nvPr/>
        </p:nvSpPr>
        <p:spPr>
          <a:xfrm>
            <a:off x="6364224" y="4297680"/>
            <a:ext cx="515721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WE'VE DONE THIS</a:t>
            </a:r>
            <a:endParaRPr lang="en-US" sz="900" dirty="0"/>
          </a:p>
        </p:txBody>
      </p:sp>
      <p:sp>
        <p:nvSpPr>
          <p:cNvPr id="29" name="Text 26"/>
          <p:cNvSpPr/>
          <p:nvPr/>
        </p:nvSpPr>
        <p:spPr>
          <a:xfrm>
            <a:off x="6364224" y="4517136"/>
            <a:ext cx="5157216" cy="384048"/>
          </a:xfrm>
          <a:prstGeom prst="rect">
            <a:avLst/>
          </a:prstGeom>
          <a:noFill/>
          <a:ln/>
        </p:spPr>
        <p:txBody>
          <a:bodyPr wrap="square" lIns="0" tIns="0" rIns="0" bIns="0" rtlCol="0" anchor="ctr"/>
          <a:lstStyle/>
          <a:p>
            <a:pPr indent="0" marL="0">
              <a:buNone/>
            </a:pPr>
            <a:r>
              <a:rPr lang="en-US" sz="1600" b="1" dirty="0">
                <a:solidFill>
                  <a:srgbClr val="1A1A2E"/>
                </a:solidFill>
                <a:latin typeface="Arial" pitchFamily="34" charset="0"/>
                <a:ea typeface="Arial" pitchFamily="34" charset="-122"/>
                <a:cs typeface="Arial" pitchFamily="34" charset="-120"/>
              </a:rPr>
              <a:t>3CX behind enterprise firewalls</a:t>
            </a:r>
            <a:endParaRPr lang="en-US" sz="1600" dirty="0"/>
          </a:p>
        </p:txBody>
      </p:sp>
      <p:sp>
        <p:nvSpPr>
          <p:cNvPr id="30" name="Text 27"/>
          <p:cNvSpPr/>
          <p:nvPr/>
        </p:nvSpPr>
        <p:spPr>
          <a:xfrm>
            <a:off x="6364224" y="4828032"/>
            <a:ext cx="5157216" cy="978408"/>
          </a:xfrm>
          <a:prstGeom prst="rect">
            <a:avLst/>
          </a:prstGeom>
          <a:noFill/>
          <a:ln/>
        </p:spPr>
        <p:txBody>
          <a:bodyPr wrap="square" lIns="0" tIns="0" rIns="0" bIns="0" rtlCol="0" anchor="t"/>
          <a:lstStyle/>
          <a:p>
            <a:pPr indent="0" marL="0">
              <a:buNone/>
            </a:pPr>
            <a:r>
              <a:rPr lang="en-US" sz="1150" dirty="0">
                <a:solidFill>
                  <a:srgbClr val="334155"/>
                </a:solidFill>
                <a:latin typeface="Arial" pitchFamily="34" charset="0"/>
                <a:ea typeface="Arial" pitchFamily="34" charset="-122"/>
                <a:cs typeface="Arial" pitchFamily="34" charset="-120"/>
              </a:rPr>
              <a:t>We configure VoIP behind enterprise firewalls regularly, and we build practical AI and custom software — so the conversation can go beyond keeping the lights 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THE PROJECT ON YOUR DESK</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3CX V20 · Check Point · Twilio — why the seams fight</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Each piece is fine alone. The work is where they meet — and it's the same pattern every time, which is exactly why it goes faster with a team that's done it often.</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5</a:t>
            </a:r>
            <a:endParaRPr lang="en-US" sz="1000" dirty="0"/>
          </a:p>
        </p:txBody>
      </p:sp>
      <p:sp>
        <p:nvSpPr>
          <p:cNvPr id="11" name="Shape 8"/>
          <p:cNvSpPr/>
          <p:nvPr/>
        </p:nvSpPr>
        <p:spPr>
          <a:xfrm>
            <a:off x="502920" y="2103120"/>
            <a:ext cx="3611880" cy="2926080"/>
          </a:xfrm>
          <a:prstGeom prst="roundRect">
            <a:avLst>
              <a:gd name="adj" fmla="val 2500"/>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85800" y="2286000"/>
            <a:ext cx="3291840" cy="365760"/>
          </a:xfrm>
          <a:prstGeom prst="rect">
            <a:avLst/>
          </a:prstGeom>
          <a:noFill/>
          <a:ln/>
        </p:spPr>
        <p:txBody>
          <a:bodyPr wrap="square" lIns="0" tIns="0" rIns="0" bIns="0" rtlCol="0" anchor="t"/>
          <a:lstStyle/>
          <a:p>
            <a:pPr indent="0" marL="0">
              <a:buNone/>
            </a:pPr>
            <a:r>
              <a:rPr lang="en-US" sz="1500" b="1" dirty="0">
                <a:solidFill>
                  <a:srgbClr val="1A1A2E"/>
                </a:solidFill>
                <a:latin typeface="Arial" pitchFamily="34" charset="0"/>
                <a:ea typeface="Arial" pitchFamily="34" charset="-122"/>
                <a:cs typeface="Arial" pitchFamily="34" charset="-120"/>
              </a:rPr>
              <a:t>3CX V20 Update 9</a:t>
            </a:r>
            <a:endParaRPr lang="en-US" sz="1500" dirty="0"/>
          </a:p>
        </p:txBody>
      </p:sp>
      <p:sp>
        <p:nvSpPr>
          <p:cNvPr id="14" name="Text 11"/>
          <p:cNvSpPr/>
          <p:nvPr/>
        </p:nvSpPr>
        <p:spPr>
          <a:xfrm>
            <a:off x="685800" y="2633472"/>
            <a:ext cx="3291840" cy="274320"/>
          </a:xfrm>
          <a:prstGeom prst="rect">
            <a:avLst/>
          </a:prstGeom>
          <a:noFill/>
          <a:ln/>
        </p:spPr>
        <p:txBody>
          <a:bodyPr wrap="square" lIns="0" tIns="0" rIns="0" bIns="0" rtlCol="0" anchor="t"/>
          <a:lstStyle/>
          <a:p>
            <a:pPr indent="0" marL="0">
              <a:buNone/>
            </a:pPr>
            <a:r>
              <a:rPr lang="en-US" sz="1000" i="1" dirty="0">
                <a:solidFill>
                  <a:srgbClr val="006DB6"/>
                </a:solidFill>
                <a:latin typeface="Arial" pitchFamily="34" charset="0"/>
                <a:ea typeface="Arial" pitchFamily="34" charset="-122"/>
                <a:cs typeface="Arial" pitchFamily="34" charset="-120"/>
              </a:rPr>
              <a:t>(Final June 16, 2026)</a:t>
            </a:r>
            <a:endParaRPr lang="en-US" sz="1000" dirty="0"/>
          </a:p>
        </p:txBody>
      </p:sp>
      <p:sp>
        <p:nvSpPr>
          <p:cNvPr id="15" name="Shape 12"/>
          <p:cNvSpPr/>
          <p:nvPr/>
        </p:nvSpPr>
        <p:spPr>
          <a:xfrm>
            <a:off x="704088" y="3090672"/>
            <a:ext cx="91440" cy="91440"/>
          </a:xfrm>
          <a:prstGeom prst="ellipse">
            <a:avLst/>
          </a:prstGeom>
          <a:solidFill>
            <a:srgbClr val="006DB6"/>
          </a:solidFill>
          <a:ln w="12700">
            <a:solidFill>
              <a:srgbClr val="006DB6">
                <a:alpha val="0"/>
              </a:srgbClr>
            </a:solidFill>
            <a:prstDash val="solid"/>
          </a:ln>
        </p:spPr>
      </p:sp>
      <p:sp>
        <p:nvSpPr>
          <p:cNvPr id="16" name="Text 13"/>
          <p:cNvSpPr/>
          <p:nvPr/>
        </p:nvSpPr>
        <p:spPr>
          <a:xfrm>
            <a:off x="868680" y="30358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Needs Full-Cone NAT — not just open ports</a:t>
            </a:r>
            <a:endParaRPr lang="en-US" sz="1050" dirty="0"/>
          </a:p>
        </p:txBody>
      </p:sp>
      <p:sp>
        <p:nvSpPr>
          <p:cNvPr id="17" name="Shape 14"/>
          <p:cNvSpPr/>
          <p:nvPr/>
        </p:nvSpPr>
        <p:spPr>
          <a:xfrm>
            <a:off x="704088" y="3547872"/>
            <a:ext cx="91440" cy="91440"/>
          </a:xfrm>
          <a:prstGeom prst="ellipse">
            <a:avLst/>
          </a:prstGeom>
          <a:solidFill>
            <a:srgbClr val="006DB6"/>
          </a:solidFill>
          <a:ln w="12700">
            <a:solidFill>
              <a:srgbClr val="006DB6">
                <a:alpha val="0"/>
              </a:srgbClr>
            </a:solidFill>
            <a:prstDash val="solid"/>
          </a:ln>
        </p:spPr>
      </p:sp>
      <p:sp>
        <p:nvSpPr>
          <p:cNvPr id="18" name="Text 15"/>
          <p:cNvSpPr/>
          <p:nvPr/>
        </p:nvSpPr>
        <p:spPr>
          <a:xfrm>
            <a:off x="868680" y="34930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SIP 5060 · RTP 9000–10999 · tunnel 5090</a:t>
            </a:r>
            <a:endParaRPr lang="en-US" sz="1050" dirty="0"/>
          </a:p>
        </p:txBody>
      </p:sp>
      <p:sp>
        <p:nvSpPr>
          <p:cNvPr id="19" name="Shape 16"/>
          <p:cNvSpPr/>
          <p:nvPr/>
        </p:nvSpPr>
        <p:spPr>
          <a:xfrm>
            <a:off x="704088" y="4005072"/>
            <a:ext cx="91440" cy="91440"/>
          </a:xfrm>
          <a:prstGeom prst="ellipse">
            <a:avLst/>
          </a:prstGeom>
          <a:solidFill>
            <a:srgbClr val="006DB6"/>
          </a:solidFill>
          <a:ln w="12700">
            <a:solidFill>
              <a:srgbClr val="006DB6">
                <a:alpha val="0"/>
              </a:srgbClr>
            </a:solidFill>
            <a:prstDash val="solid"/>
          </a:ln>
        </p:spPr>
      </p:sp>
      <p:sp>
        <p:nvSpPr>
          <p:cNvPr id="20" name="Text 17"/>
          <p:cNvSpPr/>
          <p:nvPr/>
        </p:nvSpPr>
        <p:spPr>
          <a:xfrm>
            <a:off x="868680" y="39502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Firewall Checker validates NAT type</a:t>
            </a:r>
            <a:endParaRPr lang="en-US" sz="1050" dirty="0"/>
          </a:p>
        </p:txBody>
      </p:sp>
      <p:sp>
        <p:nvSpPr>
          <p:cNvPr id="21" name="Shape 18"/>
          <p:cNvSpPr/>
          <p:nvPr/>
        </p:nvSpPr>
        <p:spPr>
          <a:xfrm>
            <a:off x="704088" y="4462272"/>
            <a:ext cx="91440" cy="91440"/>
          </a:xfrm>
          <a:prstGeom prst="ellipse">
            <a:avLst/>
          </a:prstGeom>
          <a:solidFill>
            <a:srgbClr val="006DB6"/>
          </a:solidFill>
          <a:ln w="12700">
            <a:solidFill>
              <a:srgbClr val="006DB6">
                <a:alpha val="0"/>
              </a:srgbClr>
            </a:solidFill>
            <a:prstDash val="solid"/>
          </a:ln>
        </p:spPr>
      </p:sp>
      <p:sp>
        <p:nvSpPr>
          <p:cNvPr id="22" name="Text 19"/>
          <p:cNvSpPr/>
          <p:nvPr/>
        </p:nvSpPr>
        <p:spPr>
          <a:xfrm>
            <a:off x="868680" y="44074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New Custom SIP-trunk Template Builder</a:t>
            </a:r>
            <a:endParaRPr lang="en-US" sz="1050" dirty="0"/>
          </a:p>
        </p:txBody>
      </p:sp>
      <p:sp>
        <p:nvSpPr>
          <p:cNvPr id="23" name="Shape 20"/>
          <p:cNvSpPr/>
          <p:nvPr/>
        </p:nvSpPr>
        <p:spPr>
          <a:xfrm>
            <a:off x="4306824" y="2103120"/>
            <a:ext cx="3611880" cy="2926080"/>
          </a:xfrm>
          <a:prstGeom prst="roundRect">
            <a:avLst>
              <a:gd name="adj" fmla="val 2500"/>
            </a:avLst>
          </a:prstGeom>
          <a:solidFill>
            <a:srgbClr val="FFFFFF"/>
          </a:solidFill>
          <a:ln w="12700">
            <a:solidFill>
              <a:srgbClr val="D8E0EA"/>
            </a:solidFill>
            <a:prstDash val="solid"/>
          </a:ln>
        </p:spPr>
      </p:sp>
      <p:sp>
        <p:nvSpPr>
          <p:cNvPr id="24" name="Shape 21"/>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25" name="Text 22"/>
          <p:cNvSpPr/>
          <p:nvPr/>
        </p:nvSpPr>
        <p:spPr>
          <a:xfrm>
            <a:off x="4489704" y="2286000"/>
            <a:ext cx="3291840" cy="365760"/>
          </a:xfrm>
          <a:prstGeom prst="rect">
            <a:avLst/>
          </a:prstGeom>
          <a:noFill/>
          <a:ln/>
        </p:spPr>
        <p:txBody>
          <a:bodyPr wrap="square" lIns="0" tIns="0" rIns="0" bIns="0" rtlCol="0" anchor="t"/>
          <a:lstStyle/>
          <a:p>
            <a:pPr indent="0" marL="0">
              <a:buNone/>
            </a:pPr>
            <a:r>
              <a:rPr lang="en-US" sz="1500" b="1" dirty="0">
                <a:solidFill>
                  <a:srgbClr val="1A1A2E"/>
                </a:solidFill>
                <a:latin typeface="Arial" pitchFamily="34" charset="0"/>
                <a:ea typeface="Arial" pitchFamily="34" charset="-122"/>
                <a:cs typeface="Arial" pitchFamily="34" charset="-120"/>
              </a:rPr>
              <a:t>Check Point firewall</a:t>
            </a:r>
            <a:endParaRPr lang="en-US" sz="1500" dirty="0"/>
          </a:p>
        </p:txBody>
      </p:sp>
      <p:sp>
        <p:nvSpPr>
          <p:cNvPr id="26" name="Text 23"/>
          <p:cNvSpPr/>
          <p:nvPr/>
        </p:nvSpPr>
        <p:spPr>
          <a:xfrm>
            <a:off x="4489704" y="2633472"/>
            <a:ext cx="3291840" cy="274320"/>
          </a:xfrm>
          <a:prstGeom prst="rect">
            <a:avLst/>
          </a:prstGeom>
          <a:noFill/>
          <a:ln/>
        </p:spPr>
        <p:txBody>
          <a:bodyPr wrap="square" lIns="0" tIns="0" rIns="0" bIns="0" rtlCol="0" anchor="t"/>
          <a:lstStyle/>
          <a:p>
            <a:pPr indent="0" marL="0">
              <a:buNone/>
            </a:pPr>
            <a:r>
              <a:rPr lang="en-US" sz="1000" i="1" dirty="0">
                <a:solidFill>
                  <a:srgbClr val="F67D4B"/>
                </a:solidFill>
                <a:latin typeface="Arial" pitchFamily="34" charset="0"/>
                <a:ea typeface="Arial" pitchFamily="34" charset="-122"/>
                <a:cs typeface="Arial" pitchFamily="34" charset="-120"/>
              </a:rPr>
              <a:t>(the piece in the middle)</a:t>
            </a:r>
            <a:endParaRPr lang="en-US" sz="1000" dirty="0"/>
          </a:p>
        </p:txBody>
      </p:sp>
      <p:sp>
        <p:nvSpPr>
          <p:cNvPr id="27" name="Shape 24"/>
          <p:cNvSpPr/>
          <p:nvPr/>
        </p:nvSpPr>
        <p:spPr>
          <a:xfrm>
            <a:off x="4507992" y="3090672"/>
            <a:ext cx="91440" cy="91440"/>
          </a:xfrm>
          <a:prstGeom prst="ellipse">
            <a:avLst/>
          </a:prstGeom>
          <a:solidFill>
            <a:srgbClr val="F67D4B"/>
          </a:solidFill>
          <a:ln w="12700">
            <a:solidFill>
              <a:srgbClr val="F67D4B">
                <a:alpha val="0"/>
              </a:srgbClr>
            </a:solidFill>
            <a:prstDash val="solid"/>
          </a:ln>
        </p:spPr>
      </p:sp>
      <p:sp>
        <p:nvSpPr>
          <p:cNvPr id="28" name="Text 25"/>
          <p:cNvSpPr/>
          <p:nvPr/>
        </p:nvSpPr>
        <p:spPr>
          <a:xfrm>
            <a:off x="4672584" y="30358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SIP inspection / ALG ON by default</a:t>
            </a:r>
            <a:endParaRPr lang="en-US" sz="1050" dirty="0"/>
          </a:p>
        </p:txBody>
      </p:sp>
      <p:sp>
        <p:nvSpPr>
          <p:cNvPr id="29" name="Shape 26"/>
          <p:cNvSpPr/>
          <p:nvPr/>
        </p:nvSpPr>
        <p:spPr>
          <a:xfrm>
            <a:off x="4507992" y="3547872"/>
            <a:ext cx="91440" cy="91440"/>
          </a:xfrm>
          <a:prstGeom prst="ellipse">
            <a:avLst/>
          </a:prstGeom>
          <a:solidFill>
            <a:srgbClr val="F67D4B"/>
          </a:solidFill>
          <a:ln w="12700">
            <a:solidFill>
              <a:srgbClr val="F67D4B">
                <a:alpha val="0"/>
              </a:srgbClr>
            </a:solidFill>
            <a:prstDash val="solid"/>
          </a:ln>
        </p:spPr>
      </p:sp>
      <p:sp>
        <p:nvSpPr>
          <p:cNvPr id="30" name="Text 27"/>
          <p:cNvSpPr/>
          <p:nvPr/>
        </p:nvSpPr>
        <p:spPr>
          <a:xfrm>
            <a:off x="4672584" y="34930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Must turn ALG OFF — it mangles SIP</a:t>
            </a:r>
            <a:endParaRPr lang="en-US" sz="1050" dirty="0"/>
          </a:p>
        </p:txBody>
      </p:sp>
      <p:sp>
        <p:nvSpPr>
          <p:cNvPr id="31" name="Shape 28"/>
          <p:cNvSpPr/>
          <p:nvPr/>
        </p:nvSpPr>
        <p:spPr>
          <a:xfrm>
            <a:off x="4507992" y="4005072"/>
            <a:ext cx="91440" cy="91440"/>
          </a:xfrm>
          <a:prstGeom prst="ellipse">
            <a:avLst/>
          </a:prstGeom>
          <a:solidFill>
            <a:srgbClr val="F67D4B"/>
          </a:solidFill>
          <a:ln w="12700">
            <a:solidFill>
              <a:srgbClr val="F67D4B">
                <a:alpha val="0"/>
              </a:srgbClr>
            </a:solidFill>
            <a:prstDash val="solid"/>
          </a:ln>
        </p:spPr>
      </p:sp>
      <p:sp>
        <p:nvSpPr>
          <p:cNvPr id="32" name="Text 29"/>
          <p:cNvSpPr/>
          <p:nvPr/>
        </p:nvSpPr>
        <p:spPr>
          <a:xfrm>
            <a:off x="4672584" y="39502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Then define RTP ports manually</a:t>
            </a:r>
            <a:endParaRPr lang="en-US" sz="1050" dirty="0"/>
          </a:p>
        </p:txBody>
      </p:sp>
      <p:sp>
        <p:nvSpPr>
          <p:cNvPr id="33" name="Shape 30"/>
          <p:cNvSpPr/>
          <p:nvPr/>
        </p:nvSpPr>
        <p:spPr>
          <a:xfrm>
            <a:off x="4507992" y="4462272"/>
            <a:ext cx="91440" cy="91440"/>
          </a:xfrm>
          <a:prstGeom prst="ellipse">
            <a:avLst/>
          </a:prstGeom>
          <a:solidFill>
            <a:srgbClr val="F67D4B"/>
          </a:solidFill>
          <a:ln w="12700">
            <a:solidFill>
              <a:srgbClr val="F67D4B">
                <a:alpha val="0"/>
              </a:srgbClr>
            </a:solidFill>
            <a:prstDash val="solid"/>
          </a:ln>
        </p:spPr>
      </p:sp>
      <p:sp>
        <p:nvSpPr>
          <p:cNvPr id="34" name="Text 31"/>
          <p:cNvSpPr/>
          <p:nvPr/>
        </p:nvSpPr>
        <p:spPr>
          <a:xfrm>
            <a:off x="4672584" y="44074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Stable 1:1 NAT for the PBX</a:t>
            </a:r>
            <a:endParaRPr lang="en-US" sz="1050" dirty="0"/>
          </a:p>
        </p:txBody>
      </p:sp>
      <p:sp>
        <p:nvSpPr>
          <p:cNvPr id="35" name="Shape 32"/>
          <p:cNvSpPr/>
          <p:nvPr/>
        </p:nvSpPr>
        <p:spPr>
          <a:xfrm>
            <a:off x="8110728" y="2103120"/>
            <a:ext cx="3611880" cy="2926080"/>
          </a:xfrm>
          <a:prstGeom prst="roundRect">
            <a:avLst>
              <a:gd name="adj" fmla="val 2500"/>
            </a:avLst>
          </a:prstGeom>
          <a:solidFill>
            <a:srgbClr val="FFFFFF"/>
          </a:solidFill>
          <a:ln w="12700">
            <a:solidFill>
              <a:srgbClr val="D8E0EA"/>
            </a:solidFill>
            <a:prstDash val="solid"/>
          </a:ln>
        </p:spPr>
      </p:sp>
      <p:sp>
        <p:nvSpPr>
          <p:cNvPr id="36" name="Shape 33"/>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37" name="Text 34"/>
          <p:cNvSpPr/>
          <p:nvPr/>
        </p:nvSpPr>
        <p:spPr>
          <a:xfrm>
            <a:off x="8293608" y="2286000"/>
            <a:ext cx="3291840" cy="365760"/>
          </a:xfrm>
          <a:prstGeom prst="rect">
            <a:avLst/>
          </a:prstGeom>
          <a:noFill/>
          <a:ln/>
        </p:spPr>
        <p:txBody>
          <a:bodyPr wrap="square" lIns="0" tIns="0" rIns="0" bIns="0" rtlCol="0" anchor="t"/>
          <a:lstStyle/>
          <a:p>
            <a:pPr indent="0" marL="0">
              <a:buNone/>
            </a:pPr>
            <a:r>
              <a:rPr lang="en-US" sz="1500" b="1" dirty="0">
                <a:solidFill>
                  <a:srgbClr val="1A1A2E"/>
                </a:solidFill>
                <a:latin typeface="Arial" pitchFamily="34" charset="0"/>
                <a:ea typeface="Arial" pitchFamily="34" charset="-122"/>
                <a:cs typeface="Arial" pitchFamily="34" charset="-120"/>
              </a:rPr>
              <a:t>Twilio Elastic SIP</a:t>
            </a:r>
            <a:endParaRPr lang="en-US" sz="1500" dirty="0"/>
          </a:p>
        </p:txBody>
      </p:sp>
      <p:sp>
        <p:nvSpPr>
          <p:cNvPr id="38" name="Text 35"/>
          <p:cNvSpPr/>
          <p:nvPr/>
        </p:nvSpPr>
        <p:spPr>
          <a:xfrm>
            <a:off x="8293608" y="2633472"/>
            <a:ext cx="3291840" cy="274320"/>
          </a:xfrm>
          <a:prstGeom prst="rect">
            <a:avLst/>
          </a:prstGeom>
          <a:noFill/>
          <a:ln/>
        </p:spPr>
        <p:txBody>
          <a:bodyPr wrap="square" lIns="0" tIns="0" rIns="0" bIns="0" rtlCol="0" anchor="t"/>
          <a:lstStyle/>
          <a:p>
            <a:pPr indent="0" marL="0">
              <a:buNone/>
            </a:pPr>
            <a:r>
              <a:rPr lang="en-US" sz="1000" i="1" dirty="0">
                <a:solidFill>
                  <a:srgbClr val="1EAAC8"/>
                </a:solidFill>
                <a:latin typeface="Arial" pitchFamily="34" charset="0"/>
                <a:ea typeface="Arial" pitchFamily="34" charset="-122"/>
                <a:cs typeface="Arial" pitchFamily="34" charset="-120"/>
              </a:rPr>
              <a:t>(the trunk)</a:t>
            </a:r>
            <a:endParaRPr lang="en-US" sz="1000" dirty="0"/>
          </a:p>
        </p:txBody>
      </p:sp>
      <p:sp>
        <p:nvSpPr>
          <p:cNvPr id="39" name="Shape 36"/>
          <p:cNvSpPr/>
          <p:nvPr/>
        </p:nvSpPr>
        <p:spPr>
          <a:xfrm>
            <a:off x="8311896" y="3090672"/>
            <a:ext cx="91440" cy="91440"/>
          </a:xfrm>
          <a:prstGeom prst="ellipse">
            <a:avLst/>
          </a:prstGeom>
          <a:solidFill>
            <a:srgbClr val="1EAAC8"/>
          </a:solidFill>
          <a:ln w="12700">
            <a:solidFill>
              <a:srgbClr val="1EAAC8">
                <a:alpha val="0"/>
              </a:srgbClr>
            </a:solidFill>
            <a:prstDash val="solid"/>
          </a:ln>
        </p:spPr>
      </p:sp>
      <p:sp>
        <p:nvSpPr>
          <p:cNvPr id="40" name="Text 37"/>
          <p:cNvSpPr/>
          <p:nvPr/>
        </p:nvSpPr>
        <p:spPr>
          <a:xfrm>
            <a:off x="8476488" y="30358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Termination + Origination URIs</a:t>
            </a:r>
            <a:endParaRPr lang="en-US" sz="1050" dirty="0"/>
          </a:p>
        </p:txBody>
      </p:sp>
      <p:sp>
        <p:nvSpPr>
          <p:cNvPr id="41" name="Shape 38"/>
          <p:cNvSpPr/>
          <p:nvPr/>
        </p:nvSpPr>
        <p:spPr>
          <a:xfrm>
            <a:off x="8311896" y="3547872"/>
            <a:ext cx="91440" cy="91440"/>
          </a:xfrm>
          <a:prstGeom prst="ellipse">
            <a:avLst/>
          </a:prstGeom>
          <a:solidFill>
            <a:srgbClr val="1EAAC8"/>
          </a:solidFill>
          <a:ln w="12700">
            <a:solidFill>
              <a:srgbClr val="1EAAC8">
                <a:alpha val="0"/>
              </a:srgbClr>
            </a:solidFill>
            <a:prstDash val="solid"/>
          </a:ln>
        </p:spPr>
      </p:sp>
      <p:sp>
        <p:nvSpPr>
          <p:cNvPr id="42" name="Text 39"/>
          <p:cNvSpPr/>
          <p:nvPr/>
        </p:nvSpPr>
        <p:spPr>
          <a:xfrm>
            <a:off x="8476488" y="34930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Pointed at the 3CX public FQDN</a:t>
            </a:r>
            <a:endParaRPr lang="en-US" sz="1050" dirty="0"/>
          </a:p>
        </p:txBody>
      </p:sp>
      <p:sp>
        <p:nvSpPr>
          <p:cNvPr id="43" name="Shape 40"/>
          <p:cNvSpPr/>
          <p:nvPr/>
        </p:nvSpPr>
        <p:spPr>
          <a:xfrm>
            <a:off x="8311896" y="4005072"/>
            <a:ext cx="91440" cy="91440"/>
          </a:xfrm>
          <a:prstGeom prst="ellipse">
            <a:avLst/>
          </a:prstGeom>
          <a:solidFill>
            <a:srgbClr val="1EAAC8"/>
          </a:solidFill>
          <a:ln w="12700">
            <a:solidFill>
              <a:srgbClr val="1EAAC8">
                <a:alpha val="0"/>
              </a:srgbClr>
            </a:solidFill>
            <a:prstDash val="solid"/>
          </a:ln>
        </p:spPr>
      </p:sp>
      <p:sp>
        <p:nvSpPr>
          <p:cNvPr id="44" name="Text 41"/>
          <p:cNvSpPr/>
          <p:nvPr/>
        </p:nvSpPr>
        <p:spPr>
          <a:xfrm>
            <a:off x="8476488" y="39502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IP ACL + credentials kept in sync</a:t>
            </a:r>
            <a:endParaRPr lang="en-US" sz="1050" dirty="0"/>
          </a:p>
        </p:txBody>
      </p:sp>
      <p:sp>
        <p:nvSpPr>
          <p:cNvPr id="45" name="Shape 42"/>
          <p:cNvSpPr/>
          <p:nvPr/>
        </p:nvSpPr>
        <p:spPr>
          <a:xfrm>
            <a:off x="8311896" y="4462272"/>
            <a:ext cx="91440" cy="91440"/>
          </a:xfrm>
          <a:prstGeom prst="ellipse">
            <a:avLst/>
          </a:prstGeom>
          <a:solidFill>
            <a:srgbClr val="1EAAC8"/>
          </a:solidFill>
          <a:ln w="12700">
            <a:solidFill>
              <a:srgbClr val="1EAAC8">
                <a:alpha val="0"/>
              </a:srgbClr>
            </a:solidFill>
            <a:prstDash val="solid"/>
          </a:ln>
        </p:spPr>
      </p:sp>
      <p:sp>
        <p:nvSpPr>
          <p:cNvPr id="46" name="Text 43"/>
          <p:cNvSpPr/>
          <p:nvPr/>
        </p:nvSpPr>
        <p:spPr>
          <a:xfrm>
            <a:off x="8476488" y="4407408"/>
            <a:ext cx="3108960" cy="41148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Numbers in E.164; codecs matched</a:t>
            </a:r>
            <a:endParaRPr lang="en-US" sz="1050" dirty="0"/>
          </a:p>
        </p:txBody>
      </p:sp>
      <p:sp>
        <p:nvSpPr>
          <p:cNvPr id="47" name="Shape 44"/>
          <p:cNvSpPr/>
          <p:nvPr/>
        </p:nvSpPr>
        <p:spPr>
          <a:xfrm>
            <a:off x="502920" y="5166360"/>
            <a:ext cx="11201400" cy="1097280"/>
          </a:xfrm>
          <a:prstGeom prst="roundRect">
            <a:avLst>
              <a:gd name="adj" fmla="val 5000"/>
            </a:avLst>
          </a:prstGeom>
          <a:solidFill>
            <a:srgbClr val="1A1A2E"/>
          </a:solidFill>
          <a:ln w="12700">
            <a:solidFill>
              <a:srgbClr val="1A1A2E">
                <a:alpha val="0"/>
              </a:srgbClr>
            </a:solidFill>
            <a:prstDash val="solid"/>
          </a:ln>
        </p:spPr>
      </p:sp>
      <p:sp>
        <p:nvSpPr>
          <p:cNvPr id="48" name="Text 45"/>
          <p:cNvSpPr/>
          <p:nvPr/>
        </p:nvSpPr>
        <p:spPr>
          <a:xfrm>
            <a:off x="713232" y="5285232"/>
            <a:ext cx="10698480" cy="228600"/>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THE TELL</a:t>
            </a:r>
            <a:endParaRPr lang="en-US" sz="900" dirty="0"/>
          </a:p>
        </p:txBody>
      </p:sp>
      <p:sp>
        <p:nvSpPr>
          <p:cNvPr id="49" name="Text 46"/>
          <p:cNvSpPr/>
          <p:nvPr/>
        </p:nvSpPr>
        <p:spPr>
          <a:xfrm>
            <a:off x="713232" y="5522976"/>
            <a:ext cx="10789920" cy="685800"/>
          </a:xfrm>
          <a:prstGeom prst="rect">
            <a:avLst/>
          </a:prstGeom>
          <a:noFill/>
          <a:ln/>
        </p:spPr>
        <p:txBody>
          <a:bodyPr wrap="square" lIns="0" tIns="0" rIns="0" bIns="0" rtlCol="0" anchor="t"/>
          <a:lstStyle/>
          <a:p>
            <a:pPr indent="0" marL="0">
              <a:buNone/>
            </a:pPr>
            <a:r>
              <a:rPr lang="en-US" sz="1200" b="1" dirty="0">
                <a:solidFill>
                  <a:srgbClr val="FFFFFF"/>
                </a:solidFill>
              </a:rPr>
              <a:t>Dropped registration, one-way audio, or calls dying at ~30 seconds </a:t>
            </a:r>
            <a:pPr indent="0" marL="0">
              <a:buNone/>
            </a:pPr>
            <a:r>
              <a:rPr lang="en-US" sz="1200" dirty="0">
                <a:solidFill>
                  <a:srgbClr val="FFFFFF">
                    <a:alpha val="90000"/>
                  </a:srgbClr>
                </a:solidFill>
              </a:rPr>
              <a:t>look like a 3CX or Twilio bug — but they're almost always the firewall in the middle. Our approach: confirm the ground truth, turn off SIP inspection and define the media path deliberately, bring the Twilio trunk up clean, validate with the Firewall Checker and live calls — then leave a runbook so the next update doesn't reopen the ticket.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THE CORE IDEA</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Co-managed means we work for you, not instead of you</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The old pitch was all-or-nothing: hand us your network and step aside. That's not this. Co-management keeps you in charge and plugs specific gaps.</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6</a:t>
            </a:r>
            <a:endParaRPr lang="en-US" sz="1000" dirty="0"/>
          </a:p>
        </p:txBody>
      </p:sp>
      <p:sp>
        <p:nvSpPr>
          <p:cNvPr id="11" name="Shape 8"/>
          <p:cNvSpPr/>
          <p:nvPr/>
        </p:nvSpPr>
        <p:spPr>
          <a:xfrm>
            <a:off x="502920" y="2103120"/>
            <a:ext cx="2606040" cy="4114800"/>
          </a:xfrm>
          <a:prstGeom prst="roundRect">
            <a:avLst>
              <a:gd name="adj" fmla="val 2807"/>
            </a:avLst>
          </a:prstGeom>
          <a:solidFill>
            <a:srgbClr val="FFFFFF"/>
          </a:solidFill>
          <a:ln w="12700">
            <a:solidFill>
              <a:srgbClr val="D8E0EA"/>
            </a:solidFill>
            <a:prstDash val="solid"/>
          </a:ln>
        </p:spPr>
      </p:sp>
      <p:sp>
        <p:nvSpPr>
          <p:cNvPr id="12" name="Shape 9"/>
          <p:cNvSpPr/>
          <p:nvPr/>
        </p:nvSpPr>
        <p:spPr>
          <a:xfrm>
            <a:off x="502920" y="2103120"/>
            <a:ext cx="2606040" cy="91440"/>
          </a:xfrm>
          <a:prstGeom prst="rect">
            <a:avLst/>
          </a:prstGeom>
          <a:solidFill>
            <a:srgbClr val="64748B"/>
          </a:solidFill>
          <a:ln w="12700">
            <a:solidFill>
              <a:srgbClr val="64748B">
                <a:alpha val="0"/>
              </a:srgbClr>
            </a:solidFill>
            <a:prstDash val="solid"/>
          </a:ln>
        </p:spPr>
      </p:sp>
      <p:sp>
        <p:nvSpPr>
          <p:cNvPr id="13" name="Text 10"/>
          <p:cNvSpPr/>
          <p:nvPr/>
        </p:nvSpPr>
        <p:spPr>
          <a:xfrm>
            <a:off x="667512" y="2286000"/>
            <a:ext cx="228600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All-or-nothing outsourcing</a:t>
            </a:r>
            <a:endParaRPr lang="en-US" sz="1400" dirty="0"/>
          </a:p>
        </p:txBody>
      </p:sp>
      <p:sp>
        <p:nvSpPr>
          <p:cNvPr id="14" name="Text 11"/>
          <p:cNvSpPr/>
          <p:nvPr/>
        </p:nvSpPr>
        <p:spPr>
          <a:xfrm>
            <a:off x="667512" y="2743200"/>
            <a:ext cx="2331720" cy="365760"/>
          </a:xfrm>
          <a:prstGeom prst="rect">
            <a:avLst/>
          </a:prstGeom>
          <a:noFill/>
          <a:ln/>
        </p:spPr>
        <p:txBody>
          <a:bodyPr wrap="square" lIns="0" tIns="0" rIns="0" bIns="0" rtlCol="0" anchor="t"/>
          <a:lstStyle/>
          <a:p>
            <a:pPr indent="0" marL="0">
              <a:buNone/>
            </a:pPr>
            <a:r>
              <a:rPr lang="en-US" sz="950" i="1" dirty="0">
                <a:solidFill>
                  <a:srgbClr val="64748B"/>
                </a:solidFill>
                <a:latin typeface="Arial" pitchFamily="34" charset="0"/>
                <a:ea typeface="Arial" pitchFamily="34" charset="-122"/>
                <a:cs typeface="Arial" pitchFamily="34" charset="-120"/>
              </a:rPr>
              <a:t>(the model you're right to distrust)</a:t>
            </a:r>
            <a:endParaRPr lang="en-US" sz="950" dirty="0"/>
          </a:p>
        </p:txBody>
      </p:sp>
      <p:sp>
        <p:nvSpPr>
          <p:cNvPr id="15" name="Shape 12"/>
          <p:cNvSpPr/>
          <p:nvPr/>
        </p:nvSpPr>
        <p:spPr>
          <a:xfrm>
            <a:off x="685800" y="3255264"/>
            <a:ext cx="91440" cy="91440"/>
          </a:xfrm>
          <a:prstGeom prst="ellipse">
            <a:avLst/>
          </a:prstGeom>
          <a:solidFill>
            <a:srgbClr val="64748B"/>
          </a:solidFill>
          <a:ln w="12700">
            <a:solidFill>
              <a:srgbClr val="64748B">
                <a:alpha val="0"/>
              </a:srgbClr>
            </a:solidFill>
            <a:prstDash val="solid"/>
          </a:ln>
        </p:spPr>
      </p:sp>
      <p:sp>
        <p:nvSpPr>
          <p:cNvPr id="16" name="Text 13"/>
          <p:cNvSpPr/>
          <p:nvPr/>
        </p:nvSpPr>
        <p:spPr>
          <a:xfrm>
            <a:off x="850392" y="3200400"/>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Replace the in-house team</a:t>
            </a:r>
            <a:endParaRPr lang="en-US" sz="1100" dirty="0"/>
          </a:p>
        </p:txBody>
      </p:sp>
      <p:sp>
        <p:nvSpPr>
          <p:cNvPr id="17" name="Shape 14"/>
          <p:cNvSpPr/>
          <p:nvPr/>
        </p:nvSpPr>
        <p:spPr>
          <a:xfrm>
            <a:off x="685800" y="3822192"/>
            <a:ext cx="91440" cy="91440"/>
          </a:xfrm>
          <a:prstGeom prst="ellipse">
            <a:avLst/>
          </a:prstGeom>
          <a:solidFill>
            <a:srgbClr val="64748B"/>
          </a:solidFill>
          <a:ln w="12700">
            <a:solidFill>
              <a:srgbClr val="64748B">
                <a:alpha val="0"/>
              </a:srgbClr>
            </a:solidFill>
            <a:prstDash val="solid"/>
          </a:ln>
        </p:spPr>
      </p:sp>
      <p:sp>
        <p:nvSpPr>
          <p:cNvPr id="18" name="Text 15"/>
          <p:cNvSpPr/>
          <p:nvPr/>
        </p:nvSpPr>
        <p:spPr>
          <a:xfrm>
            <a:off x="850392" y="3767328"/>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Tickets go to rotating strangers</a:t>
            </a:r>
            <a:endParaRPr lang="en-US" sz="1100" dirty="0"/>
          </a:p>
        </p:txBody>
      </p:sp>
      <p:sp>
        <p:nvSpPr>
          <p:cNvPr id="19" name="Shape 16"/>
          <p:cNvSpPr/>
          <p:nvPr/>
        </p:nvSpPr>
        <p:spPr>
          <a:xfrm>
            <a:off x="685800" y="4389120"/>
            <a:ext cx="91440" cy="91440"/>
          </a:xfrm>
          <a:prstGeom prst="ellipse">
            <a:avLst/>
          </a:prstGeom>
          <a:solidFill>
            <a:srgbClr val="64748B"/>
          </a:solidFill>
          <a:ln w="12700">
            <a:solidFill>
              <a:srgbClr val="64748B">
                <a:alpha val="0"/>
              </a:srgbClr>
            </a:solidFill>
            <a:prstDash val="solid"/>
          </a:ln>
        </p:spPr>
      </p:sp>
      <p:sp>
        <p:nvSpPr>
          <p:cNvPr id="20" name="Text 17"/>
          <p:cNvSpPr/>
          <p:nvPr/>
        </p:nvSpPr>
        <p:spPr>
          <a:xfrm>
            <a:off x="850392" y="4334256"/>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 lose visibility and control</a:t>
            </a:r>
            <a:endParaRPr lang="en-US" sz="1100" dirty="0"/>
          </a:p>
        </p:txBody>
      </p:sp>
      <p:sp>
        <p:nvSpPr>
          <p:cNvPr id="21" name="Shape 18"/>
          <p:cNvSpPr/>
          <p:nvPr/>
        </p:nvSpPr>
        <p:spPr>
          <a:xfrm>
            <a:off x="685800" y="4956048"/>
            <a:ext cx="91440" cy="91440"/>
          </a:xfrm>
          <a:prstGeom prst="ellipse">
            <a:avLst/>
          </a:prstGeom>
          <a:solidFill>
            <a:srgbClr val="64748B"/>
          </a:solidFill>
          <a:ln w="12700">
            <a:solidFill>
              <a:srgbClr val="64748B">
                <a:alpha val="0"/>
              </a:srgbClr>
            </a:solidFill>
            <a:prstDash val="solid"/>
          </a:ln>
        </p:spPr>
      </p:sp>
      <p:sp>
        <p:nvSpPr>
          <p:cNvPr id="22" name="Text 19"/>
          <p:cNvSpPr/>
          <p:nvPr/>
        </p:nvSpPr>
        <p:spPr>
          <a:xfrm>
            <a:off x="850392" y="4901184"/>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Your CTO gets sidelined</a:t>
            </a:r>
            <a:endParaRPr lang="en-US" sz="1100" dirty="0"/>
          </a:p>
        </p:txBody>
      </p:sp>
      <p:sp>
        <p:nvSpPr>
          <p:cNvPr id="23" name="Shape 20"/>
          <p:cNvSpPr/>
          <p:nvPr/>
        </p:nvSpPr>
        <p:spPr>
          <a:xfrm>
            <a:off x="685800" y="5522976"/>
            <a:ext cx="91440" cy="91440"/>
          </a:xfrm>
          <a:prstGeom prst="ellipse">
            <a:avLst/>
          </a:prstGeom>
          <a:solidFill>
            <a:srgbClr val="64748B"/>
          </a:solidFill>
          <a:ln w="12700">
            <a:solidFill>
              <a:srgbClr val="64748B">
                <a:alpha val="0"/>
              </a:srgbClr>
            </a:solidFill>
            <a:prstDash val="solid"/>
          </a:ln>
        </p:spPr>
      </p:sp>
      <p:sp>
        <p:nvSpPr>
          <p:cNvPr id="24" name="Text 21"/>
          <p:cNvSpPr/>
          <p:nvPr/>
        </p:nvSpPr>
        <p:spPr>
          <a:xfrm>
            <a:off x="850392" y="5468112"/>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One rigid bundle, take it or leave it</a:t>
            </a:r>
            <a:endParaRPr lang="en-US" sz="1100" dirty="0"/>
          </a:p>
        </p:txBody>
      </p:sp>
      <p:sp>
        <p:nvSpPr>
          <p:cNvPr id="25" name="Shape 22"/>
          <p:cNvSpPr/>
          <p:nvPr/>
        </p:nvSpPr>
        <p:spPr>
          <a:xfrm>
            <a:off x="3291840" y="2103120"/>
            <a:ext cx="2606040" cy="4114800"/>
          </a:xfrm>
          <a:prstGeom prst="roundRect">
            <a:avLst>
              <a:gd name="adj" fmla="val 2807"/>
            </a:avLst>
          </a:prstGeom>
          <a:solidFill>
            <a:srgbClr val="FFFFFF"/>
          </a:solidFill>
          <a:ln w="12700">
            <a:solidFill>
              <a:srgbClr val="D8E0EA"/>
            </a:solidFill>
            <a:prstDash val="solid"/>
          </a:ln>
        </p:spPr>
      </p:sp>
      <p:sp>
        <p:nvSpPr>
          <p:cNvPr id="26" name="Shape 23"/>
          <p:cNvSpPr/>
          <p:nvPr/>
        </p:nvSpPr>
        <p:spPr>
          <a:xfrm>
            <a:off x="3291840" y="2103120"/>
            <a:ext cx="2606040" cy="91440"/>
          </a:xfrm>
          <a:prstGeom prst="rect">
            <a:avLst/>
          </a:prstGeom>
          <a:solidFill>
            <a:srgbClr val="006DB6"/>
          </a:solidFill>
          <a:ln w="12700">
            <a:solidFill>
              <a:srgbClr val="006DB6">
                <a:alpha val="0"/>
              </a:srgbClr>
            </a:solidFill>
            <a:prstDash val="solid"/>
          </a:ln>
        </p:spPr>
      </p:sp>
      <p:sp>
        <p:nvSpPr>
          <p:cNvPr id="27" name="Text 24"/>
          <p:cNvSpPr/>
          <p:nvPr/>
        </p:nvSpPr>
        <p:spPr>
          <a:xfrm>
            <a:off x="3456432" y="2286000"/>
            <a:ext cx="2286000" cy="502920"/>
          </a:xfrm>
          <a:prstGeom prst="rect">
            <a:avLst/>
          </a:prstGeom>
          <a:noFill/>
          <a:ln/>
        </p:spPr>
        <p:txBody>
          <a:bodyPr wrap="square" lIns="0" tIns="0" rIns="0" bIns="0" rtlCol="0" anchor="t"/>
          <a:lstStyle/>
          <a:p>
            <a:pPr indent="0" marL="0">
              <a:buNone/>
            </a:pPr>
            <a:r>
              <a:rPr lang="en-US" sz="1400" b="1" dirty="0">
                <a:solidFill>
                  <a:srgbClr val="1A1A2E"/>
                </a:solidFill>
                <a:latin typeface="Arial" pitchFamily="34" charset="0"/>
                <a:ea typeface="Arial" pitchFamily="34" charset="-122"/>
                <a:cs typeface="Arial" pitchFamily="34" charset="-120"/>
              </a:rPr>
              <a:t>Co-managed with Technijian</a:t>
            </a:r>
            <a:endParaRPr lang="en-US" sz="1400" dirty="0"/>
          </a:p>
        </p:txBody>
      </p:sp>
      <p:sp>
        <p:nvSpPr>
          <p:cNvPr id="28" name="Text 25"/>
          <p:cNvSpPr/>
          <p:nvPr/>
        </p:nvSpPr>
        <p:spPr>
          <a:xfrm>
            <a:off x="3456432" y="2743200"/>
            <a:ext cx="2331720" cy="365760"/>
          </a:xfrm>
          <a:prstGeom prst="rect">
            <a:avLst/>
          </a:prstGeom>
          <a:noFill/>
          <a:ln/>
        </p:spPr>
        <p:txBody>
          <a:bodyPr wrap="square" lIns="0" tIns="0" rIns="0" bIns="0" rtlCol="0" anchor="t"/>
          <a:lstStyle/>
          <a:p>
            <a:pPr indent="0" marL="0">
              <a:buNone/>
            </a:pPr>
            <a:r>
              <a:rPr lang="en-US" sz="950" i="1" dirty="0">
                <a:solidFill>
                  <a:srgbClr val="006DB6"/>
                </a:solidFill>
                <a:latin typeface="Arial" pitchFamily="34" charset="0"/>
                <a:ea typeface="Arial" pitchFamily="34" charset="-122"/>
                <a:cs typeface="Arial" pitchFamily="34" charset="-120"/>
              </a:rPr>
              <a:t>(augment what you run)</a:t>
            </a:r>
            <a:endParaRPr lang="en-US" sz="950" dirty="0"/>
          </a:p>
        </p:txBody>
      </p:sp>
      <p:sp>
        <p:nvSpPr>
          <p:cNvPr id="29" name="Shape 26"/>
          <p:cNvSpPr/>
          <p:nvPr/>
        </p:nvSpPr>
        <p:spPr>
          <a:xfrm>
            <a:off x="3474720" y="3255264"/>
            <a:ext cx="91440" cy="91440"/>
          </a:xfrm>
          <a:prstGeom prst="ellipse">
            <a:avLst/>
          </a:prstGeom>
          <a:solidFill>
            <a:srgbClr val="006DB6"/>
          </a:solidFill>
          <a:ln w="12700">
            <a:solidFill>
              <a:srgbClr val="006DB6">
                <a:alpha val="0"/>
              </a:srgbClr>
            </a:solidFill>
            <a:prstDash val="solid"/>
          </a:ln>
        </p:spPr>
      </p:sp>
      <p:sp>
        <p:nvSpPr>
          <p:cNvPr id="30" name="Text 27"/>
          <p:cNvSpPr/>
          <p:nvPr/>
        </p:nvSpPr>
        <p:spPr>
          <a:xfrm>
            <a:off x="3639312" y="3200400"/>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Your team stays in charge</a:t>
            </a:r>
            <a:endParaRPr lang="en-US" sz="1100" dirty="0"/>
          </a:p>
        </p:txBody>
      </p:sp>
      <p:sp>
        <p:nvSpPr>
          <p:cNvPr id="31" name="Shape 28"/>
          <p:cNvSpPr/>
          <p:nvPr/>
        </p:nvSpPr>
        <p:spPr>
          <a:xfrm>
            <a:off x="3474720" y="3822192"/>
            <a:ext cx="91440" cy="91440"/>
          </a:xfrm>
          <a:prstGeom prst="ellipse">
            <a:avLst/>
          </a:prstGeom>
          <a:solidFill>
            <a:srgbClr val="006DB6"/>
          </a:solidFill>
          <a:ln w="12700">
            <a:solidFill>
              <a:srgbClr val="006DB6">
                <a:alpha val="0"/>
              </a:srgbClr>
            </a:solidFill>
            <a:prstDash val="solid"/>
          </a:ln>
        </p:spPr>
      </p:sp>
      <p:sp>
        <p:nvSpPr>
          <p:cNvPr id="32" name="Text 29"/>
          <p:cNvSpPr/>
          <p:nvPr/>
        </p:nvSpPr>
        <p:spPr>
          <a:xfrm>
            <a:off x="3639312" y="3767328"/>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 named pod that learns your stack</a:t>
            </a:r>
            <a:endParaRPr lang="en-US" sz="1100" dirty="0"/>
          </a:p>
        </p:txBody>
      </p:sp>
      <p:sp>
        <p:nvSpPr>
          <p:cNvPr id="33" name="Shape 30"/>
          <p:cNvSpPr/>
          <p:nvPr/>
        </p:nvSpPr>
        <p:spPr>
          <a:xfrm>
            <a:off x="3474720" y="4389120"/>
            <a:ext cx="91440" cy="91440"/>
          </a:xfrm>
          <a:prstGeom prst="ellipse">
            <a:avLst/>
          </a:prstGeom>
          <a:solidFill>
            <a:srgbClr val="006DB6"/>
          </a:solidFill>
          <a:ln w="12700">
            <a:solidFill>
              <a:srgbClr val="006DB6">
                <a:alpha val="0"/>
              </a:srgbClr>
            </a:solidFill>
            <a:prstDash val="solid"/>
          </a:ln>
        </p:spPr>
      </p:sp>
      <p:sp>
        <p:nvSpPr>
          <p:cNvPr id="34" name="Text 31"/>
          <p:cNvSpPr/>
          <p:nvPr/>
        </p:nvSpPr>
        <p:spPr>
          <a:xfrm>
            <a:off x="3639312" y="4334256"/>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We cover the gaps you choose</a:t>
            </a:r>
            <a:endParaRPr lang="en-US" sz="1100" dirty="0"/>
          </a:p>
        </p:txBody>
      </p:sp>
      <p:sp>
        <p:nvSpPr>
          <p:cNvPr id="35" name="Shape 32"/>
          <p:cNvSpPr/>
          <p:nvPr/>
        </p:nvSpPr>
        <p:spPr>
          <a:xfrm>
            <a:off x="3474720" y="4956048"/>
            <a:ext cx="91440" cy="91440"/>
          </a:xfrm>
          <a:prstGeom prst="ellipse">
            <a:avLst/>
          </a:prstGeom>
          <a:solidFill>
            <a:srgbClr val="006DB6"/>
          </a:solidFill>
          <a:ln w="12700">
            <a:solidFill>
              <a:srgbClr val="006DB6">
                <a:alpha val="0"/>
              </a:srgbClr>
            </a:solidFill>
            <a:prstDash val="solid"/>
          </a:ln>
        </p:spPr>
      </p:sp>
      <p:sp>
        <p:nvSpPr>
          <p:cNvPr id="36" name="Text 33"/>
          <p:cNvSpPr/>
          <p:nvPr/>
        </p:nvSpPr>
        <p:spPr>
          <a:xfrm>
            <a:off x="3639312" y="4901184"/>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Your team is force-multiplied + mentored</a:t>
            </a:r>
            <a:endParaRPr lang="en-US" sz="1100" dirty="0"/>
          </a:p>
        </p:txBody>
      </p:sp>
      <p:sp>
        <p:nvSpPr>
          <p:cNvPr id="37" name="Shape 34"/>
          <p:cNvSpPr/>
          <p:nvPr/>
        </p:nvSpPr>
        <p:spPr>
          <a:xfrm>
            <a:off x="3474720" y="5522976"/>
            <a:ext cx="91440" cy="91440"/>
          </a:xfrm>
          <a:prstGeom prst="ellipse">
            <a:avLst/>
          </a:prstGeom>
          <a:solidFill>
            <a:srgbClr val="006DB6"/>
          </a:solidFill>
          <a:ln w="12700">
            <a:solidFill>
              <a:srgbClr val="006DB6">
                <a:alpha val="0"/>
              </a:srgbClr>
            </a:solidFill>
            <a:prstDash val="solid"/>
          </a:ln>
        </p:spPr>
      </p:sp>
      <p:sp>
        <p:nvSpPr>
          <p:cNvPr id="38" name="Text 35"/>
          <p:cNvSpPr/>
          <p:nvPr/>
        </p:nvSpPr>
        <p:spPr>
          <a:xfrm>
            <a:off x="3639312" y="5468112"/>
            <a:ext cx="2121408" cy="502920"/>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Pick the layers you actually need</a:t>
            </a:r>
            <a:endParaRPr lang="en-US" sz="1100" dirty="0"/>
          </a:p>
        </p:txBody>
      </p:sp>
      <p:sp>
        <p:nvSpPr>
          <p:cNvPr id="39" name="Shape 36"/>
          <p:cNvSpPr/>
          <p:nvPr/>
        </p:nvSpPr>
        <p:spPr>
          <a:xfrm>
            <a:off x="6199632" y="2103120"/>
            <a:ext cx="5504688" cy="1261872"/>
          </a:xfrm>
          <a:prstGeom prst="roundRect">
            <a:avLst>
              <a:gd name="adj" fmla="val 5797"/>
            </a:avLst>
          </a:prstGeom>
          <a:solidFill>
            <a:srgbClr val="F8FAFC"/>
          </a:solidFill>
          <a:ln w="12700">
            <a:solidFill>
              <a:srgbClr val="D8E0EA"/>
            </a:solidFill>
            <a:prstDash val="solid"/>
          </a:ln>
        </p:spPr>
      </p:sp>
      <p:sp>
        <p:nvSpPr>
          <p:cNvPr id="40" name="Shape 37"/>
          <p:cNvSpPr/>
          <p:nvPr/>
        </p:nvSpPr>
        <p:spPr>
          <a:xfrm>
            <a:off x="6355080" y="2286000"/>
            <a:ext cx="685800" cy="685800"/>
          </a:xfrm>
          <a:prstGeom prst="roundRect">
            <a:avLst>
              <a:gd name="adj" fmla="val 13333"/>
            </a:avLst>
          </a:prstGeom>
          <a:solidFill>
            <a:srgbClr val="006DB6"/>
          </a:solidFill>
          <a:ln w="12700">
            <a:solidFill>
              <a:srgbClr val="006DB6">
                <a:alpha val="0"/>
              </a:srgbClr>
            </a:solidFill>
            <a:prstDash val="solid"/>
          </a:ln>
        </p:spPr>
      </p:sp>
      <p:sp>
        <p:nvSpPr>
          <p:cNvPr id="41" name="Text 38"/>
          <p:cNvSpPr/>
          <p:nvPr/>
        </p:nvSpPr>
        <p:spPr>
          <a:xfrm>
            <a:off x="6355080" y="22860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1</a:t>
            </a:r>
            <a:endParaRPr lang="en-US" sz="2600" dirty="0"/>
          </a:p>
        </p:txBody>
      </p:sp>
      <p:sp>
        <p:nvSpPr>
          <p:cNvPr id="42" name="Text 39"/>
          <p:cNvSpPr/>
          <p:nvPr/>
        </p:nvSpPr>
        <p:spPr>
          <a:xfrm>
            <a:off x="7178040" y="2267712"/>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You keep control</a:t>
            </a:r>
            <a:endParaRPr lang="en-US" sz="1400" dirty="0"/>
          </a:p>
        </p:txBody>
      </p:sp>
      <p:sp>
        <p:nvSpPr>
          <p:cNvPr id="43" name="Text 40"/>
          <p:cNvSpPr/>
          <p:nvPr/>
        </p:nvSpPr>
        <p:spPr>
          <a:xfrm>
            <a:off x="7178040" y="2560320"/>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Your team owns the relationship and the roadmap. We never make changes you didn't approve, and you see everything we do.</a:t>
            </a:r>
            <a:endParaRPr lang="en-US" sz="1050" dirty="0"/>
          </a:p>
        </p:txBody>
      </p:sp>
      <p:sp>
        <p:nvSpPr>
          <p:cNvPr id="44" name="Shape 41"/>
          <p:cNvSpPr/>
          <p:nvPr/>
        </p:nvSpPr>
        <p:spPr>
          <a:xfrm>
            <a:off x="6199632" y="3493008"/>
            <a:ext cx="5504688" cy="1261872"/>
          </a:xfrm>
          <a:prstGeom prst="roundRect">
            <a:avLst>
              <a:gd name="adj" fmla="val 5797"/>
            </a:avLst>
          </a:prstGeom>
          <a:solidFill>
            <a:srgbClr val="F8FAFC"/>
          </a:solidFill>
          <a:ln w="12700">
            <a:solidFill>
              <a:srgbClr val="D8E0EA"/>
            </a:solidFill>
            <a:prstDash val="solid"/>
          </a:ln>
        </p:spPr>
      </p:sp>
      <p:sp>
        <p:nvSpPr>
          <p:cNvPr id="45" name="Shape 42"/>
          <p:cNvSpPr/>
          <p:nvPr/>
        </p:nvSpPr>
        <p:spPr>
          <a:xfrm>
            <a:off x="6355080" y="3675888"/>
            <a:ext cx="685800" cy="685800"/>
          </a:xfrm>
          <a:prstGeom prst="roundRect">
            <a:avLst>
              <a:gd name="adj" fmla="val 13333"/>
            </a:avLst>
          </a:prstGeom>
          <a:solidFill>
            <a:srgbClr val="1EAAC8"/>
          </a:solidFill>
          <a:ln w="12700">
            <a:solidFill>
              <a:srgbClr val="1EAAC8">
                <a:alpha val="0"/>
              </a:srgbClr>
            </a:solidFill>
            <a:prstDash val="solid"/>
          </a:ln>
        </p:spPr>
      </p:sp>
      <p:sp>
        <p:nvSpPr>
          <p:cNvPr id="46" name="Text 43"/>
          <p:cNvSpPr/>
          <p:nvPr/>
        </p:nvSpPr>
        <p:spPr>
          <a:xfrm>
            <a:off x="6355080" y="3675888"/>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2</a:t>
            </a:r>
            <a:endParaRPr lang="en-US" sz="2600" dirty="0"/>
          </a:p>
        </p:txBody>
      </p:sp>
      <p:sp>
        <p:nvSpPr>
          <p:cNvPr id="47" name="Text 44"/>
          <p:cNvSpPr/>
          <p:nvPr/>
        </p:nvSpPr>
        <p:spPr>
          <a:xfrm>
            <a:off x="7178040" y="3657600"/>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We cover what one team can't</a:t>
            </a:r>
            <a:endParaRPr lang="en-US" sz="1400" dirty="0"/>
          </a:p>
        </p:txBody>
      </p:sp>
      <p:sp>
        <p:nvSpPr>
          <p:cNvPr id="48" name="Text 45"/>
          <p:cNvSpPr/>
          <p:nvPr/>
        </p:nvSpPr>
        <p:spPr>
          <a:xfrm>
            <a:off x="7178040" y="3950208"/>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24/7 monitoring, after-hours and break coverage, surge bandwidth for projects, PTO cover — what a lean team simply can't staff alone.</a:t>
            </a:r>
            <a:endParaRPr lang="en-US" sz="1050" dirty="0"/>
          </a:p>
        </p:txBody>
      </p:sp>
      <p:sp>
        <p:nvSpPr>
          <p:cNvPr id="49" name="Shape 46"/>
          <p:cNvSpPr/>
          <p:nvPr/>
        </p:nvSpPr>
        <p:spPr>
          <a:xfrm>
            <a:off x="6199632" y="4882896"/>
            <a:ext cx="5504688" cy="1261872"/>
          </a:xfrm>
          <a:prstGeom prst="roundRect">
            <a:avLst>
              <a:gd name="adj" fmla="val 5797"/>
            </a:avLst>
          </a:prstGeom>
          <a:solidFill>
            <a:srgbClr val="F8FAFC"/>
          </a:solidFill>
          <a:ln w="12700">
            <a:solidFill>
              <a:srgbClr val="D8E0EA"/>
            </a:solidFill>
            <a:prstDash val="solid"/>
          </a:ln>
        </p:spPr>
      </p:sp>
      <p:sp>
        <p:nvSpPr>
          <p:cNvPr id="50" name="Shape 47"/>
          <p:cNvSpPr/>
          <p:nvPr/>
        </p:nvSpPr>
        <p:spPr>
          <a:xfrm>
            <a:off x="6355080" y="5065776"/>
            <a:ext cx="685800" cy="685800"/>
          </a:xfrm>
          <a:prstGeom prst="roundRect">
            <a:avLst>
              <a:gd name="adj" fmla="val 13333"/>
            </a:avLst>
          </a:prstGeom>
          <a:solidFill>
            <a:srgbClr val="F67D4B"/>
          </a:solidFill>
          <a:ln w="12700">
            <a:solidFill>
              <a:srgbClr val="F67D4B">
                <a:alpha val="0"/>
              </a:srgbClr>
            </a:solidFill>
            <a:prstDash val="solid"/>
          </a:ln>
        </p:spPr>
      </p:sp>
      <p:sp>
        <p:nvSpPr>
          <p:cNvPr id="51" name="Text 48"/>
          <p:cNvSpPr/>
          <p:nvPr/>
        </p:nvSpPr>
        <p:spPr>
          <a:xfrm>
            <a:off x="6355080" y="5065776"/>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3</a:t>
            </a:r>
            <a:endParaRPr lang="en-US" sz="2600" dirty="0"/>
          </a:p>
        </p:txBody>
      </p:sp>
      <p:sp>
        <p:nvSpPr>
          <p:cNvPr id="52" name="Text 49"/>
          <p:cNvSpPr/>
          <p:nvPr/>
        </p:nvSpPr>
        <p:spPr>
          <a:xfrm>
            <a:off x="7178040" y="5047488"/>
            <a:ext cx="4389120" cy="292608"/>
          </a:xfrm>
          <a:prstGeom prst="rect">
            <a:avLst/>
          </a:prstGeom>
          <a:noFill/>
          <a:ln/>
        </p:spPr>
        <p:txBody>
          <a:bodyPr wrap="square" lIns="0" tIns="0" rIns="0" bIns="0" rtlCol="0" anchor="ctr"/>
          <a:lstStyle/>
          <a:p>
            <a:pPr indent="0" marL="0">
              <a:buNone/>
            </a:pPr>
            <a:r>
              <a:rPr lang="en-US" sz="1400" b="1" dirty="0">
                <a:solidFill>
                  <a:srgbClr val="1A1A2E"/>
                </a:solidFill>
                <a:latin typeface="Arial" pitchFamily="34" charset="0"/>
                <a:ea typeface="Arial" pitchFamily="34" charset="-122"/>
                <a:cs typeface="Arial" pitchFamily="34" charset="-120"/>
              </a:rPr>
              <a:t>Augment, not replace</a:t>
            </a:r>
            <a:endParaRPr lang="en-US" sz="1400" dirty="0"/>
          </a:p>
        </p:txBody>
      </p:sp>
      <p:sp>
        <p:nvSpPr>
          <p:cNvPr id="53" name="Text 50"/>
          <p:cNvSpPr/>
          <p:nvPr/>
        </p:nvSpPr>
        <p:spPr>
          <a:xfrm>
            <a:off x="7178040" y="5340096"/>
            <a:ext cx="4434840" cy="73152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On your worst week we're the bench you call. On a normal week, you barely notice us — and your team grows alongside ours.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 FEW WAYS WE COULD HELP</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Three places a partner usually earns its keep</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Not a menu to buy today — hypotheses to react to. Tell us which of these is real for you, and which isn't.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7</a:t>
            </a:r>
            <a:endParaRPr lang="en-US" sz="1000" dirty="0"/>
          </a:p>
        </p:txBody>
      </p:sp>
      <p:sp>
        <p:nvSpPr>
          <p:cNvPr id="11" name="Shape 8"/>
          <p:cNvSpPr/>
          <p:nvPr/>
        </p:nvSpPr>
        <p:spPr>
          <a:xfrm>
            <a:off x="502920" y="2103120"/>
            <a:ext cx="3611880" cy="3429000"/>
          </a:xfrm>
          <a:prstGeom prst="roundRect">
            <a:avLst>
              <a:gd name="adj" fmla="val 2133"/>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TAKE WORK OFF THE PLATE</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Co-Managed IT &amp; Project Hands</a:t>
            </a:r>
            <a:endParaRPr lang="en-US" sz="1500" dirty="0"/>
          </a:p>
        </p:txBody>
      </p:sp>
      <p:sp>
        <p:nvSpPr>
          <p:cNvPr id="15" name="Text 12"/>
          <p:cNvSpPr/>
          <p:nvPr/>
        </p:nvSpPr>
        <p:spPr>
          <a:xfrm>
            <a:off x="667512"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The 3CX / firewall job today; then help-desk overflow, after-hours and break coverage, patching and monitoring, and the projects that wait for summer. Your team sets the priorities; we add the hands.</a:t>
            </a:r>
            <a:endParaRPr lang="en-US" sz="1100" dirty="0"/>
          </a:p>
        </p:txBody>
      </p:sp>
      <p:sp>
        <p:nvSpPr>
          <p:cNvPr id="16" name="Text 13"/>
          <p:cNvSpPr/>
          <p:nvPr/>
        </p:nvSpPr>
        <p:spPr>
          <a:xfrm>
            <a:off x="667512" y="5184648"/>
            <a:ext cx="3282696" cy="256032"/>
          </a:xfrm>
          <a:prstGeom prst="rect">
            <a:avLst/>
          </a:prstGeom>
          <a:noFill/>
          <a:ln/>
        </p:spPr>
        <p:txBody>
          <a:bodyPr wrap="square" lIns="0" tIns="0" rIns="0" bIns="0" rtlCol="0" anchor="ctr"/>
          <a:lstStyle/>
          <a:p>
            <a:pPr indent="0" marL="0">
              <a:buNone/>
            </a:pPr>
            <a:r>
              <a:rPr lang="en-US" sz="900" b="1" i="1" dirty="0">
                <a:solidFill>
                  <a:srgbClr val="006DB6"/>
                </a:solidFill>
                <a:latin typeface="Arial" pitchFamily="34" charset="0"/>
                <a:ea typeface="Arial" pitchFamily="34" charset="-122"/>
                <a:cs typeface="Arial" pitchFamily="34" charset="-120"/>
              </a:rPr>
              <a:t>You set the priorities; we add the hands.</a:t>
            </a:r>
            <a:endParaRPr lang="en-US" sz="900" dirty="0"/>
          </a:p>
        </p:txBody>
      </p:sp>
      <p:sp>
        <p:nvSpPr>
          <p:cNvPr id="17" name="Shape 14"/>
          <p:cNvSpPr/>
          <p:nvPr/>
        </p:nvSpPr>
        <p:spPr>
          <a:xfrm>
            <a:off x="4306824" y="2103120"/>
            <a:ext cx="3611880" cy="3429000"/>
          </a:xfrm>
          <a:prstGeom prst="roundRect">
            <a:avLst>
              <a:gd name="adj" fmla="val 2133"/>
            </a:avLst>
          </a:prstGeom>
          <a:solidFill>
            <a:srgbClr val="FFFFFF"/>
          </a:solidFill>
          <a:ln w="12700">
            <a:solidFill>
              <a:srgbClr val="D8E0EA"/>
            </a:solidFill>
            <a:prstDash val="solid"/>
          </a:ln>
        </p:spPr>
      </p:sp>
      <p:sp>
        <p:nvSpPr>
          <p:cNvPr id="18" name="Shape 15"/>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9" name="Text 16"/>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COVER WHAT YOU CAN'T WATCH</a:t>
            </a:r>
            <a:endParaRPr lang="en-US" sz="900" dirty="0"/>
          </a:p>
        </p:txBody>
      </p:sp>
      <p:sp>
        <p:nvSpPr>
          <p:cNvPr id="20" name="Text 17"/>
          <p:cNvSpPr/>
          <p:nvPr/>
        </p:nvSpPr>
        <p:spPr>
          <a:xfrm>
            <a:off x="4471416"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Security, Student Data &amp; Insurance</a:t>
            </a:r>
            <a:endParaRPr lang="en-US" sz="1500" dirty="0"/>
          </a:p>
        </p:txBody>
      </p:sp>
      <p:sp>
        <p:nvSpPr>
          <p:cNvPr id="21" name="Text 18"/>
          <p:cNvSpPr/>
          <p:nvPr/>
        </p:nvSpPr>
        <p:spPr>
          <a:xfrm>
            <a:off x="4471416"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24/7 MDR, EDR on every device, email and web safety, MFA and backups — plus the cyber-insurance control stack and student-data reviews of your apps. The coverage and evidence one team can't sustain alone.</a:t>
            </a:r>
            <a:endParaRPr lang="en-US" sz="1100" dirty="0"/>
          </a:p>
        </p:txBody>
      </p:sp>
      <p:sp>
        <p:nvSpPr>
          <p:cNvPr id="22" name="Text 19"/>
          <p:cNvSpPr/>
          <p:nvPr/>
        </p:nvSpPr>
        <p:spPr>
          <a:xfrm>
            <a:off x="4471416" y="5184648"/>
            <a:ext cx="3282696" cy="256032"/>
          </a:xfrm>
          <a:prstGeom prst="rect">
            <a:avLst/>
          </a:prstGeom>
          <a:noFill/>
          <a:ln/>
        </p:spPr>
        <p:txBody>
          <a:bodyPr wrap="square" lIns="0" tIns="0" rIns="0" bIns="0" rtlCol="0" anchor="ctr"/>
          <a:lstStyle/>
          <a:p>
            <a:pPr indent="0" marL="0">
              <a:buNone/>
            </a:pPr>
            <a:r>
              <a:rPr lang="en-US" sz="900" b="1" i="1" dirty="0">
                <a:solidFill>
                  <a:srgbClr val="F67D4B"/>
                </a:solidFill>
                <a:latin typeface="Arial" pitchFamily="34" charset="0"/>
                <a:ea typeface="Arial" pitchFamily="34" charset="-122"/>
                <a:cs typeface="Arial" pitchFamily="34" charset="-120"/>
              </a:rPr>
              <a:t>Built to the checklist your insurer hands you.</a:t>
            </a:r>
            <a:endParaRPr lang="en-US" sz="900" dirty="0"/>
          </a:p>
        </p:txBody>
      </p:sp>
      <p:sp>
        <p:nvSpPr>
          <p:cNvPr id="23" name="Shape 20"/>
          <p:cNvSpPr/>
          <p:nvPr/>
        </p:nvSpPr>
        <p:spPr>
          <a:xfrm>
            <a:off x="8110728" y="2103120"/>
            <a:ext cx="3611880" cy="3429000"/>
          </a:xfrm>
          <a:prstGeom prst="roundRect">
            <a:avLst>
              <a:gd name="adj" fmla="val 2133"/>
            </a:avLst>
          </a:prstGeom>
          <a:solidFill>
            <a:srgbClr val="FFFFFF"/>
          </a:solidFill>
          <a:ln w="12700">
            <a:solidFill>
              <a:srgbClr val="D8E0EA"/>
            </a:solidFill>
            <a:prstDash val="solid"/>
          </a:ln>
        </p:spPr>
      </p:sp>
      <p:sp>
        <p:nvSpPr>
          <p:cNvPr id="24" name="Shape 21"/>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5" name="Text 22"/>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DO MORE WITH THE HOURS YOU HAVE</a:t>
            </a:r>
            <a:endParaRPr lang="en-US" sz="900" dirty="0"/>
          </a:p>
        </p:txBody>
      </p:sp>
      <p:sp>
        <p:nvSpPr>
          <p:cNvPr id="26" name="Text 23"/>
          <p:cNvSpPr/>
          <p:nvPr/>
        </p:nvSpPr>
        <p:spPr>
          <a:xfrm>
            <a:off x="8275320"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Practical AI for Staff &amp; Admissions</a:t>
            </a:r>
            <a:endParaRPr lang="en-US" sz="1500" dirty="0"/>
          </a:p>
        </p:txBody>
      </p:sp>
      <p:sp>
        <p:nvSpPr>
          <p:cNvPr id="27" name="Text 24"/>
          <p:cNvSpPr/>
          <p:nvPr/>
        </p:nvSpPr>
        <p:spPr>
          <a:xfrm>
            <a:off x="8275320" y="2944368"/>
            <a:ext cx="3282696" cy="2176272"/>
          </a:xfrm>
          <a:prstGeom prst="rect">
            <a:avLst/>
          </a:prstGeom>
          <a:noFill/>
          <a:ln/>
        </p:spPr>
        <p:txBody>
          <a:bodyPr wrap="square" lIns="0" tIns="0" rIns="0" bIns="0" rtlCol="0" anchor="t"/>
          <a:lstStyle/>
          <a:p>
            <a:pPr indent="0" marL="0">
              <a:buNone/>
            </a:pPr>
            <a:r>
              <a:rPr lang="en-US" sz="1100" dirty="0">
                <a:solidFill>
                  <a:srgbClr val="334155"/>
                </a:solidFill>
                <a:latin typeface="Arial" pitchFamily="34" charset="0"/>
                <a:ea typeface="Arial" pitchFamily="34" charset="-122"/>
                <a:cs typeface="Arial" pitchFamily="34" charset="-120"/>
              </a:rPr>
              <a:t>AI that drafts parent communications, speeds admissions follow-up, and tidies routine documents — a person reviews everything a family sees. The layer most providers don't bring.</a:t>
            </a:r>
            <a:endParaRPr lang="en-US" sz="1100" dirty="0"/>
          </a:p>
        </p:txBody>
      </p:sp>
      <p:sp>
        <p:nvSpPr>
          <p:cNvPr id="28" name="Text 25"/>
          <p:cNvSpPr/>
          <p:nvPr/>
        </p:nvSpPr>
        <p:spPr>
          <a:xfrm>
            <a:off x="8275320" y="5184648"/>
            <a:ext cx="3282696" cy="256032"/>
          </a:xfrm>
          <a:prstGeom prst="rect">
            <a:avLst/>
          </a:prstGeom>
          <a:noFill/>
          <a:ln/>
        </p:spPr>
        <p:txBody>
          <a:bodyPr wrap="square" lIns="0" tIns="0" rIns="0" bIns="0" rtlCol="0" anchor="ctr"/>
          <a:lstStyle/>
          <a:p>
            <a:pPr indent="0" marL="0">
              <a:buNone/>
            </a:pPr>
            <a:r>
              <a:rPr lang="en-US" sz="900" b="1" i="1" dirty="0">
                <a:solidFill>
                  <a:srgbClr val="1EAAC8"/>
                </a:solidFill>
                <a:latin typeface="Arial" pitchFamily="34" charset="0"/>
                <a:ea typeface="Arial" pitchFamily="34" charset="-122"/>
                <a:cs typeface="Arial" pitchFamily="34" charset="-120"/>
              </a:rPr>
              <a:t>Time back, and more of the right families.</a:t>
            </a:r>
            <a:endParaRPr lang="en-US" sz="900" dirty="0"/>
          </a:p>
        </p:txBody>
      </p:sp>
      <p:sp>
        <p:nvSpPr>
          <p:cNvPr id="29" name="Shape 26"/>
          <p:cNvSpPr/>
          <p:nvPr/>
        </p:nvSpPr>
        <p:spPr>
          <a:xfrm>
            <a:off x="502920" y="5715000"/>
            <a:ext cx="11201400" cy="566928"/>
          </a:xfrm>
          <a:prstGeom prst="roundRect">
            <a:avLst>
              <a:gd name="adj" fmla="val 9677"/>
            </a:avLst>
          </a:prstGeom>
          <a:solidFill>
            <a:srgbClr val="1A1A2E"/>
          </a:solidFill>
          <a:ln w="12700">
            <a:solidFill>
              <a:srgbClr val="1A1A2E">
                <a:alpha val="0"/>
              </a:srgbClr>
            </a:solidFill>
            <a:prstDash val="solid"/>
          </a:ln>
        </p:spPr>
      </p:sp>
      <p:sp>
        <p:nvSpPr>
          <p:cNvPr id="30" name="Text 27"/>
          <p:cNvSpPr/>
          <p:nvPr/>
        </p:nvSpPr>
        <p:spPr>
          <a:xfrm>
            <a:off x="502920" y="5715000"/>
            <a:ext cx="11201400" cy="566928"/>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Most teams your size feel one of these the most. Today's job is finding out which — then going deep there.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1EAAC8"/>
          </a:solidFill>
          <a:ln w="12700">
            <a:solidFill>
              <a:srgbClr val="1EAAC8">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SECURITY &amp; STUDENT SAFETY</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Six layers a school has to cover</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You could build any one of these. The hard part is running all six, 24/7, with evidence your insurer and board will accept. Which keep you up at night?</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8</a:t>
            </a:r>
            <a:endParaRPr lang="en-US" sz="1000" dirty="0"/>
          </a:p>
        </p:txBody>
      </p:sp>
      <p:sp>
        <p:nvSpPr>
          <p:cNvPr id="11" name="Shape 8"/>
          <p:cNvSpPr/>
          <p:nvPr/>
        </p:nvSpPr>
        <p:spPr>
          <a:xfrm>
            <a:off x="502920" y="2103120"/>
            <a:ext cx="3611880" cy="1920240"/>
          </a:xfrm>
          <a:prstGeom prst="roundRect">
            <a:avLst>
              <a:gd name="adj" fmla="val 3810"/>
            </a:avLst>
          </a:prstGeom>
          <a:solidFill>
            <a:srgbClr val="FFFFFF"/>
          </a:solidFill>
          <a:ln w="12700">
            <a:solidFill>
              <a:srgbClr val="D8E0EA"/>
            </a:solidFill>
            <a:prstDash val="solid"/>
          </a:ln>
        </p:spPr>
      </p:sp>
      <p:sp>
        <p:nvSpPr>
          <p:cNvPr id="12" name="Shape 9"/>
          <p:cNvSpPr/>
          <p:nvPr/>
        </p:nvSpPr>
        <p:spPr>
          <a:xfrm>
            <a:off x="502920" y="2103120"/>
            <a:ext cx="3611880" cy="91440"/>
          </a:xfrm>
          <a:prstGeom prst="rect">
            <a:avLst/>
          </a:prstGeom>
          <a:solidFill>
            <a:srgbClr val="006DB6"/>
          </a:solidFill>
          <a:ln w="12700">
            <a:solidFill>
              <a:srgbClr val="006DB6">
                <a:alpha val="0"/>
              </a:srgbClr>
            </a:solidFill>
            <a:prstDash val="solid"/>
          </a:ln>
        </p:spPr>
      </p:sp>
      <p:sp>
        <p:nvSpPr>
          <p:cNvPr id="13" name="Text 10"/>
          <p:cNvSpPr/>
          <p:nvPr/>
        </p:nvSpPr>
        <p:spPr>
          <a:xfrm>
            <a:off x="667512" y="2286000"/>
            <a:ext cx="3282696" cy="201168"/>
          </a:xfrm>
          <a:prstGeom prst="rect">
            <a:avLst/>
          </a:prstGeom>
          <a:noFill/>
          <a:ln/>
        </p:spPr>
        <p:txBody>
          <a:bodyPr wrap="square" lIns="0" tIns="0" rIns="0" bIns="0" rtlCol="0" anchor="ctr"/>
          <a:lstStyle/>
          <a:p>
            <a:pPr indent="0" marL="0">
              <a:buNone/>
            </a:pPr>
            <a:r>
              <a:rPr lang="en-US" sz="900" b="1" dirty="0">
                <a:solidFill>
                  <a:srgbClr val="006DB6"/>
                </a:solidFill>
                <a:latin typeface="Arial" pitchFamily="34" charset="0"/>
                <a:ea typeface="Arial" pitchFamily="34" charset="-122"/>
                <a:cs typeface="Arial" pitchFamily="34" charset="-120"/>
              </a:rPr>
              <a:t>LAYER 01</a:t>
            </a:r>
            <a:endParaRPr lang="en-US" sz="900" dirty="0"/>
          </a:p>
        </p:txBody>
      </p:sp>
      <p:sp>
        <p:nvSpPr>
          <p:cNvPr id="14" name="Text 11"/>
          <p:cNvSpPr/>
          <p:nvPr/>
        </p:nvSpPr>
        <p:spPr>
          <a:xfrm>
            <a:off x="667512"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Identity &amp; access</a:t>
            </a:r>
            <a:endParaRPr lang="en-US" sz="1500" dirty="0"/>
          </a:p>
        </p:txBody>
      </p:sp>
      <p:sp>
        <p:nvSpPr>
          <p:cNvPr id="15" name="Text 12"/>
          <p:cNvSpPr/>
          <p:nvPr/>
        </p:nvSpPr>
        <p:spPr>
          <a:xfrm>
            <a:off x="667512"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MFA on every account, conditional access, and admin-rights control across Google Workspace and your apps. Most breaches start at a stolen sign-in.</a:t>
            </a:r>
            <a:endParaRPr lang="en-US" sz="1050" dirty="0"/>
          </a:p>
        </p:txBody>
      </p:sp>
      <p:sp>
        <p:nvSpPr>
          <p:cNvPr id="16" name="Shape 13"/>
          <p:cNvSpPr/>
          <p:nvPr/>
        </p:nvSpPr>
        <p:spPr>
          <a:xfrm>
            <a:off x="4306824" y="2103120"/>
            <a:ext cx="3611880" cy="1920240"/>
          </a:xfrm>
          <a:prstGeom prst="roundRect">
            <a:avLst>
              <a:gd name="adj" fmla="val 3810"/>
            </a:avLst>
          </a:prstGeom>
          <a:solidFill>
            <a:srgbClr val="FFFFFF"/>
          </a:solidFill>
          <a:ln w="12700">
            <a:solidFill>
              <a:srgbClr val="D8E0EA"/>
            </a:solidFill>
            <a:prstDash val="solid"/>
          </a:ln>
        </p:spPr>
      </p:sp>
      <p:sp>
        <p:nvSpPr>
          <p:cNvPr id="17" name="Shape 14"/>
          <p:cNvSpPr/>
          <p:nvPr/>
        </p:nvSpPr>
        <p:spPr>
          <a:xfrm>
            <a:off x="4306824" y="2103120"/>
            <a:ext cx="3611880" cy="91440"/>
          </a:xfrm>
          <a:prstGeom prst="rect">
            <a:avLst/>
          </a:prstGeom>
          <a:solidFill>
            <a:srgbClr val="F67D4B"/>
          </a:solidFill>
          <a:ln w="12700">
            <a:solidFill>
              <a:srgbClr val="F67D4B">
                <a:alpha val="0"/>
              </a:srgbClr>
            </a:solidFill>
            <a:prstDash val="solid"/>
          </a:ln>
        </p:spPr>
      </p:sp>
      <p:sp>
        <p:nvSpPr>
          <p:cNvPr id="18" name="Text 15"/>
          <p:cNvSpPr/>
          <p:nvPr/>
        </p:nvSpPr>
        <p:spPr>
          <a:xfrm>
            <a:off x="4471416" y="2286000"/>
            <a:ext cx="3282696" cy="201168"/>
          </a:xfrm>
          <a:prstGeom prst="rect">
            <a:avLst/>
          </a:prstGeom>
          <a:noFill/>
          <a:ln/>
        </p:spPr>
        <p:txBody>
          <a:bodyPr wrap="square" lIns="0" tIns="0" rIns="0" bIns="0" rtlCol="0" anchor="ctr"/>
          <a:lstStyle/>
          <a:p>
            <a:pPr indent="0" marL="0">
              <a:buNone/>
            </a:pPr>
            <a:r>
              <a:rPr lang="en-US" sz="900" b="1" dirty="0">
                <a:solidFill>
                  <a:srgbClr val="F67D4B"/>
                </a:solidFill>
                <a:latin typeface="Arial" pitchFamily="34" charset="0"/>
                <a:ea typeface="Arial" pitchFamily="34" charset="-122"/>
                <a:cs typeface="Arial" pitchFamily="34" charset="-120"/>
              </a:rPr>
              <a:t>LAYER 02</a:t>
            </a:r>
            <a:endParaRPr lang="en-US" sz="900" dirty="0"/>
          </a:p>
        </p:txBody>
      </p:sp>
      <p:sp>
        <p:nvSpPr>
          <p:cNvPr id="19" name="Text 16"/>
          <p:cNvSpPr/>
          <p:nvPr/>
        </p:nvSpPr>
        <p:spPr>
          <a:xfrm>
            <a:off x="4471416"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Endpoints &amp; devices</a:t>
            </a:r>
            <a:endParaRPr lang="en-US" sz="1500" dirty="0"/>
          </a:p>
        </p:txBody>
      </p:sp>
      <p:sp>
        <p:nvSpPr>
          <p:cNvPr id="20" name="Text 17"/>
          <p:cNvSpPr/>
          <p:nvPr/>
        </p:nvSpPr>
        <p:spPr>
          <a:xfrm>
            <a:off x="4471416"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Threat detection on staff and student Macs and Chromebooks, disk encryption, and enforced patching — on campus and off.</a:t>
            </a:r>
            <a:endParaRPr lang="en-US" sz="1050" dirty="0"/>
          </a:p>
        </p:txBody>
      </p:sp>
      <p:sp>
        <p:nvSpPr>
          <p:cNvPr id="21" name="Shape 18"/>
          <p:cNvSpPr/>
          <p:nvPr/>
        </p:nvSpPr>
        <p:spPr>
          <a:xfrm>
            <a:off x="8110728" y="2103120"/>
            <a:ext cx="3611880" cy="1920240"/>
          </a:xfrm>
          <a:prstGeom prst="roundRect">
            <a:avLst>
              <a:gd name="adj" fmla="val 3810"/>
            </a:avLst>
          </a:prstGeom>
          <a:solidFill>
            <a:srgbClr val="FFFFFF"/>
          </a:solidFill>
          <a:ln w="12700">
            <a:solidFill>
              <a:srgbClr val="D8E0EA"/>
            </a:solidFill>
            <a:prstDash val="solid"/>
          </a:ln>
        </p:spPr>
      </p:sp>
      <p:sp>
        <p:nvSpPr>
          <p:cNvPr id="22" name="Shape 19"/>
          <p:cNvSpPr/>
          <p:nvPr/>
        </p:nvSpPr>
        <p:spPr>
          <a:xfrm>
            <a:off x="8110728" y="2103120"/>
            <a:ext cx="3611880" cy="91440"/>
          </a:xfrm>
          <a:prstGeom prst="rect">
            <a:avLst/>
          </a:prstGeom>
          <a:solidFill>
            <a:srgbClr val="1EAAC8"/>
          </a:solidFill>
          <a:ln w="12700">
            <a:solidFill>
              <a:srgbClr val="1EAAC8">
                <a:alpha val="0"/>
              </a:srgbClr>
            </a:solidFill>
            <a:prstDash val="solid"/>
          </a:ln>
        </p:spPr>
      </p:sp>
      <p:sp>
        <p:nvSpPr>
          <p:cNvPr id="23" name="Text 20"/>
          <p:cNvSpPr/>
          <p:nvPr/>
        </p:nvSpPr>
        <p:spPr>
          <a:xfrm>
            <a:off x="8275320" y="2286000"/>
            <a:ext cx="3282696" cy="201168"/>
          </a:xfrm>
          <a:prstGeom prst="rect">
            <a:avLst/>
          </a:prstGeom>
          <a:noFill/>
          <a:ln/>
        </p:spPr>
        <p:txBody>
          <a:bodyPr wrap="square" lIns="0" tIns="0" rIns="0" bIns="0" rtlCol="0" anchor="ctr"/>
          <a:lstStyle/>
          <a:p>
            <a:pPr indent="0" marL="0">
              <a:buNone/>
            </a:pPr>
            <a:r>
              <a:rPr lang="en-US" sz="900" b="1" dirty="0">
                <a:solidFill>
                  <a:srgbClr val="1EAAC8"/>
                </a:solidFill>
                <a:latin typeface="Arial" pitchFamily="34" charset="0"/>
                <a:ea typeface="Arial" pitchFamily="34" charset="-122"/>
                <a:cs typeface="Arial" pitchFamily="34" charset="-120"/>
              </a:rPr>
              <a:t>LAYER 03</a:t>
            </a:r>
            <a:endParaRPr lang="en-US" sz="900" dirty="0"/>
          </a:p>
        </p:txBody>
      </p:sp>
      <p:sp>
        <p:nvSpPr>
          <p:cNvPr id="24" name="Text 21"/>
          <p:cNvSpPr/>
          <p:nvPr/>
        </p:nvSpPr>
        <p:spPr>
          <a:xfrm>
            <a:off x="8275320" y="250545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Email &amp; web safety</a:t>
            </a:r>
            <a:endParaRPr lang="en-US" sz="1500" dirty="0"/>
          </a:p>
        </p:txBody>
      </p:sp>
      <p:sp>
        <p:nvSpPr>
          <p:cNvPr id="25" name="Text 22"/>
          <p:cNvSpPr/>
          <p:nvPr/>
        </p:nvSpPr>
        <p:spPr>
          <a:xfrm>
            <a:off x="8275320" y="288950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Anti-phishing, malicious-link protection, and content filtering that keeps students safer online (and supports CIPA if E-rate applies).</a:t>
            </a:r>
            <a:endParaRPr lang="en-US" sz="1050" dirty="0"/>
          </a:p>
        </p:txBody>
      </p:sp>
      <p:sp>
        <p:nvSpPr>
          <p:cNvPr id="26" name="Shape 23"/>
          <p:cNvSpPr/>
          <p:nvPr/>
        </p:nvSpPr>
        <p:spPr>
          <a:xfrm>
            <a:off x="502920" y="4206240"/>
            <a:ext cx="3611880" cy="1920240"/>
          </a:xfrm>
          <a:prstGeom prst="roundRect">
            <a:avLst>
              <a:gd name="adj" fmla="val 3810"/>
            </a:avLst>
          </a:prstGeom>
          <a:solidFill>
            <a:srgbClr val="FFFFFF"/>
          </a:solidFill>
          <a:ln w="12700">
            <a:solidFill>
              <a:srgbClr val="D8E0EA"/>
            </a:solidFill>
            <a:prstDash val="solid"/>
          </a:ln>
        </p:spPr>
      </p:sp>
      <p:sp>
        <p:nvSpPr>
          <p:cNvPr id="27" name="Shape 24"/>
          <p:cNvSpPr/>
          <p:nvPr/>
        </p:nvSpPr>
        <p:spPr>
          <a:xfrm>
            <a:off x="502920" y="4206240"/>
            <a:ext cx="3611880" cy="91440"/>
          </a:xfrm>
          <a:prstGeom prst="rect">
            <a:avLst/>
          </a:prstGeom>
          <a:solidFill>
            <a:srgbClr val="CBDB2D"/>
          </a:solidFill>
          <a:ln w="12700">
            <a:solidFill>
              <a:srgbClr val="CBDB2D">
                <a:alpha val="0"/>
              </a:srgbClr>
            </a:solidFill>
            <a:prstDash val="solid"/>
          </a:ln>
        </p:spPr>
      </p:sp>
      <p:sp>
        <p:nvSpPr>
          <p:cNvPr id="28" name="Text 25"/>
          <p:cNvSpPr/>
          <p:nvPr/>
        </p:nvSpPr>
        <p:spPr>
          <a:xfrm>
            <a:off x="667512" y="4389120"/>
            <a:ext cx="3282696" cy="201168"/>
          </a:xfrm>
          <a:prstGeom prst="rect">
            <a:avLst/>
          </a:prstGeom>
          <a:noFill/>
          <a:ln/>
        </p:spPr>
        <p:txBody>
          <a:bodyPr wrap="square" lIns="0" tIns="0" rIns="0" bIns="0" rtlCol="0" anchor="ctr"/>
          <a:lstStyle/>
          <a:p>
            <a:pPr indent="0" marL="0">
              <a:buNone/>
            </a:pPr>
            <a:r>
              <a:rPr lang="en-US" sz="900" b="1" dirty="0">
                <a:solidFill>
                  <a:srgbClr val="CBDB2D"/>
                </a:solidFill>
                <a:latin typeface="Arial" pitchFamily="34" charset="0"/>
                <a:ea typeface="Arial" pitchFamily="34" charset="-122"/>
                <a:cs typeface="Arial" pitchFamily="34" charset="-120"/>
              </a:rPr>
              <a:t>LAYER 04</a:t>
            </a:r>
            <a:endParaRPr lang="en-US" sz="900" dirty="0"/>
          </a:p>
        </p:txBody>
      </p:sp>
      <p:sp>
        <p:nvSpPr>
          <p:cNvPr id="29" name="Text 26"/>
          <p:cNvSpPr/>
          <p:nvPr/>
        </p:nvSpPr>
        <p:spPr>
          <a:xfrm>
            <a:off x="667512"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Backup &amp; ransomware</a:t>
            </a:r>
            <a:endParaRPr lang="en-US" sz="1500" dirty="0"/>
          </a:p>
        </p:txBody>
      </p:sp>
      <p:sp>
        <p:nvSpPr>
          <p:cNvPr id="30" name="Text 27"/>
          <p:cNvSpPr/>
          <p:nvPr/>
        </p:nvSpPr>
        <p:spPr>
          <a:xfrm>
            <a:off x="667512"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Immutable, tested backups of servers and cloud data with a rehearsed recovery. The difference between an incident and a catastrophe.</a:t>
            </a:r>
            <a:endParaRPr lang="en-US" sz="1050" dirty="0"/>
          </a:p>
        </p:txBody>
      </p:sp>
      <p:sp>
        <p:nvSpPr>
          <p:cNvPr id="31" name="Shape 28"/>
          <p:cNvSpPr/>
          <p:nvPr/>
        </p:nvSpPr>
        <p:spPr>
          <a:xfrm>
            <a:off x="4306824" y="4206240"/>
            <a:ext cx="3611880" cy="1920240"/>
          </a:xfrm>
          <a:prstGeom prst="roundRect">
            <a:avLst>
              <a:gd name="adj" fmla="val 3810"/>
            </a:avLst>
          </a:prstGeom>
          <a:solidFill>
            <a:srgbClr val="FFFFFF"/>
          </a:solidFill>
          <a:ln w="12700">
            <a:solidFill>
              <a:srgbClr val="D8E0EA"/>
            </a:solidFill>
            <a:prstDash val="solid"/>
          </a:ln>
        </p:spPr>
      </p:sp>
      <p:sp>
        <p:nvSpPr>
          <p:cNvPr id="32" name="Shape 29"/>
          <p:cNvSpPr/>
          <p:nvPr/>
        </p:nvSpPr>
        <p:spPr>
          <a:xfrm>
            <a:off x="4306824" y="4206240"/>
            <a:ext cx="3611880" cy="91440"/>
          </a:xfrm>
          <a:prstGeom prst="rect">
            <a:avLst/>
          </a:prstGeom>
          <a:solidFill>
            <a:srgbClr val="0F766E"/>
          </a:solidFill>
          <a:ln w="12700">
            <a:solidFill>
              <a:srgbClr val="0F766E">
                <a:alpha val="0"/>
              </a:srgbClr>
            </a:solidFill>
            <a:prstDash val="solid"/>
          </a:ln>
        </p:spPr>
      </p:sp>
      <p:sp>
        <p:nvSpPr>
          <p:cNvPr id="33" name="Text 30"/>
          <p:cNvSpPr/>
          <p:nvPr/>
        </p:nvSpPr>
        <p:spPr>
          <a:xfrm>
            <a:off x="4471416" y="4389120"/>
            <a:ext cx="3282696" cy="201168"/>
          </a:xfrm>
          <a:prstGeom prst="rect">
            <a:avLst/>
          </a:prstGeom>
          <a:noFill/>
          <a:ln/>
        </p:spPr>
        <p:txBody>
          <a:bodyPr wrap="square" lIns="0" tIns="0" rIns="0" bIns="0" rtlCol="0" anchor="ctr"/>
          <a:lstStyle/>
          <a:p>
            <a:pPr indent="0" marL="0">
              <a:buNone/>
            </a:pPr>
            <a:r>
              <a:rPr lang="en-US" sz="900" b="1" dirty="0">
                <a:solidFill>
                  <a:srgbClr val="0F766E"/>
                </a:solidFill>
                <a:latin typeface="Arial" pitchFamily="34" charset="0"/>
                <a:ea typeface="Arial" pitchFamily="34" charset="-122"/>
                <a:cs typeface="Arial" pitchFamily="34" charset="-120"/>
              </a:rPr>
              <a:t>LAYER 05</a:t>
            </a:r>
            <a:endParaRPr lang="en-US" sz="900" dirty="0"/>
          </a:p>
        </p:txBody>
      </p:sp>
      <p:sp>
        <p:nvSpPr>
          <p:cNvPr id="34" name="Text 31"/>
          <p:cNvSpPr/>
          <p:nvPr/>
        </p:nvSpPr>
        <p:spPr>
          <a:xfrm>
            <a:off x="4471416"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Student data &amp; apps</a:t>
            </a:r>
            <a:endParaRPr lang="en-US" sz="1500" dirty="0"/>
          </a:p>
        </p:txBody>
      </p:sp>
      <p:sp>
        <p:nvSpPr>
          <p:cNvPr id="35" name="Text 32"/>
          <p:cNvSpPr/>
          <p:nvPr/>
        </p:nvSpPr>
        <p:spPr>
          <a:xfrm>
            <a:off x="4471416"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Knowing which apps hold student data, what they collect, and that their contracts are sound — COPPA, SOPIPA, and PCI for tuition.</a:t>
            </a:r>
            <a:endParaRPr lang="en-US" sz="1050" dirty="0"/>
          </a:p>
        </p:txBody>
      </p:sp>
      <p:sp>
        <p:nvSpPr>
          <p:cNvPr id="36" name="Shape 33"/>
          <p:cNvSpPr/>
          <p:nvPr/>
        </p:nvSpPr>
        <p:spPr>
          <a:xfrm>
            <a:off x="8110728" y="4206240"/>
            <a:ext cx="3611880" cy="1920240"/>
          </a:xfrm>
          <a:prstGeom prst="roundRect">
            <a:avLst>
              <a:gd name="adj" fmla="val 3810"/>
            </a:avLst>
          </a:prstGeom>
          <a:solidFill>
            <a:srgbClr val="FFFFFF"/>
          </a:solidFill>
          <a:ln w="12700">
            <a:solidFill>
              <a:srgbClr val="D8E0EA"/>
            </a:solidFill>
            <a:prstDash val="solid"/>
          </a:ln>
        </p:spPr>
      </p:sp>
      <p:sp>
        <p:nvSpPr>
          <p:cNvPr id="37" name="Shape 34"/>
          <p:cNvSpPr/>
          <p:nvPr/>
        </p:nvSpPr>
        <p:spPr>
          <a:xfrm>
            <a:off x="8110728" y="4206240"/>
            <a:ext cx="3611880" cy="91440"/>
          </a:xfrm>
          <a:prstGeom prst="rect">
            <a:avLst/>
          </a:prstGeom>
          <a:solidFill>
            <a:srgbClr val="1A1A2E"/>
          </a:solidFill>
          <a:ln w="12700">
            <a:solidFill>
              <a:srgbClr val="1A1A2E">
                <a:alpha val="0"/>
              </a:srgbClr>
            </a:solidFill>
            <a:prstDash val="solid"/>
          </a:ln>
        </p:spPr>
      </p:sp>
      <p:sp>
        <p:nvSpPr>
          <p:cNvPr id="38" name="Text 35"/>
          <p:cNvSpPr/>
          <p:nvPr/>
        </p:nvSpPr>
        <p:spPr>
          <a:xfrm>
            <a:off x="8275320" y="4389120"/>
            <a:ext cx="3282696" cy="201168"/>
          </a:xfrm>
          <a:prstGeom prst="rect">
            <a:avLst/>
          </a:prstGeom>
          <a:noFill/>
          <a:ln/>
        </p:spPr>
        <p:txBody>
          <a:bodyPr wrap="square" lIns="0" tIns="0" rIns="0" bIns="0" rtlCol="0" anchor="ctr"/>
          <a:lstStyle/>
          <a:p>
            <a:pPr indent="0" marL="0">
              <a:buNone/>
            </a:pPr>
            <a:r>
              <a:rPr lang="en-US" sz="900" b="1" dirty="0">
                <a:solidFill>
                  <a:srgbClr val="1A1A2E"/>
                </a:solidFill>
                <a:latin typeface="Arial" pitchFamily="34" charset="0"/>
                <a:ea typeface="Arial" pitchFamily="34" charset="-122"/>
                <a:cs typeface="Arial" pitchFamily="34" charset="-120"/>
              </a:rPr>
              <a:t>LAYER 06</a:t>
            </a:r>
            <a:endParaRPr lang="en-US" sz="900" dirty="0"/>
          </a:p>
        </p:txBody>
      </p:sp>
      <p:sp>
        <p:nvSpPr>
          <p:cNvPr id="39" name="Text 36"/>
          <p:cNvSpPr/>
          <p:nvPr/>
        </p:nvSpPr>
        <p:spPr>
          <a:xfrm>
            <a:off x="8275320" y="4608576"/>
            <a:ext cx="3282696" cy="384048"/>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24/7 monitoring &amp; response</a:t>
            </a:r>
            <a:endParaRPr lang="en-US" sz="1500" dirty="0"/>
          </a:p>
        </p:txBody>
      </p:sp>
      <p:sp>
        <p:nvSpPr>
          <p:cNvPr id="40" name="Text 37"/>
          <p:cNvSpPr/>
          <p:nvPr/>
        </p:nvSpPr>
        <p:spPr>
          <a:xfrm>
            <a:off x="8275320" y="4992624"/>
            <a:ext cx="3282696" cy="996696"/>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Eyes-on-glass with a defined response — the around-the-clock coverage a lean school team can't staff over nights and breaks.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YOUR TURN</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The questions that actually shape a fit</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This is the part that matters most. The more candid you are here, the more useful our free assessment and any proposal will be.</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9</a:t>
            </a:r>
            <a:endParaRPr lang="en-US" sz="1000" dirty="0"/>
          </a:p>
        </p:txBody>
      </p:sp>
      <p:sp>
        <p:nvSpPr>
          <p:cNvPr id="11" name="Shape 8"/>
          <p:cNvSpPr/>
          <p:nvPr/>
        </p:nvSpPr>
        <p:spPr>
          <a:xfrm>
            <a:off x="502920" y="2148840"/>
            <a:ext cx="5486400" cy="914400"/>
          </a:xfrm>
          <a:prstGeom prst="roundRect">
            <a:avLst>
              <a:gd name="adj" fmla="val 6000"/>
            </a:avLst>
          </a:prstGeom>
          <a:solidFill>
            <a:srgbClr val="FFFFFF"/>
          </a:solidFill>
          <a:ln w="12700">
            <a:solidFill>
              <a:srgbClr val="D8E0EA"/>
            </a:solidFill>
            <a:prstDash val="solid"/>
          </a:ln>
        </p:spPr>
      </p:sp>
      <p:sp>
        <p:nvSpPr>
          <p:cNvPr id="12" name="Shape 9"/>
          <p:cNvSpPr/>
          <p:nvPr/>
        </p:nvSpPr>
        <p:spPr>
          <a:xfrm>
            <a:off x="649224" y="2331720"/>
            <a:ext cx="548640" cy="548640"/>
          </a:xfrm>
          <a:prstGeom prst="roundRect">
            <a:avLst>
              <a:gd name="adj" fmla="val 13333"/>
            </a:avLst>
          </a:prstGeom>
          <a:solidFill>
            <a:srgbClr val="006DB6"/>
          </a:solidFill>
          <a:ln w="12700">
            <a:solidFill>
              <a:srgbClr val="006DB6">
                <a:alpha val="0"/>
              </a:srgbClr>
            </a:solidFill>
            <a:prstDash val="solid"/>
          </a:ln>
        </p:spPr>
      </p:sp>
      <p:sp>
        <p:nvSpPr>
          <p:cNvPr id="13" name="Text 10"/>
          <p:cNvSpPr/>
          <p:nvPr/>
        </p:nvSpPr>
        <p:spPr>
          <a:xfrm>
            <a:off x="649224" y="2331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4" name="Text 11"/>
          <p:cNvSpPr/>
          <p:nvPr/>
        </p:nvSpPr>
        <p:spPr>
          <a:xfrm>
            <a:off x="1325880" y="2240280"/>
            <a:ext cx="4526280" cy="749808"/>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Where are you stuck on the 3CX cutover right now — registration, audio, inbound, or the Firewall Checker?</a:t>
            </a:r>
            <a:endParaRPr lang="en-US" sz="1050" dirty="0"/>
          </a:p>
        </p:txBody>
      </p:sp>
      <p:sp>
        <p:nvSpPr>
          <p:cNvPr id="15" name="Shape 12"/>
          <p:cNvSpPr/>
          <p:nvPr/>
        </p:nvSpPr>
        <p:spPr>
          <a:xfrm>
            <a:off x="6199632" y="2148840"/>
            <a:ext cx="5486400" cy="914400"/>
          </a:xfrm>
          <a:prstGeom prst="roundRect">
            <a:avLst>
              <a:gd name="adj" fmla="val 6000"/>
            </a:avLst>
          </a:prstGeom>
          <a:solidFill>
            <a:srgbClr val="FFFFFF"/>
          </a:solidFill>
          <a:ln w="12700">
            <a:solidFill>
              <a:srgbClr val="D8E0EA"/>
            </a:solidFill>
            <a:prstDash val="solid"/>
          </a:ln>
        </p:spPr>
      </p:sp>
      <p:sp>
        <p:nvSpPr>
          <p:cNvPr id="16" name="Shape 13"/>
          <p:cNvSpPr/>
          <p:nvPr/>
        </p:nvSpPr>
        <p:spPr>
          <a:xfrm>
            <a:off x="6345936" y="2331720"/>
            <a:ext cx="548640" cy="548640"/>
          </a:xfrm>
          <a:prstGeom prst="roundRect">
            <a:avLst>
              <a:gd name="adj" fmla="val 13333"/>
            </a:avLst>
          </a:prstGeom>
          <a:solidFill>
            <a:srgbClr val="1EAAC8"/>
          </a:solidFill>
          <a:ln w="12700">
            <a:solidFill>
              <a:srgbClr val="1EAAC8">
                <a:alpha val="0"/>
              </a:srgbClr>
            </a:solidFill>
            <a:prstDash val="solid"/>
          </a:ln>
        </p:spPr>
      </p:sp>
      <p:sp>
        <p:nvSpPr>
          <p:cNvPr id="17" name="Text 14"/>
          <p:cNvSpPr/>
          <p:nvPr/>
        </p:nvSpPr>
        <p:spPr>
          <a:xfrm>
            <a:off x="6345936" y="2331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8" name="Text 15"/>
          <p:cNvSpPr/>
          <p:nvPr/>
        </p:nvSpPr>
        <p:spPr>
          <a:xfrm>
            <a:off x="7022592" y="2240280"/>
            <a:ext cx="4526280" cy="749808"/>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Is 3CX on-prem or hosted, what Check Point model is at the edge, and is Twilio for calls, parent SMS, or both?</a:t>
            </a:r>
            <a:endParaRPr lang="en-US" sz="1050" dirty="0"/>
          </a:p>
        </p:txBody>
      </p:sp>
      <p:sp>
        <p:nvSpPr>
          <p:cNvPr id="19" name="Shape 16"/>
          <p:cNvSpPr/>
          <p:nvPr/>
        </p:nvSpPr>
        <p:spPr>
          <a:xfrm>
            <a:off x="502920" y="3172968"/>
            <a:ext cx="5486400" cy="914400"/>
          </a:xfrm>
          <a:prstGeom prst="roundRect">
            <a:avLst>
              <a:gd name="adj" fmla="val 6000"/>
            </a:avLst>
          </a:prstGeom>
          <a:solidFill>
            <a:srgbClr val="FFFFFF"/>
          </a:solidFill>
          <a:ln w="12700">
            <a:solidFill>
              <a:srgbClr val="D8E0EA"/>
            </a:solidFill>
            <a:prstDash val="solid"/>
          </a:ln>
        </p:spPr>
      </p:sp>
      <p:sp>
        <p:nvSpPr>
          <p:cNvPr id="20" name="Shape 17"/>
          <p:cNvSpPr/>
          <p:nvPr/>
        </p:nvSpPr>
        <p:spPr>
          <a:xfrm>
            <a:off x="649224" y="3355848"/>
            <a:ext cx="548640" cy="548640"/>
          </a:xfrm>
          <a:prstGeom prst="roundRect">
            <a:avLst>
              <a:gd name="adj" fmla="val 13333"/>
            </a:avLst>
          </a:prstGeom>
          <a:solidFill>
            <a:srgbClr val="006DB6"/>
          </a:solidFill>
          <a:ln w="12700">
            <a:solidFill>
              <a:srgbClr val="006DB6">
                <a:alpha val="0"/>
              </a:srgbClr>
            </a:solidFill>
            <a:prstDash val="solid"/>
          </a:ln>
        </p:spPr>
      </p:sp>
      <p:sp>
        <p:nvSpPr>
          <p:cNvPr id="21" name="Text 18"/>
          <p:cNvSpPr/>
          <p:nvPr/>
        </p:nvSpPr>
        <p:spPr>
          <a:xfrm>
            <a:off x="649224"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2" name="Text 19"/>
          <p:cNvSpPr/>
          <p:nvPr/>
        </p:nvSpPr>
        <p:spPr>
          <a:xfrm>
            <a:off x="1325880" y="3264408"/>
            <a:ext cx="4526280" cy="749808"/>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Walk me through the environment — servers, endpoints, and what's on-prem versus in Google / the cloud?</a:t>
            </a:r>
            <a:endParaRPr lang="en-US" sz="1050" dirty="0"/>
          </a:p>
        </p:txBody>
      </p:sp>
      <p:sp>
        <p:nvSpPr>
          <p:cNvPr id="23" name="Shape 20"/>
          <p:cNvSpPr/>
          <p:nvPr/>
        </p:nvSpPr>
        <p:spPr>
          <a:xfrm>
            <a:off x="6199632" y="3172968"/>
            <a:ext cx="5486400" cy="914400"/>
          </a:xfrm>
          <a:prstGeom prst="roundRect">
            <a:avLst>
              <a:gd name="adj" fmla="val 6000"/>
            </a:avLst>
          </a:prstGeom>
          <a:solidFill>
            <a:srgbClr val="FFFFFF"/>
          </a:solidFill>
          <a:ln w="12700">
            <a:solidFill>
              <a:srgbClr val="D8E0EA"/>
            </a:solidFill>
            <a:prstDash val="solid"/>
          </a:ln>
        </p:spPr>
      </p:sp>
      <p:sp>
        <p:nvSpPr>
          <p:cNvPr id="24" name="Shape 21"/>
          <p:cNvSpPr/>
          <p:nvPr/>
        </p:nvSpPr>
        <p:spPr>
          <a:xfrm>
            <a:off x="6345936" y="3355848"/>
            <a:ext cx="548640" cy="548640"/>
          </a:xfrm>
          <a:prstGeom prst="roundRect">
            <a:avLst>
              <a:gd name="adj" fmla="val 13333"/>
            </a:avLst>
          </a:prstGeom>
          <a:solidFill>
            <a:srgbClr val="1EAAC8"/>
          </a:solidFill>
          <a:ln w="12700">
            <a:solidFill>
              <a:srgbClr val="1EAAC8">
                <a:alpha val="0"/>
              </a:srgbClr>
            </a:solidFill>
            <a:prstDash val="solid"/>
          </a:ln>
        </p:spPr>
      </p:sp>
      <p:sp>
        <p:nvSpPr>
          <p:cNvPr id="25" name="Text 22"/>
          <p:cNvSpPr/>
          <p:nvPr/>
        </p:nvSpPr>
        <p:spPr>
          <a:xfrm>
            <a:off x="6345936" y="335584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Text 23"/>
          <p:cNvSpPr/>
          <p:nvPr/>
        </p:nvSpPr>
        <p:spPr>
          <a:xfrm>
            <a:off x="7022592" y="3264408"/>
            <a:ext cx="4526280" cy="749808"/>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On security: is MFA everywhere, what's your EDR and email security, and are backups tested?</a:t>
            </a:r>
            <a:endParaRPr lang="en-US" sz="1050" dirty="0"/>
          </a:p>
        </p:txBody>
      </p:sp>
      <p:sp>
        <p:nvSpPr>
          <p:cNvPr id="27" name="Shape 24"/>
          <p:cNvSpPr/>
          <p:nvPr/>
        </p:nvSpPr>
        <p:spPr>
          <a:xfrm>
            <a:off x="502920" y="4197096"/>
            <a:ext cx="5486400" cy="914400"/>
          </a:xfrm>
          <a:prstGeom prst="roundRect">
            <a:avLst>
              <a:gd name="adj" fmla="val 6000"/>
            </a:avLst>
          </a:prstGeom>
          <a:solidFill>
            <a:srgbClr val="FFFFFF"/>
          </a:solidFill>
          <a:ln w="12700">
            <a:solidFill>
              <a:srgbClr val="D8E0EA"/>
            </a:solidFill>
            <a:prstDash val="solid"/>
          </a:ln>
        </p:spPr>
      </p:sp>
      <p:sp>
        <p:nvSpPr>
          <p:cNvPr id="28" name="Shape 25"/>
          <p:cNvSpPr/>
          <p:nvPr/>
        </p:nvSpPr>
        <p:spPr>
          <a:xfrm>
            <a:off x="649224" y="4379976"/>
            <a:ext cx="548640" cy="548640"/>
          </a:xfrm>
          <a:prstGeom prst="roundRect">
            <a:avLst>
              <a:gd name="adj" fmla="val 13333"/>
            </a:avLst>
          </a:prstGeom>
          <a:solidFill>
            <a:srgbClr val="006DB6"/>
          </a:solidFill>
          <a:ln w="12700">
            <a:solidFill>
              <a:srgbClr val="006DB6">
                <a:alpha val="0"/>
              </a:srgbClr>
            </a:solidFill>
            <a:prstDash val="solid"/>
          </a:ln>
        </p:spPr>
      </p:sp>
      <p:sp>
        <p:nvSpPr>
          <p:cNvPr id="29" name="Text 26"/>
          <p:cNvSpPr/>
          <p:nvPr/>
        </p:nvSpPr>
        <p:spPr>
          <a:xfrm>
            <a:off x="649224" y="43799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30" name="Text 27"/>
          <p:cNvSpPr/>
          <p:nvPr/>
        </p:nvSpPr>
        <p:spPr>
          <a:xfrm>
            <a:off x="1325880" y="4288536"/>
            <a:ext cx="4526280" cy="749808"/>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Do you carry cyber-insurance — and what controls did the last application or renewal ask for?</a:t>
            </a:r>
            <a:endParaRPr lang="en-US" sz="1050" dirty="0"/>
          </a:p>
        </p:txBody>
      </p:sp>
      <p:sp>
        <p:nvSpPr>
          <p:cNvPr id="31" name="Shape 28"/>
          <p:cNvSpPr/>
          <p:nvPr/>
        </p:nvSpPr>
        <p:spPr>
          <a:xfrm>
            <a:off x="6199632" y="4197096"/>
            <a:ext cx="5486400" cy="914400"/>
          </a:xfrm>
          <a:prstGeom prst="roundRect">
            <a:avLst>
              <a:gd name="adj" fmla="val 6000"/>
            </a:avLst>
          </a:prstGeom>
          <a:solidFill>
            <a:srgbClr val="FFFFFF"/>
          </a:solidFill>
          <a:ln w="12700">
            <a:solidFill>
              <a:srgbClr val="D8E0EA"/>
            </a:solidFill>
            <a:prstDash val="solid"/>
          </a:ln>
        </p:spPr>
      </p:sp>
      <p:sp>
        <p:nvSpPr>
          <p:cNvPr id="32" name="Shape 29"/>
          <p:cNvSpPr/>
          <p:nvPr/>
        </p:nvSpPr>
        <p:spPr>
          <a:xfrm>
            <a:off x="6345936" y="4379976"/>
            <a:ext cx="548640" cy="548640"/>
          </a:xfrm>
          <a:prstGeom prst="roundRect">
            <a:avLst>
              <a:gd name="adj" fmla="val 13333"/>
            </a:avLst>
          </a:prstGeom>
          <a:solidFill>
            <a:srgbClr val="1EAAC8"/>
          </a:solidFill>
          <a:ln w="12700">
            <a:solidFill>
              <a:srgbClr val="1EAAC8">
                <a:alpha val="0"/>
              </a:srgbClr>
            </a:solidFill>
            <a:prstDash val="solid"/>
          </a:ln>
        </p:spPr>
      </p:sp>
      <p:sp>
        <p:nvSpPr>
          <p:cNvPr id="33" name="Text 30"/>
          <p:cNvSpPr/>
          <p:nvPr/>
        </p:nvSpPr>
        <p:spPr>
          <a:xfrm>
            <a:off x="6345936" y="437997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4" name="Text 31"/>
          <p:cNvSpPr/>
          <p:nvPr/>
        </p:nvSpPr>
        <p:spPr>
          <a:xfrm>
            <a:off x="7022592" y="4288536"/>
            <a:ext cx="4526280" cy="749808"/>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Does the school take E-rate or federal funding, and which system is the student record (is MySchoolApp Blackbaud)?</a:t>
            </a:r>
            <a:endParaRPr lang="en-US" sz="1050" dirty="0"/>
          </a:p>
        </p:txBody>
      </p:sp>
      <p:sp>
        <p:nvSpPr>
          <p:cNvPr id="35" name="Shape 32"/>
          <p:cNvSpPr/>
          <p:nvPr/>
        </p:nvSpPr>
        <p:spPr>
          <a:xfrm>
            <a:off x="502920" y="5221224"/>
            <a:ext cx="5486400" cy="914400"/>
          </a:xfrm>
          <a:prstGeom prst="roundRect">
            <a:avLst>
              <a:gd name="adj" fmla="val 6000"/>
            </a:avLst>
          </a:prstGeom>
          <a:solidFill>
            <a:srgbClr val="FFFFFF"/>
          </a:solidFill>
          <a:ln w="12700">
            <a:solidFill>
              <a:srgbClr val="D8E0EA"/>
            </a:solidFill>
            <a:prstDash val="solid"/>
          </a:ln>
        </p:spPr>
      </p:sp>
      <p:sp>
        <p:nvSpPr>
          <p:cNvPr id="36" name="Shape 33"/>
          <p:cNvSpPr/>
          <p:nvPr/>
        </p:nvSpPr>
        <p:spPr>
          <a:xfrm>
            <a:off x="649224" y="5404104"/>
            <a:ext cx="548640" cy="548640"/>
          </a:xfrm>
          <a:prstGeom prst="roundRect">
            <a:avLst>
              <a:gd name="adj" fmla="val 13333"/>
            </a:avLst>
          </a:prstGeom>
          <a:solidFill>
            <a:srgbClr val="006DB6"/>
          </a:solidFill>
          <a:ln w="12700">
            <a:solidFill>
              <a:srgbClr val="006DB6">
                <a:alpha val="0"/>
              </a:srgbClr>
            </a:solidFill>
            <a:prstDash val="solid"/>
          </a:ln>
        </p:spPr>
      </p:sp>
      <p:sp>
        <p:nvSpPr>
          <p:cNvPr id="37" name="Text 34"/>
          <p:cNvSpPr/>
          <p:nvPr/>
        </p:nvSpPr>
        <p:spPr>
          <a:xfrm>
            <a:off x="649224" y="54041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38" name="Text 35"/>
          <p:cNvSpPr/>
          <p:nvPr/>
        </p:nvSpPr>
        <p:spPr>
          <a:xfrm>
            <a:off x="1325880" y="5312664"/>
            <a:ext cx="4526280" cy="749808"/>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How big is the team beneath you, and what projects are on your 2026 roadmap you'd love bandwidth for?</a:t>
            </a:r>
            <a:endParaRPr lang="en-US" sz="1050" dirty="0"/>
          </a:p>
        </p:txBody>
      </p:sp>
      <p:sp>
        <p:nvSpPr>
          <p:cNvPr id="39" name="Shape 36"/>
          <p:cNvSpPr/>
          <p:nvPr/>
        </p:nvSpPr>
        <p:spPr>
          <a:xfrm>
            <a:off x="6199632" y="5221224"/>
            <a:ext cx="5486400" cy="914400"/>
          </a:xfrm>
          <a:prstGeom prst="roundRect">
            <a:avLst>
              <a:gd name="adj" fmla="val 6000"/>
            </a:avLst>
          </a:prstGeom>
          <a:solidFill>
            <a:srgbClr val="FFFFFF"/>
          </a:solidFill>
          <a:ln w="12700">
            <a:solidFill>
              <a:srgbClr val="D8E0EA"/>
            </a:solidFill>
            <a:prstDash val="solid"/>
          </a:ln>
        </p:spPr>
      </p:sp>
      <p:sp>
        <p:nvSpPr>
          <p:cNvPr id="40" name="Shape 37"/>
          <p:cNvSpPr/>
          <p:nvPr/>
        </p:nvSpPr>
        <p:spPr>
          <a:xfrm>
            <a:off x="6345936" y="5404104"/>
            <a:ext cx="548640" cy="548640"/>
          </a:xfrm>
          <a:prstGeom prst="roundRect">
            <a:avLst>
              <a:gd name="adj" fmla="val 13333"/>
            </a:avLst>
          </a:prstGeom>
          <a:solidFill>
            <a:srgbClr val="1EAAC8"/>
          </a:solidFill>
          <a:ln w="12700">
            <a:solidFill>
              <a:srgbClr val="1EAAC8">
                <a:alpha val="0"/>
              </a:srgbClr>
            </a:solidFill>
            <a:prstDash val="solid"/>
          </a:ln>
        </p:spPr>
      </p:sp>
      <p:sp>
        <p:nvSpPr>
          <p:cNvPr id="41" name="Text 38"/>
          <p:cNvSpPr/>
          <p:nvPr/>
        </p:nvSpPr>
        <p:spPr>
          <a:xfrm>
            <a:off x="6345936" y="540410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8</a:t>
            </a:r>
            <a:endParaRPr lang="en-US" sz="1800" dirty="0"/>
          </a:p>
        </p:txBody>
      </p:sp>
      <p:sp>
        <p:nvSpPr>
          <p:cNvPr id="42" name="Text 39"/>
          <p:cNvSpPr/>
          <p:nvPr/>
        </p:nvSpPr>
        <p:spPr>
          <a:xfrm>
            <a:off x="7022592" y="5312664"/>
            <a:ext cx="4526280" cy="749808"/>
          </a:xfrm>
          <a:prstGeom prst="rect">
            <a:avLst/>
          </a:prstGeom>
          <a:noFill/>
          <a:ln/>
        </p:spPr>
        <p:txBody>
          <a:bodyPr wrap="square" lIns="0" tIns="0" rIns="0" bIns="0" rtlCol="0" anchor="ctr"/>
          <a:lstStyle/>
          <a:p>
            <a:pPr indent="0" marL="0">
              <a:buNone/>
            </a:pPr>
            <a:r>
              <a:rPr lang="en-US" sz="1050" dirty="0">
                <a:solidFill>
                  <a:srgbClr val="334155"/>
                </a:solidFill>
                <a:latin typeface="Arial" pitchFamily="34" charset="0"/>
                <a:ea typeface="Arial" pitchFamily="34" charset="-122"/>
                <a:cs typeface="Arial" pitchFamily="34" charset="-120"/>
              </a:rPr>
              <a:t>Besides you, who weighs in on a decision like this — the CFOO, the Head of Schools, the board?</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6DB6"/>
          </a:solidFill>
          <a:ln w="12700">
            <a:solidFill>
              <a:srgbClr val="006DB6">
                <a:alpha val="0"/>
              </a:srgbClr>
            </a:solidFill>
            <a:prstDash val="solid"/>
          </a:ln>
        </p:spPr>
      </p:sp>
      <p:pic>
        <p:nvPicPr>
          <p:cNvPr id="3" name="Image 0" descr="C:/vscode/tech-branding/tech-branding/Clients/SFC/assets/Technijian Logo 2.png">    </p:cNvPr>
          <p:cNvPicPr>
            <a:picLocks noChangeAspect="1"/>
          </p:cNvPicPr>
          <p:nvPr/>
        </p:nvPicPr>
        <p:blipFill>
          <a:blip r:embed="rId1"/>
          <a:stretch>
            <a:fillRect/>
          </a:stretch>
        </p:blipFill>
        <p:spPr>
          <a:xfrm>
            <a:off x="502920" y="274320"/>
            <a:ext cx="1600200" cy="334840"/>
          </a:xfrm>
          <a:prstGeom prst="rect">
            <a:avLst/>
          </a:prstGeom>
        </p:spPr>
      </p:pic>
      <p:sp>
        <p:nvSpPr>
          <p:cNvPr id="4" name="Text 1"/>
          <p:cNvSpPr/>
          <p:nvPr/>
        </p:nvSpPr>
        <p:spPr>
          <a:xfrm>
            <a:off x="502920" y="841248"/>
            <a:ext cx="8229600" cy="256032"/>
          </a:xfrm>
          <a:prstGeom prst="rect">
            <a:avLst/>
          </a:prstGeom>
          <a:noFill/>
          <a:ln/>
        </p:spPr>
        <p:txBody>
          <a:bodyPr wrap="square" lIns="0" tIns="0" rIns="0" bIns="0" rtlCol="0" anchor="ctr"/>
          <a:lstStyle/>
          <a:p>
            <a:pPr indent="0" marL="0">
              <a:buNone/>
            </a:pPr>
            <a:r>
              <a:rPr lang="en-US" sz="1000" b="1" dirty="0">
                <a:solidFill>
                  <a:srgbClr val="006DB6"/>
                </a:solidFill>
                <a:latin typeface="Arial" pitchFamily="34" charset="0"/>
                <a:ea typeface="Arial" pitchFamily="34" charset="-122"/>
                <a:cs typeface="Arial" pitchFamily="34" charset="-120"/>
              </a:rPr>
              <a:t>A FREE FIRST STEP</a:t>
            </a:r>
            <a:endParaRPr lang="en-US" sz="1000" dirty="0"/>
          </a:p>
        </p:txBody>
      </p:sp>
      <p:sp>
        <p:nvSpPr>
          <p:cNvPr id="5" name="Text 2"/>
          <p:cNvSpPr/>
          <p:nvPr/>
        </p:nvSpPr>
        <p:spPr>
          <a:xfrm>
            <a:off x="502920" y="1078992"/>
            <a:ext cx="11338560" cy="502920"/>
          </a:xfrm>
          <a:prstGeom prst="rect">
            <a:avLst/>
          </a:prstGeom>
          <a:noFill/>
          <a:ln/>
        </p:spPr>
        <p:txBody>
          <a:bodyPr wrap="square" lIns="0" tIns="0" rIns="0" bIns="0" rtlCol="0" anchor="ctr"/>
          <a:lstStyle/>
          <a:p>
            <a:pPr indent="0" marL="0">
              <a:buNone/>
            </a:pPr>
            <a:r>
              <a:rPr lang="en-US" sz="2200" b="1" dirty="0">
                <a:solidFill>
                  <a:srgbClr val="1A1A2E"/>
                </a:solidFill>
                <a:latin typeface="Arial" pitchFamily="34" charset="0"/>
                <a:ea typeface="Arial" pitchFamily="34" charset="-122"/>
                <a:cs typeface="Arial" pitchFamily="34" charset="-120"/>
              </a:rPr>
              <a:t>Two easy yeses — and a read of your environment to keep</a:t>
            </a:r>
            <a:endParaRPr lang="en-US" sz="2200" dirty="0"/>
          </a:p>
        </p:txBody>
      </p:sp>
      <p:sp>
        <p:nvSpPr>
          <p:cNvPr id="6" name="Text 3"/>
          <p:cNvSpPr/>
          <p:nvPr/>
        </p:nvSpPr>
        <p:spPr>
          <a:xfrm>
            <a:off x="502920" y="1554480"/>
            <a:ext cx="11338560" cy="320040"/>
          </a:xfrm>
          <a:prstGeom prst="rect">
            <a:avLst/>
          </a:prstGeom>
          <a:noFill/>
          <a:ln/>
        </p:spPr>
        <p:txBody>
          <a:bodyPr wrap="square" lIns="0" tIns="0" rIns="0" bIns="0" rtlCol="0" anchor="ctr"/>
          <a:lstStyle/>
          <a:p>
            <a:pPr indent="0" marL="0">
              <a:buNone/>
            </a:pPr>
            <a:r>
              <a:rPr lang="en-US" sz="1100" dirty="0">
                <a:solidFill>
                  <a:srgbClr val="334155"/>
                </a:solidFill>
                <a:latin typeface="Arial" pitchFamily="34" charset="0"/>
                <a:ea typeface="Arial" pitchFamily="34" charset="-122"/>
                <a:cs typeface="Arial" pitchFamily="34" charset="-120"/>
              </a:rPr>
              <a:t>Before anyone talks contracts, we give you something useful: the project closed out, and a clear picture of where you stand.</a:t>
            </a:r>
            <a:endParaRPr lang="en-US" sz="1100" dirty="0"/>
          </a:p>
        </p:txBody>
      </p:sp>
      <p:sp>
        <p:nvSpPr>
          <p:cNvPr id="7" name="Shape 4"/>
          <p:cNvSpPr/>
          <p:nvPr/>
        </p:nvSpPr>
        <p:spPr>
          <a:xfrm>
            <a:off x="502920" y="1874520"/>
            <a:ext cx="11201400" cy="9144"/>
          </a:xfrm>
          <a:prstGeom prst="rect">
            <a:avLst/>
          </a:prstGeom>
          <a:solidFill>
            <a:srgbClr val="D8E0EA"/>
          </a:solidFill>
          <a:ln w="12700">
            <a:solidFill>
              <a:srgbClr val="D8E0EA">
                <a:alpha val="0"/>
              </a:srgbClr>
            </a:solidFill>
            <a:prstDash val="solid"/>
          </a:ln>
        </p:spPr>
      </p:sp>
      <p:sp>
        <p:nvSpPr>
          <p:cNvPr id="8" name="Shape 5"/>
          <p:cNvSpPr/>
          <p:nvPr/>
        </p:nvSpPr>
        <p:spPr>
          <a:xfrm>
            <a:off x="457200" y="6446520"/>
            <a:ext cx="11292840" cy="10973"/>
          </a:xfrm>
          <a:prstGeom prst="rect">
            <a:avLst/>
          </a:prstGeom>
          <a:solidFill>
            <a:srgbClr val="D8E0EA"/>
          </a:solidFill>
          <a:ln w="12700">
            <a:solidFill>
              <a:srgbClr val="D8E0EA">
                <a:alpha val="0"/>
              </a:srgbClr>
            </a:solidFill>
            <a:prstDash val="solid"/>
          </a:ln>
        </p:spPr>
      </p:sp>
      <p:sp>
        <p:nvSpPr>
          <p:cNvPr id="9" name="Text 6"/>
          <p:cNvSpPr/>
          <p:nvPr/>
        </p:nvSpPr>
        <p:spPr>
          <a:xfrm>
            <a:off x="502920" y="6492240"/>
            <a:ext cx="8229600" cy="228600"/>
          </a:xfrm>
          <a:prstGeom prst="rect">
            <a:avLst/>
          </a:prstGeom>
          <a:noFill/>
          <a:ln/>
        </p:spPr>
        <p:txBody>
          <a:bodyPr wrap="square" lIns="0" tIns="0" rIns="0" bIns="0" rtlCol="0" anchor="ctr"/>
          <a:lstStyle/>
          <a:p>
            <a:pPr indent="0" marL="0">
              <a:buNone/>
            </a:pPr>
            <a:r>
              <a:rPr lang="en-US" sz="900" dirty="0">
                <a:solidFill>
                  <a:srgbClr val="64748B"/>
                </a:solidFill>
                <a:latin typeface="Arial" pitchFamily="34" charset="0"/>
                <a:ea typeface="Arial" pitchFamily="34" charset="-122"/>
                <a:cs typeface="Arial" pitchFamily="34" charset="-120"/>
              </a:rPr>
              <a:t>Technijian  |  For Santa Fe Christian Schools  |  June 24, 2026</a:t>
            </a:r>
            <a:endParaRPr lang="en-US" sz="900" dirty="0"/>
          </a:p>
        </p:txBody>
      </p:sp>
      <p:sp>
        <p:nvSpPr>
          <p:cNvPr id="10" name="Text 7"/>
          <p:cNvSpPr/>
          <p:nvPr/>
        </p:nvSpPr>
        <p:spPr>
          <a:xfrm>
            <a:off x="11155680" y="6473952"/>
            <a:ext cx="548640" cy="228600"/>
          </a:xfrm>
          <a:prstGeom prst="rect">
            <a:avLst/>
          </a:prstGeom>
          <a:noFill/>
          <a:ln/>
        </p:spPr>
        <p:txBody>
          <a:bodyPr wrap="square" lIns="0" tIns="0" rIns="0" bIns="0" rtlCol="0" anchor="ctr"/>
          <a:lstStyle/>
          <a:p>
            <a:pPr algn="r" indent="0" marL="0">
              <a:buNone/>
            </a:pPr>
            <a:r>
              <a:rPr lang="en-US" sz="1000" b="1" dirty="0">
                <a:solidFill>
                  <a:srgbClr val="006DB6"/>
                </a:solidFill>
                <a:latin typeface="Arial" pitchFamily="34" charset="0"/>
                <a:ea typeface="Arial" pitchFamily="34" charset="-122"/>
                <a:cs typeface="Arial" pitchFamily="34" charset="-120"/>
              </a:rPr>
              <a:t>10</a:t>
            </a:r>
            <a:endParaRPr lang="en-US" sz="1000" dirty="0"/>
          </a:p>
        </p:txBody>
      </p:sp>
      <p:sp>
        <p:nvSpPr>
          <p:cNvPr id="11" name="Shape 8"/>
          <p:cNvSpPr/>
          <p:nvPr/>
        </p:nvSpPr>
        <p:spPr>
          <a:xfrm>
            <a:off x="502920" y="2103120"/>
            <a:ext cx="5212080" cy="4069080"/>
          </a:xfrm>
          <a:prstGeom prst="roundRect">
            <a:avLst>
              <a:gd name="adj" fmla="val 1798"/>
            </a:avLst>
          </a:prstGeom>
          <a:solidFill>
            <a:srgbClr val="1A1A2E"/>
          </a:solidFill>
          <a:ln w="12700">
            <a:solidFill>
              <a:srgbClr val="1A1A2E">
                <a:alpha val="0"/>
              </a:srgbClr>
            </a:solidFill>
            <a:prstDash val="solid"/>
          </a:ln>
        </p:spPr>
      </p:sp>
      <p:sp>
        <p:nvSpPr>
          <p:cNvPr id="12" name="Shape 9"/>
          <p:cNvSpPr/>
          <p:nvPr/>
        </p:nvSpPr>
        <p:spPr>
          <a:xfrm>
            <a:off x="502920" y="2103120"/>
            <a:ext cx="5212080" cy="91440"/>
          </a:xfrm>
          <a:prstGeom prst="rect">
            <a:avLst/>
          </a:prstGeom>
          <a:solidFill>
            <a:srgbClr val="F67D4B"/>
          </a:solidFill>
          <a:ln w="12700">
            <a:solidFill>
              <a:srgbClr val="F67D4B">
                <a:alpha val="0"/>
              </a:srgbClr>
            </a:solidFill>
            <a:prstDash val="solid"/>
          </a:ln>
        </p:spPr>
      </p:sp>
      <p:sp>
        <p:nvSpPr>
          <p:cNvPr id="13" name="Text 10"/>
          <p:cNvSpPr/>
          <p:nvPr/>
        </p:nvSpPr>
        <p:spPr>
          <a:xfrm>
            <a:off x="731520" y="2331720"/>
            <a:ext cx="475488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FREE · NO CONTRACT · YOURS TO KEEP</a:t>
            </a:r>
            <a:endParaRPr lang="en-US" sz="1000" dirty="0"/>
          </a:p>
        </p:txBody>
      </p:sp>
      <p:sp>
        <p:nvSpPr>
          <p:cNvPr id="14" name="Text 11"/>
          <p:cNvSpPr/>
          <p:nvPr/>
        </p:nvSpPr>
        <p:spPr>
          <a:xfrm>
            <a:off x="731520" y="2606040"/>
            <a:ext cx="475488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Nexus Assess</a:t>
            </a:r>
            <a:endParaRPr lang="en-US" sz="2600" dirty="0"/>
          </a:p>
        </p:txBody>
      </p:sp>
      <p:sp>
        <p:nvSpPr>
          <p:cNvPr id="15" name="Text 12"/>
          <p:cNvSpPr/>
          <p:nvPr/>
        </p:nvSpPr>
        <p:spPr>
          <a:xfrm>
            <a:off x="731520" y="3154680"/>
            <a:ext cx="4754880" cy="365760"/>
          </a:xfrm>
          <a:prstGeom prst="rect">
            <a:avLst/>
          </a:prstGeom>
          <a:noFill/>
          <a:ln/>
        </p:spPr>
        <p:txBody>
          <a:bodyPr wrap="square" lIns="0" tIns="0" rIns="0" bIns="0" rtlCol="0" anchor="t"/>
          <a:lstStyle/>
          <a:p>
            <a:pPr indent="0" marL="0">
              <a:buNone/>
            </a:pPr>
            <a:r>
              <a:rPr lang="en-US" sz="1200" dirty="0">
                <a:solidFill>
                  <a:srgbClr val="FFFFFF">
                    <a:alpha val="90000"/>
                  </a:srgbClr>
                </a:solidFill>
                <a:latin typeface="Arial" pitchFamily="34" charset="0"/>
                <a:ea typeface="Arial" pitchFamily="34" charset="-122"/>
                <a:cs typeface="Arial" pitchFamily="34" charset="-120"/>
              </a:rPr>
              <a:t>A security and risk read of your actual environment:</a:t>
            </a:r>
            <a:endParaRPr lang="en-US" sz="1200" dirty="0"/>
          </a:p>
        </p:txBody>
      </p:sp>
      <p:sp>
        <p:nvSpPr>
          <p:cNvPr id="16" name="Shape 13"/>
          <p:cNvSpPr/>
          <p:nvPr/>
        </p:nvSpPr>
        <p:spPr>
          <a:xfrm>
            <a:off x="777240" y="3675888"/>
            <a:ext cx="109728" cy="109728"/>
          </a:xfrm>
          <a:prstGeom prst="ellipse">
            <a:avLst/>
          </a:prstGeom>
          <a:solidFill>
            <a:srgbClr val="1EAAC8"/>
          </a:solidFill>
          <a:ln w="12700">
            <a:solidFill>
              <a:srgbClr val="1EAAC8">
                <a:alpha val="0"/>
              </a:srgbClr>
            </a:solidFill>
            <a:prstDash val="solid"/>
          </a:ln>
        </p:spPr>
      </p:sp>
      <p:sp>
        <p:nvSpPr>
          <p:cNvPr id="17" name="Text 14"/>
          <p:cNvSpPr/>
          <p:nvPr/>
        </p:nvSpPr>
        <p:spPr>
          <a:xfrm>
            <a:off x="1005840" y="36118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Internal + external vulnerability scan</a:t>
            </a:r>
            <a:endParaRPr lang="en-US" sz="1200" dirty="0"/>
          </a:p>
        </p:txBody>
      </p:sp>
      <p:sp>
        <p:nvSpPr>
          <p:cNvPr id="18" name="Shape 15"/>
          <p:cNvSpPr/>
          <p:nvPr/>
        </p:nvSpPr>
        <p:spPr>
          <a:xfrm>
            <a:off x="777240" y="4133088"/>
            <a:ext cx="109728" cy="109728"/>
          </a:xfrm>
          <a:prstGeom prst="ellipse">
            <a:avLst/>
          </a:prstGeom>
          <a:solidFill>
            <a:srgbClr val="1EAAC8"/>
          </a:solidFill>
          <a:ln w="12700">
            <a:solidFill>
              <a:srgbClr val="1EAAC8">
                <a:alpha val="0"/>
              </a:srgbClr>
            </a:solidFill>
            <a:prstDash val="solid"/>
          </a:ln>
        </p:spPr>
      </p:sp>
      <p:sp>
        <p:nvSpPr>
          <p:cNvPr id="19" name="Text 16"/>
          <p:cNvSpPr/>
          <p:nvPr/>
        </p:nvSpPr>
        <p:spPr>
          <a:xfrm>
            <a:off x="1005840" y="40690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Dark-web credential exposure check</a:t>
            </a:r>
            <a:endParaRPr lang="en-US" sz="1200" dirty="0"/>
          </a:p>
        </p:txBody>
      </p:sp>
      <p:sp>
        <p:nvSpPr>
          <p:cNvPr id="20" name="Shape 17"/>
          <p:cNvSpPr/>
          <p:nvPr/>
        </p:nvSpPr>
        <p:spPr>
          <a:xfrm>
            <a:off x="777240" y="4590288"/>
            <a:ext cx="109728" cy="109728"/>
          </a:xfrm>
          <a:prstGeom prst="ellipse">
            <a:avLst/>
          </a:prstGeom>
          <a:solidFill>
            <a:srgbClr val="1EAAC8"/>
          </a:solidFill>
          <a:ln w="12700">
            <a:solidFill>
              <a:srgbClr val="1EAAC8">
                <a:alpha val="0"/>
              </a:srgbClr>
            </a:solidFill>
            <a:prstDash val="solid"/>
          </a:ln>
        </p:spPr>
      </p:sp>
      <p:sp>
        <p:nvSpPr>
          <p:cNvPr id="21" name="Text 18"/>
          <p:cNvSpPr/>
          <p:nvPr/>
        </p:nvSpPr>
        <p:spPr>
          <a:xfrm>
            <a:off x="1005840" y="45262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Google Workspace / Microsoft 365 review</a:t>
            </a:r>
            <a:endParaRPr lang="en-US" sz="1200" dirty="0"/>
          </a:p>
        </p:txBody>
      </p:sp>
      <p:sp>
        <p:nvSpPr>
          <p:cNvPr id="22" name="Shape 19"/>
          <p:cNvSpPr/>
          <p:nvPr/>
        </p:nvSpPr>
        <p:spPr>
          <a:xfrm>
            <a:off x="777240" y="5047488"/>
            <a:ext cx="109728" cy="109728"/>
          </a:xfrm>
          <a:prstGeom prst="ellipse">
            <a:avLst/>
          </a:prstGeom>
          <a:solidFill>
            <a:srgbClr val="1EAAC8"/>
          </a:solidFill>
          <a:ln w="12700">
            <a:solidFill>
              <a:srgbClr val="1EAAC8">
                <a:alpha val="0"/>
              </a:srgbClr>
            </a:solidFill>
            <a:prstDash val="solid"/>
          </a:ln>
        </p:spPr>
      </p:sp>
      <p:sp>
        <p:nvSpPr>
          <p:cNvPr id="23" name="Text 20"/>
          <p:cNvSpPr/>
          <p:nvPr/>
        </p:nvSpPr>
        <p:spPr>
          <a:xfrm>
            <a:off x="1005840" y="4983480"/>
            <a:ext cx="4572000" cy="402336"/>
          </a:xfrm>
          <a:prstGeom prst="rect">
            <a:avLst/>
          </a:prstGeom>
          <a:noFill/>
          <a:ln/>
        </p:spPr>
        <p:txBody>
          <a:bodyPr wrap="square" lIns="0" tIns="0" rIns="0" bIns="0" rtlCol="0" anchor="t"/>
          <a:lstStyle/>
          <a:p>
            <a:pPr indent="0" marL="0">
              <a:buNone/>
            </a:pPr>
            <a:r>
              <a:rPr lang="en-US" sz="1200" dirty="0">
                <a:solidFill>
                  <a:srgbClr val="FFFFFF">
                    <a:alpha val="94000"/>
                  </a:srgbClr>
                </a:solidFill>
                <a:latin typeface="Arial" pitchFamily="34" charset="0"/>
                <a:ea typeface="Arial" pitchFamily="34" charset="-122"/>
                <a:cs typeface="Arial" pitchFamily="34" charset="-120"/>
              </a:rPr>
              <a:t>Prioritized roadmap — yours to keep</a:t>
            </a:r>
            <a:endParaRPr lang="en-US" sz="1200" dirty="0"/>
          </a:p>
        </p:txBody>
      </p:sp>
      <p:sp>
        <p:nvSpPr>
          <p:cNvPr id="24" name="Text 21"/>
          <p:cNvSpPr/>
          <p:nvPr/>
        </p:nvSpPr>
        <p:spPr>
          <a:xfrm>
            <a:off x="731520" y="5532120"/>
            <a:ext cx="4800600" cy="548640"/>
          </a:xfrm>
          <a:prstGeom prst="rect">
            <a:avLst/>
          </a:prstGeom>
          <a:noFill/>
          <a:ln/>
        </p:spPr>
        <p:txBody>
          <a:bodyPr wrap="square" lIns="0" tIns="0" rIns="0" bIns="0" rtlCol="0" anchor="t"/>
          <a:lstStyle/>
          <a:p>
            <a:pPr indent="0" marL="0">
              <a:buNone/>
            </a:pPr>
            <a:r>
              <a:rPr lang="en-US" sz="1050" i="1" dirty="0">
                <a:solidFill>
                  <a:srgbClr val="1EAAC8"/>
                </a:solidFill>
                <a:latin typeface="Arial" pitchFamily="34" charset="0"/>
                <a:ea typeface="Arial" pitchFamily="34" charset="-122"/>
                <a:cs typeface="Arial" pitchFamily="34" charset="-120"/>
              </a:rPr>
              <a:t>No obligation. Whether or not we ever work together, the roadmap is yours to act on with your own team.</a:t>
            </a:r>
            <a:endParaRPr lang="en-US" sz="1050" dirty="0"/>
          </a:p>
        </p:txBody>
      </p:sp>
      <p:sp>
        <p:nvSpPr>
          <p:cNvPr id="25" name="Shape 22"/>
          <p:cNvSpPr/>
          <p:nvPr/>
        </p:nvSpPr>
        <p:spPr>
          <a:xfrm>
            <a:off x="5989320" y="2103120"/>
            <a:ext cx="5715000" cy="1234440"/>
          </a:xfrm>
          <a:prstGeom prst="roundRect">
            <a:avLst>
              <a:gd name="adj" fmla="val 5926"/>
            </a:avLst>
          </a:prstGeom>
          <a:solidFill>
            <a:srgbClr val="FFFFFF"/>
          </a:solidFill>
          <a:ln w="12700">
            <a:solidFill>
              <a:srgbClr val="D8E0EA"/>
            </a:solidFill>
            <a:prstDash val="solid"/>
          </a:ln>
        </p:spPr>
      </p:sp>
      <p:sp>
        <p:nvSpPr>
          <p:cNvPr id="26" name="Shape 23"/>
          <p:cNvSpPr/>
          <p:nvPr/>
        </p:nvSpPr>
        <p:spPr>
          <a:xfrm>
            <a:off x="6144768" y="2304288"/>
            <a:ext cx="868680" cy="822960"/>
          </a:xfrm>
          <a:prstGeom prst="roundRect">
            <a:avLst>
              <a:gd name="adj" fmla="val 11111"/>
            </a:avLst>
          </a:prstGeom>
          <a:solidFill>
            <a:srgbClr val="F67D4B"/>
          </a:solidFill>
          <a:ln w="12700">
            <a:solidFill>
              <a:srgbClr val="F67D4B">
                <a:alpha val="0"/>
              </a:srgbClr>
            </a:solidFill>
            <a:prstDash val="solid"/>
          </a:ln>
        </p:spPr>
      </p:sp>
      <p:sp>
        <p:nvSpPr>
          <p:cNvPr id="27" name="Text 24"/>
          <p:cNvSpPr/>
          <p:nvPr/>
        </p:nvSpPr>
        <p:spPr>
          <a:xfrm>
            <a:off x="6144768" y="23042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01</a:t>
            </a:r>
            <a:endParaRPr lang="en-US" sz="2200" dirty="0"/>
          </a:p>
        </p:txBody>
      </p:sp>
      <p:sp>
        <p:nvSpPr>
          <p:cNvPr id="28" name="Text 25"/>
          <p:cNvSpPr/>
          <p:nvPr/>
        </p:nvSpPr>
        <p:spPr>
          <a:xfrm>
            <a:off x="7178040" y="22860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Close out the 3CX project</a:t>
            </a:r>
            <a:endParaRPr lang="en-US" sz="1500" dirty="0"/>
          </a:p>
        </p:txBody>
      </p:sp>
      <p:sp>
        <p:nvSpPr>
          <p:cNvPr id="29" name="Text 26"/>
          <p:cNvSpPr/>
          <p:nvPr/>
        </p:nvSpPr>
        <p:spPr>
          <a:xfrm>
            <a:off x="7178040" y="26700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 help get the phone-and-firewall cutover clean — scoped on its own, a real read on how we work.</a:t>
            </a:r>
            <a:endParaRPr lang="en-US" sz="1050" dirty="0"/>
          </a:p>
        </p:txBody>
      </p:sp>
      <p:sp>
        <p:nvSpPr>
          <p:cNvPr id="30" name="Shape 27"/>
          <p:cNvSpPr/>
          <p:nvPr/>
        </p:nvSpPr>
        <p:spPr>
          <a:xfrm>
            <a:off x="5989320" y="3474720"/>
            <a:ext cx="5715000" cy="1234440"/>
          </a:xfrm>
          <a:prstGeom prst="roundRect">
            <a:avLst>
              <a:gd name="adj" fmla="val 5926"/>
            </a:avLst>
          </a:prstGeom>
          <a:solidFill>
            <a:srgbClr val="FFFFFF"/>
          </a:solidFill>
          <a:ln w="12700">
            <a:solidFill>
              <a:srgbClr val="D8E0EA"/>
            </a:solidFill>
            <a:prstDash val="solid"/>
          </a:ln>
        </p:spPr>
      </p:sp>
      <p:sp>
        <p:nvSpPr>
          <p:cNvPr id="31" name="Shape 28"/>
          <p:cNvSpPr/>
          <p:nvPr/>
        </p:nvSpPr>
        <p:spPr>
          <a:xfrm>
            <a:off x="6144768" y="3675888"/>
            <a:ext cx="868680" cy="822960"/>
          </a:xfrm>
          <a:prstGeom prst="roundRect">
            <a:avLst>
              <a:gd name="adj" fmla="val 11111"/>
            </a:avLst>
          </a:prstGeom>
          <a:solidFill>
            <a:srgbClr val="006DB6"/>
          </a:solidFill>
          <a:ln w="12700">
            <a:solidFill>
              <a:srgbClr val="006DB6">
                <a:alpha val="0"/>
              </a:srgbClr>
            </a:solidFill>
            <a:prstDash val="solid"/>
          </a:ln>
        </p:spPr>
      </p:sp>
      <p:sp>
        <p:nvSpPr>
          <p:cNvPr id="32" name="Text 29"/>
          <p:cNvSpPr/>
          <p:nvPr/>
        </p:nvSpPr>
        <p:spPr>
          <a:xfrm>
            <a:off x="6144768" y="36758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02</a:t>
            </a:r>
            <a:endParaRPr lang="en-US" sz="2200" dirty="0"/>
          </a:p>
        </p:txBody>
      </p:sp>
      <p:sp>
        <p:nvSpPr>
          <p:cNvPr id="33" name="Text 30"/>
          <p:cNvSpPr/>
          <p:nvPr/>
        </p:nvSpPr>
        <p:spPr>
          <a:xfrm>
            <a:off x="7178040" y="36576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Free Nexus Assess</a:t>
            </a:r>
            <a:endParaRPr lang="en-US" sz="1500" dirty="0"/>
          </a:p>
        </p:txBody>
      </p:sp>
      <p:sp>
        <p:nvSpPr>
          <p:cNvPr id="34" name="Text 31"/>
          <p:cNvSpPr/>
          <p:nvPr/>
        </p:nvSpPr>
        <p:spPr>
          <a:xfrm>
            <a:off x="7178040" y="40416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We scan and review, then hand you a plain-language, prioritized risk roadmap.</a:t>
            </a:r>
            <a:endParaRPr lang="en-US" sz="1050" dirty="0"/>
          </a:p>
        </p:txBody>
      </p:sp>
      <p:sp>
        <p:nvSpPr>
          <p:cNvPr id="35" name="Shape 32"/>
          <p:cNvSpPr/>
          <p:nvPr/>
        </p:nvSpPr>
        <p:spPr>
          <a:xfrm>
            <a:off x="5989320" y="4846320"/>
            <a:ext cx="5715000" cy="1234440"/>
          </a:xfrm>
          <a:prstGeom prst="roundRect">
            <a:avLst>
              <a:gd name="adj" fmla="val 5926"/>
            </a:avLst>
          </a:prstGeom>
          <a:solidFill>
            <a:srgbClr val="FFFFFF"/>
          </a:solidFill>
          <a:ln w="12700">
            <a:solidFill>
              <a:srgbClr val="D8E0EA"/>
            </a:solidFill>
            <a:prstDash val="solid"/>
          </a:ln>
        </p:spPr>
      </p:sp>
      <p:sp>
        <p:nvSpPr>
          <p:cNvPr id="36" name="Shape 33"/>
          <p:cNvSpPr/>
          <p:nvPr/>
        </p:nvSpPr>
        <p:spPr>
          <a:xfrm>
            <a:off x="6144768" y="5047488"/>
            <a:ext cx="868680" cy="822960"/>
          </a:xfrm>
          <a:prstGeom prst="roundRect">
            <a:avLst>
              <a:gd name="adj" fmla="val 11111"/>
            </a:avLst>
          </a:prstGeom>
          <a:solidFill>
            <a:srgbClr val="1EAAC8"/>
          </a:solidFill>
          <a:ln w="12700">
            <a:solidFill>
              <a:srgbClr val="1EAAC8">
                <a:alpha val="0"/>
              </a:srgbClr>
            </a:solidFill>
            <a:prstDash val="solid"/>
          </a:ln>
        </p:spPr>
      </p:sp>
      <p:sp>
        <p:nvSpPr>
          <p:cNvPr id="37" name="Text 34"/>
          <p:cNvSpPr/>
          <p:nvPr/>
        </p:nvSpPr>
        <p:spPr>
          <a:xfrm>
            <a:off x="6144768" y="5047488"/>
            <a:ext cx="86868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03</a:t>
            </a:r>
            <a:endParaRPr lang="en-US" sz="2200" dirty="0"/>
          </a:p>
        </p:txBody>
      </p:sp>
      <p:sp>
        <p:nvSpPr>
          <p:cNvPr id="38" name="Text 35"/>
          <p:cNvSpPr/>
          <p:nvPr/>
        </p:nvSpPr>
        <p:spPr>
          <a:xfrm>
            <a:off x="7178040" y="5029200"/>
            <a:ext cx="4389120" cy="365760"/>
          </a:xfrm>
          <a:prstGeom prst="rect">
            <a:avLst/>
          </a:prstGeom>
          <a:noFill/>
          <a:ln/>
        </p:spPr>
        <p:txBody>
          <a:bodyPr wrap="square" lIns="0" tIns="0" rIns="0" bIns="0" rtlCol="0" anchor="ctr"/>
          <a:lstStyle/>
          <a:p>
            <a:pPr indent="0" marL="0">
              <a:buNone/>
            </a:pPr>
            <a:r>
              <a:rPr lang="en-US" sz="1500" b="1" dirty="0">
                <a:solidFill>
                  <a:srgbClr val="1A1A2E"/>
                </a:solidFill>
                <a:latin typeface="Arial" pitchFamily="34" charset="0"/>
                <a:ea typeface="Arial" pitchFamily="34" charset="-122"/>
                <a:cs typeface="Arial" pitchFamily="34" charset="-120"/>
              </a:rPr>
              <a:t>Right-sized co-managed proposal</a:t>
            </a:r>
            <a:endParaRPr lang="en-US" sz="1500" dirty="0"/>
          </a:p>
        </p:txBody>
      </p:sp>
      <p:sp>
        <p:nvSpPr>
          <p:cNvPr id="39" name="Text 36"/>
          <p:cNvSpPr/>
          <p:nvPr/>
        </p:nvSpPr>
        <p:spPr>
          <a:xfrm>
            <a:off x="7178040" y="5413248"/>
            <a:ext cx="4434840" cy="594360"/>
          </a:xfrm>
          <a:prstGeom prst="rect">
            <a:avLst/>
          </a:prstGeom>
          <a:noFill/>
          <a:ln/>
        </p:spPr>
        <p:txBody>
          <a:bodyPr wrap="square" lIns="0" tIns="0" rIns="0" bIns="0" rtlCol="0" anchor="t"/>
          <a:lstStyle/>
          <a:p>
            <a:pPr indent="0" marL="0">
              <a:buNone/>
            </a:pPr>
            <a:r>
              <a:rPr lang="en-US" sz="1050" dirty="0">
                <a:solidFill>
                  <a:srgbClr val="334155"/>
                </a:solidFill>
                <a:latin typeface="Arial" pitchFamily="34" charset="0"/>
                <a:ea typeface="Arial" pitchFamily="34" charset="-122"/>
                <a:cs typeface="Arial" pitchFamily="34" charset="-120"/>
              </a:rPr>
              <a:t>Only the layers you want, scoped to your real environment, education pricing where eligible.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6DB6"/>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2E">
              <a:alpha val="30000"/>
            </a:srgbClr>
          </a:solidFill>
          <a:ln w="12700">
            <a:solidFill>
              <a:srgbClr val="1A1A2E">
                <a:alpha val="0"/>
              </a:srgbClr>
            </a:solidFill>
            <a:prstDash val="solid"/>
          </a:ln>
        </p:spPr>
      </p:sp>
      <p:sp>
        <p:nvSpPr>
          <p:cNvPr id="3" name="Shape 1"/>
          <p:cNvSpPr/>
          <p:nvPr/>
        </p:nvSpPr>
        <p:spPr>
          <a:xfrm>
            <a:off x="8686800" y="-914400"/>
            <a:ext cx="4572000" cy="4572000"/>
          </a:xfrm>
          <a:prstGeom prst="ellipse">
            <a:avLst/>
          </a:prstGeom>
          <a:solidFill>
            <a:srgbClr val="1EAAC8">
              <a:alpha val="12000"/>
            </a:srgbClr>
          </a:solidFill>
          <a:ln w="12700">
            <a:solidFill>
              <a:srgbClr val="1EAAC8">
                <a:alpha val="0"/>
              </a:srgbClr>
            </a:solidFill>
            <a:prstDash val="solid"/>
          </a:ln>
        </p:spPr>
      </p:sp>
      <p:sp>
        <p:nvSpPr>
          <p:cNvPr id="4" name="Shape 2"/>
          <p:cNvSpPr/>
          <p:nvPr/>
        </p:nvSpPr>
        <p:spPr>
          <a:xfrm>
            <a:off x="0" y="0"/>
            <a:ext cx="12188952" cy="164592"/>
          </a:xfrm>
          <a:prstGeom prst="rect">
            <a:avLst/>
          </a:prstGeom>
          <a:solidFill>
            <a:srgbClr val="F67D4B"/>
          </a:solidFill>
          <a:ln w="12700">
            <a:solidFill>
              <a:srgbClr val="F67D4B">
                <a:alpha val="0"/>
              </a:srgbClr>
            </a:solidFill>
            <a:prstDash val="solid"/>
          </a:ln>
        </p:spPr>
      </p:sp>
      <p:pic>
        <p:nvPicPr>
          <p:cNvPr id="5" name="Image 0" descr="C:/vscode/tech-branding/tech-branding/Clients/SFC/assets/Technijian Logo - white text.png">    </p:cNvPr>
          <p:cNvPicPr>
            <a:picLocks noChangeAspect="1"/>
          </p:cNvPicPr>
          <p:nvPr/>
        </p:nvPicPr>
        <p:blipFill>
          <a:blip r:embed="rId1"/>
          <a:stretch>
            <a:fillRect/>
          </a:stretch>
        </p:blipFill>
        <p:spPr>
          <a:xfrm>
            <a:off x="502920" y="365760"/>
            <a:ext cx="2011680" cy="420942"/>
          </a:xfrm>
          <a:prstGeom prst="rect">
            <a:avLst/>
          </a:prstGeom>
        </p:spPr>
      </p:pic>
      <p:sp>
        <p:nvSpPr>
          <p:cNvPr id="6" name="Text 3"/>
          <p:cNvSpPr/>
          <p:nvPr/>
        </p:nvSpPr>
        <p:spPr>
          <a:xfrm>
            <a:off x="502920" y="960120"/>
            <a:ext cx="5486400" cy="27432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THE NEXT STEP</a:t>
            </a:r>
            <a:endParaRPr lang="en-US" sz="1000" dirty="0"/>
          </a:p>
        </p:txBody>
      </p:sp>
      <p:sp>
        <p:nvSpPr>
          <p:cNvPr id="7" name="Text 4"/>
          <p:cNvSpPr/>
          <p:nvPr/>
        </p:nvSpPr>
        <p:spPr>
          <a:xfrm>
            <a:off x="502920" y="123444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Two small steps. </a:t>
            </a:r>
            <a:pPr indent="0" marL="0">
              <a:buNone/>
            </a:pPr>
            <a:r>
              <a:rPr lang="en-US" sz="3400" b="1" dirty="0">
                <a:solidFill>
                  <a:srgbClr val="F67D4B"/>
                </a:solidFill>
                <a:latin typeface="Arial" pitchFamily="34" charset="0"/>
                <a:ea typeface="Arial" pitchFamily="34" charset="-122"/>
                <a:cs typeface="Arial" pitchFamily="34" charset="-120"/>
              </a:rPr>
              <a:t>Nothing to sign.</a:t>
            </a:r>
            <a:endParaRPr lang="en-US" sz="3400" dirty="0"/>
          </a:p>
        </p:txBody>
      </p:sp>
      <p:sp>
        <p:nvSpPr>
          <p:cNvPr id="8" name="Shape 5"/>
          <p:cNvSpPr/>
          <p:nvPr/>
        </p:nvSpPr>
        <p:spPr>
          <a:xfrm>
            <a:off x="502920" y="2331720"/>
            <a:ext cx="5577840" cy="2560320"/>
          </a:xfrm>
          <a:prstGeom prst="roundRect">
            <a:avLst>
              <a:gd name="adj" fmla="val 2857"/>
            </a:avLst>
          </a:prstGeom>
          <a:solidFill>
            <a:srgbClr val="FFFFFF">
              <a:alpha val="12000"/>
            </a:srgbClr>
          </a:solidFill>
          <a:ln w="12700">
            <a:solidFill>
              <a:srgbClr val="1EAAC8"/>
            </a:solidFill>
            <a:prstDash val="solid"/>
          </a:ln>
        </p:spPr>
      </p:sp>
      <p:sp>
        <p:nvSpPr>
          <p:cNvPr id="9" name="Text 6"/>
          <p:cNvSpPr/>
          <p:nvPr/>
        </p:nvSpPr>
        <p:spPr>
          <a:xfrm>
            <a:off x="731520" y="2468880"/>
            <a:ext cx="5120640" cy="228600"/>
          </a:xfrm>
          <a:prstGeom prst="rect">
            <a:avLst/>
          </a:prstGeom>
          <a:noFill/>
          <a:ln/>
        </p:spPr>
        <p:txBody>
          <a:bodyPr wrap="square" lIns="0" tIns="0" rIns="0" bIns="0" rtlCol="0" anchor="ctr"/>
          <a:lstStyle/>
          <a:p>
            <a:pPr indent="0" marL="0">
              <a:buNone/>
            </a:pPr>
            <a:r>
              <a:rPr lang="en-US" sz="1000" b="1" dirty="0">
                <a:solidFill>
                  <a:srgbClr val="1EAAC8"/>
                </a:solidFill>
                <a:latin typeface="Arial" pitchFamily="34" charset="0"/>
                <a:ea typeface="Arial" pitchFamily="34" charset="-122"/>
                <a:cs typeface="Arial" pitchFamily="34" charset="-120"/>
              </a:rPr>
              <a:t>RECOMMENDED</a:t>
            </a:r>
            <a:endParaRPr lang="en-US" sz="1000" dirty="0"/>
          </a:p>
        </p:txBody>
      </p:sp>
      <p:sp>
        <p:nvSpPr>
          <p:cNvPr id="10" name="Text 7"/>
          <p:cNvSpPr/>
          <p:nvPr/>
        </p:nvSpPr>
        <p:spPr>
          <a:xfrm>
            <a:off x="731520" y="2697480"/>
            <a:ext cx="512064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Close the 3CX project + free Nexus Assess</a:t>
            </a:r>
            <a:endParaRPr lang="en-US" sz="1700" dirty="0"/>
          </a:p>
        </p:txBody>
      </p:sp>
      <p:sp>
        <p:nvSpPr>
          <p:cNvPr id="11" name="Text 8"/>
          <p:cNvSpPr/>
          <p:nvPr/>
        </p:nvSpPr>
        <p:spPr>
          <a:xfrm>
            <a:off x="731520" y="3291840"/>
            <a:ext cx="5120640" cy="1508760"/>
          </a:xfrm>
          <a:prstGeom prst="rect">
            <a:avLst/>
          </a:prstGeom>
          <a:noFill/>
          <a:ln/>
        </p:spPr>
        <p:txBody>
          <a:bodyPr wrap="square" lIns="0" tIns="0" rIns="0" bIns="0" rtlCol="0" anchor="t"/>
          <a:lstStyle/>
          <a:p>
            <a:pPr indent="0" marL="0">
              <a:buNone/>
            </a:pPr>
            <a:r>
              <a:rPr lang="en-US" sz="1200" dirty="0">
                <a:solidFill>
                  <a:srgbClr val="FFFFFF">
                    <a:alpha val="88000"/>
                  </a:srgbClr>
                </a:solidFill>
                <a:latin typeface="Arial" pitchFamily="34" charset="0"/>
                <a:ea typeface="Arial" pitchFamily="34" charset="-122"/>
                <a:cs typeface="Arial" pitchFamily="34" charset="-120"/>
              </a:rPr>
              <a:t>We help finish the phone-and-firewall cutover and scan your environment, then hand you a prioritized roadmap within about 10 business days — yours to keep, no contract, no obligation.</a:t>
            </a:r>
            <a:endParaRPr lang="en-US" sz="1200" dirty="0"/>
          </a:p>
        </p:txBody>
      </p:sp>
      <p:sp>
        <p:nvSpPr>
          <p:cNvPr id="12" name="Shape 9"/>
          <p:cNvSpPr/>
          <p:nvPr/>
        </p:nvSpPr>
        <p:spPr>
          <a:xfrm>
            <a:off x="6355080" y="2331720"/>
            <a:ext cx="5577840" cy="2560320"/>
          </a:xfrm>
          <a:prstGeom prst="roundRect">
            <a:avLst>
              <a:gd name="adj" fmla="val 2857"/>
            </a:avLst>
          </a:prstGeom>
          <a:solidFill>
            <a:srgbClr val="FFFFFF">
              <a:alpha val="12000"/>
            </a:srgbClr>
          </a:solidFill>
          <a:ln w="12700">
            <a:solidFill>
              <a:srgbClr val="F67D4B"/>
            </a:solidFill>
            <a:prstDash val="solid"/>
          </a:ln>
        </p:spPr>
      </p:sp>
      <p:sp>
        <p:nvSpPr>
          <p:cNvPr id="13" name="Text 10"/>
          <p:cNvSpPr/>
          <p:nvPr/>
        </p:nvSpPr>
        <p:spPr>
          <a:xfrm>
            <a:off x="6583680" y="2468880"/>
            <a:ext cx="5120640" cy="228600"/>
          </a:xfrm>
          <a:prstGeom prst="rect">
            <a:avLst/>
          </a:prstGeom>
          <a:noFill/>
          <a:ln/>
        </p:spPr>
        <p:txBody>
          <a:bodyPr wrap="square" lIns="0" tIns="0" rIns="0" bIns="0" rtlCol="0" anchor="ctr"/>
          <a:lstStyle/>
          <a:p>
            <a:pPr indent="0" marL="0">
              <a:buNone/>
            </a:pPr>
            <a:r>
              <a:rPr lang="en-US" sz="1000" b="1" dirty="0">
                <a:solidFill>
                  <a:srgbClr val="F67D4B"/>
                </a:solidFill>
                <a:latin typeface="Arial" pitchFamily="34" charset="0"/>
                <a:ea typeface="Arial" pitchFamily="34" charset="-122"/>
                <a:cs typeface="Arial" pitchFamily="34" charset="-120"/>
              </a:rPr>
              <a:t>HAPPY TO SHARE</a:t>
            </a:r>
            <a:endParaRPr lang="en-US" sz="1000" dirty="0"/>
          </a:p>
        </p:txBody>
      </p:sp>
      <p:sp>
        <p:nvSpPr>
          <p:cNvPr id="14" name="Text 11"/>
          <p:cNvSpPr/>
          <p:nvPr/>
        </p:nvSpPr>
        <p:spPr>
          <a:xfrm>
            <a:off x="6583680" y="2697480"/>
            <a:ext cx="5120640"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Our school security + AI playbook</a:t>
            </a:r>
            <a:endParaRPr lang="en-US" sz="1700" dirty="0"/>
          </a:p>
        </p:txBody>
      </p:sp>
      <p:sp>
        <p:nvSpPr>
          <p:cNvPr id="15" name="Text 12"/>
          <p:cNvSpPr/>
          <p:nvPr/>
        </p:nvSpPr>
        <p:spPr>
          <a:xfrm>
            <a:off x="6583680" y="3291840"/>
            <a:ext cx="5120640" cy="1508760"/>
          </a:xfrm>
          <a:prstGeom prst="rect">
            <a:avLst/>
          </a:prstGeom>
          <a:noFill/>
          <a:ln/>
        </p:spPr>
        <p:txBody>
          <a:bodyPr wrap="square" lIns="0" tIns="0" rIns="0" bIns="0" rtlCol="0" anchor="t"/>
          <a:lstStyle/>
          <a:p>
            <a:pPr indent="0" marL="0">
              <a:buNone/>
            </a:pPr>
            <a:r>
              <a:rPr lang="en-US" sz="1200" dirty="0">
                <a:solidFill>
                  <a:srgbClr val="FFFFFF">
                    <a:alpha val="88000"/>
                  </a:srgbClr>
                </a:solidFill>
                <a:latin typeface="Arial" pitchFamily="34" charset="0"/>
                <a:ea typeface="Arial" pitchFamily="34" charset="-122"/>
                <a:cs typeface="Arial" pitchFamily="34" charset="-120"/>
              </a:rPr>
              <a:t>I'll walk you through the broader security and practical-AI playbook we run for ourselves and our clients — useful context whether or not we work together.</a:t>
            </a:r>
            <a:endParaRPr lang="en-US" sz="1200" dirty="0"/>
          </a:p>
        </p:txBody>
      </p:sp>
      <p:sp>
        <p:nvSpPr>
          <p:cNvPr id="16" name="Shape 13"/>
          <p:cNvSpPr/>
          <p:nvPr/>
        </p:nvSpPr>
        <p:spPr>
          <a:xfrm>
            <a:off x="502920" y="5212080"/>
            <a:ext cx="11155680" cy="777240"/>
          </a:xfrm>
          <a:prstGeom prst="roundRect">
            <a:avLst>
              <a:gd name="adj" fmla="val 47059"/>
            </a:avLst>
          </a:prstGeom>
          <a:solidFill>
            <a:srgbClr val="F67D4B"/>
          </a:solidFill>
          <a:ln w="12700">
            <a:solidFill>
              <a:srgbClr val="F67D4B">
                <a:alpha val="0"/>
              </a:srgbClr>
            </a:solidFill>
            <a:prstDash val="solid"/>
          </a:ln>
        </p:spPr>
      </p:sp>
      <p:sp>
        <p:nvSpPr>
          <p:cNvPr id="17" name="Text 14"/>
          <p:cNvSpPr/>
          <p:nvPr/>
        </p:nvSpPr>
        <p:spPr>
          <a:xfrm>
            <a:off x="502920" y="5212080"/>
            <a:ext cx="11155680" cy="777240"/>
          </a:xfrm>
          <a:prstGeom prst="rect">
            <a:avLst/>
          </a:prstGeom>
          <a:noFill/>
          <a:ln/>
        </p:spPr>
        <p:txBody>
          <a:bodyPr wrap="square" lIns="0" tIns="0" rIns="0" bIns="0" rtlCol="0" anchor="ctr"/>
          <a:lstStyle/>
          <a:p>
            <a:pPr algn="ctr" indent="0" marL="0">
              <a:buNone/>
            </a:pPr>
            <a:r>
              <a:rPr lang="en-US" sz="1600" b="1" dirty="0">
                <a:solidFill>
                  <a:srgbClr val="FFFFFF"/>
                </a:solidFill>
              </a:rPr>
              <a:t>Let's start with your 3CX project   ·   </a:t>
            </a:r>
            <a:pPr algn="ctr" indent="0" marL="0">
              <a:buNone/>
            </a:pPr>
            <a:r>
              <a:rPr lang="en-US" sz="1400" dirty="0">
                <a:solidFill>
                  <a:srgbClr val="FFFFFF">
                    <a:alpha val="90000"/>
                  </a:srgbClr>
                </a:solidFill>
              </a:rPr>
              <a:t>rjain@technijian.com   ·   949.379.8499   ·   technijian.com</a:t>
            </a:r>
            <a:endParaRPr lang="en-US" sz="1600" dirty="0"/>
          </a:p>
        </p:txBody>
      </p:sp>
      <p:sp>
        <p:nvSpPr>
          <p:cNvPr id="18" name="Text 15"/>
          <p:cNvSpPr/>
          <p:nvPr/>
        </p:nvSpPr>
        <p:spPr>
          <a:xfrm>
            <a:off x="502920" y="6172200"/>
            <a:ext cx="11155680" cy="274320"/>
          </a:xfrm>
          <a:prstGeom prst="rect">
            <a:avLst/>
          </a:prstGeom>
          <a:noFill/>
          <a:ln/>
        </p:spPr>
        <p:txBody>
          <a:bodyPr wrap="square" lIns="0" tIns="0" rIns="0" bIns="0" rtlCol="0" anchor="ctr"/>
          <a:lstStyle/>
          <a:p>
            <a:pPr algn="ctr" indent="0" marL="0">
              <a:buNone/>
            </a:pPr>
            <a:r>
              <a:rPr lang="en-US" sz="1100" dirty="0">
                <a:solidFill>
                  <a:srgbClr val="FFFFFF">
                    <a:alpha val="65000"/>
                  </a:srgbClr>
                </a:solidFill>
                <a:latin typeface="Arial" pitchFamily="34" charset="0"/>
                <a:ea typeface="Arial" pitchFamily="34" charset="-122"/>
                <a:cs typeface="Arial" pitchFamily="34" charset="-120"/>
              </a:rPr>
              <a:t>18 Technology Dr. Ste 141, Irvine CA 92618  ·  Panchkula, India  ·  technology as a solution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Technijian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Technijian for Santa Fe Christian Schools</dc:title>
  <dc:subject>Technijian for Santa Fe Christian Schools — Managed IT, Security &amp; AI</dc:subject>
  <dc:creator>Technijian</dc:creator>
  <cp:lastModifiedBy>Technijian</cp:lastModifiedBy>
  <cp:revision>1</cp:revision>
  <dcterms:created xsi:type="dcterms:W3CDTF">2026-06-24T19:15:56Z</dcterms:created>
  <dcterms:modified xsi:type="dcterms:W3CDTF">2026-06-24T19:15:56Z</dcterms:modified>
</cp:coreProperties>
</file>