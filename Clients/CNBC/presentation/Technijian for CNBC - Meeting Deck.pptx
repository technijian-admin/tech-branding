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WARM. Thank Cheryl for returning the call and for her time. You're Ravi, you lead Technijian — Irvine-based, ~25 years, and you work with a lot of small, fully-remote teams. Frame today as a working conversation about securing her remote team and what it costs — NOT a hard sell. She's the Owner/CEO, she's not technical, and she's exploring. Keep it relaxed and plain-spoken.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six quick stops, ending on pricing and a no-commitment next step. Say it plainly: "I won't oversell a 7-person team — you'll leave knowing what you need and what it costs." Then hand her the wheel: "Anything you specifically want to make sure we cover?" Let her priorities reorder the talk if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notes back to show you listened. Confirm each number LIVE — still ~7 people? still CA/AZ/NY/MD? still no server, everything in Microsoft 365? Is the college intern still the only IT help? This is discovery, so correct anything wrong on the spot. Good probes: "What's eating the intern's time?" / "Has anything scared you on the security side lately?" / "Besides you, who weighs in on this decision?"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teaching moment, in plain English. The point: with no office and no server, there's no network to defend — so protection moves to two places, the LOGIN and the LAPTOP. Watch for the 'aha.' Avoid jargon. If she's nodding, move fast; if she looks puzzled, slow down on "the login is the new lock" — that's the idea everything else hangs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respectful — she likes and trusts the intern, and may feel protective. The message is NOT "fire the intern." It's: one part-time person can't watch 7 laptops across 4 time zones around the clock, and the knowledge walks out the door at graduation. Offer CO-MANAGED — we work alongside and even mentor the intern. That lowers her guilt and her sense of risk at the same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answers the question she came with. Walk the six layers briefly — don't lecture. Emphasize Layer 1 (MFA / identity) and Layer 5 (people / training) as the highest-leverage, lowest-cost wins. Call out Layer 4 in plain terms: "Microsoft 365 is not a backup — if a file is deleted or hit by ransomware, you need an independent copy." Tie every layer back to "works on each laptop, wherever it is — no office required."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— she does not need all five. Say: "You'd start with My IT + My Security; that's the core of what you asked for. The rest are here when you grow." Mention My Compliance only as the answer to "when a funder or board asks how you protect their data." Do NOT pitch My AI / SEO / Lead Gen unless she asks — wrong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value framing for HER business. She sells trust to nonprofits; a breach of donor or grant data isn't just downtime, it's existential to her brand. More funders and boards now ask consultants how they protect data — being able to say "we're professionally secured" wins and keeps work. Use this to flip security from a cost into a competitive advantage she can talk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She explicitly asked for pricing — so deliver, but keep control of the framing. Walk the itemized per-person stack so the number feels EARNED, not pulled from the air. Land on about $90 per user — roughly $630 a month for all seven. Then immediately add: "That's an estimate using our standard small-business packages — the same way we price other 7-person teams. Your fixed quote comes after a free 30-minute assessment, and nonprofit Microsoft 365 licensing (often free or deeply discounted) brings it down further." If she pushes for an exact number: "Give me 30 minutes to look at your setup and I'll put a fixed number in writing." NEVER discuss our cost basis or how we staff it — only her investment. (Source: standard desktop $26.50 + email/Inky $4.75 + M365 backup $4.00 + training $6.00 + ~$46 managed help-desk per person, + $20/mo domain monitoring.)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Lower the stakes. The only thing you're asking for today is Step 2 — a free 30-minute assessment. Everything after is gated and reversible. Reassure on speed: "We secure identities and laptops first, in days — you'd feel safer inside the first week." Reassure on the intern: we can run alongside them. No long lock-in talk; this is about earning the next small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ONE thing: book the free remote-security assessment. Offer the 1-page secure-remote-team checklist as a give-away no matter what — it keeps goodwill if she's not ready to decide. Confirm the best email to send things to and propose a specific time this week. End warm, zero pressure. Then send a short recap email TODAY with your signature and the booking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-914400"/>
            <a:ext cx="4572000" cy="4572000"/>
          </a:xfrm>
          <a:prstGeom prst="ellipse">
            <a:avLst/>
          </a:prstGeom>
          <a:solidFill>
            <a:srgbClr val="1EAAC8">
              <a:alpha val="12000"/>
            </a:srgbClr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4572000"/>
            <a:ext cx="4572000" cy="4572000"/>
          </a:xfrm>
          <a:prstGeom prst="ellipse">
            <a:avLst/>
          </a:prstGeom>
          <a:solidFill>
            <a:srgbClr val="F67D4B">
              <a:alpha val="8000"/>
            </a:srgbClr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pic>
        <p:nvPicPr>
          <p:cNvPr id="6" name="Image 0" descr="C:/vscode/tech-branding/tech-branding/assets/Technijian Logo -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468880" cy="51650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601200" y="868680"/>
            <a:ext cx="1920240" cy="292608"/>
          </a:xfrm>
          <a:prstGeom prst="roundRect">
            <a:avLst>
              <a:gd name="adj" fmla="val 12500"/>
            </a:avLst>
          </a:prstGeom>
          <a:solidFill>
            <a:srgbClr val="1A1A2E">
              <a:alpha val="70000"/>
            </a:srgbClr>
          </a:solidFill>
          <a:ln w="12700">
            <a:solidFill>
              <a:srgbClr val="1EAAC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0" y="8686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CNBC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640080" y="21031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640080" y="29718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Creative Nonprofit Business Consultants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640080" y="37947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Securing a fully remote team — wherever your people log in.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40080" y="4754880"/>
            <a:ext cx="10881360" cy="16459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4892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briefing  |  Ravi Jain ↔ Cheryl Taylor (Owner &amp; CEO)  |  Fri 2026-06-05  |  1:00 PM PT  | 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52303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Cybersecurity for a distributed, cloud-only nonprofit consultancy  ·  7 people  ·  4 states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5559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Technology Dr. Ste 141, Irvine CA 92618  ·  technijian.com  ·  949.379.8499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pic>
        <p:nvPicPr>
          <p:cNvPr id="3" name="Image 0" descr="C:/vscode/tech-branding/tech-branding/assets/Technijian Logo 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"/>
            <a:ext cx="1600200" cy="3347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107899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we'd like to cover today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 conversation, not a hard pitch. You wanted to understand cybersecurity for a remote team, and pricing — so that's where we'll spend the time.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Creative Nonprofit Business Consultants  |  2026-06-05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214884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148840"/>
            <a:ext cx="3657600" cy="9144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GOAL TODAY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13232" y="278892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you a clear, plain-language picture of how a 7-person, fully remote team gets secured — and what it costs — so you can decide your next step with no pressure.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3232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AAC8"/>
                </a:solidFill>
              </a:rPr>
              <a:t>You bring the questions.
</a:t>
            </a:r>
            <a:pPr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We bring straight answers — and we won't oversell a team your size.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389120" y="21945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891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5074920" y="217627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heard from you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074920" y="2441448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people, 4 states, no server, intern-run IT — said back to make sure we got it right.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89120" y="2871216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389120" y="2871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5074920" y="285292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remote is a different security problem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074920" y="3118104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there's no office network, the rules change. In plain terms.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389120" y="3547872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389120" y="3547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074920" y="352958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secure a fully remote team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5074920" y="379476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six layers that protect each laptop and login — no server required.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389120" y="4224528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38912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5074920" y="42062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managed IT + security looks like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5074920" y="4471416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Technijian services, right-sized to a small nonprofit consultancy.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389120" y="4901184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89120" y="4901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5074920" y="488289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— real numbers for seven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5074920" y="5148072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price, what 7 users runs, nonprofit savings, and the path to a firm quote.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389120" y="557784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389120" y="5577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38" name="Text 35"/>
          <p:cNvSpPr/>
          <p:nvPr/>
        </p:nvSpPr>
        <p:spPr>
          <a:xfrm>
            <a:off x="5074920" y="55595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5074920" y="5824728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free, no-commitment security assessment of your setup.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pic>
        <p:nvPicPr>
          <p:cNvPr id="3" name="Image 0" descr="C:/vscode/tech-branding/tech-branding/assets/Technijian Logo 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"/>
            <a:ext cx="1600200" cy="3347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HEARD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107899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situation, said back to you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conversation with Jannea and Sierra. If we got anything wrong, today's the time to fix it.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Creative Nonprofit Business Consultants  |  2026-06-05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214884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2267712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594360" y="2889504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 &amp; LAPTOPS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300984" y="214884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300984" y="2267712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3392424" y="2889504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STATES  ·  CA AZ NY MD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99048" y="214884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099048" y="2267712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6190488" y="2889504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 SERVERS (CLOUD-ONLY)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897112" y="214884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897112" y="2267712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8988552" y="2889504"/>
            <a:ext cx="2432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 RUNNING IT TODAY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02920" y="3611880"/>
            <a:ext cx="1120140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2920" y="3611880"/>
            <a:ext cx="109728" cy="2560320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" y="37947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THAT MEANS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77240" y="411480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</a:rPr>
              <a:t>Fully remote, no office network. </a:t>
            </a:r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Laptops in California, Arizona, New York, and Maryland — nothing tying them together but the cloud. You and your admin assistant work from a small office; everyone else is distributed.
</a:t>
            </a:r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</a:rPr>
              <a:t>Cloud-only. </a:t>
            </a:r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No server to defend — your work lives in Microsoft 365 and on each individual laptop. That changes where security has to live.
</a:t>
            </a:r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</a:rPr>
              <a:t>Cybersecurity is the priority — and there's no IT provider yet. </a:t>
            </a:r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 college intern has carried IT so far. You want professional protection for a distributed team, and a clear answer on what it costs.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pic>
        <p:nvPicPr>
          <p:cNvPr id="3" name="Image 0" descr="C:/vscode/tech-branding/tech-branding/assets/Technijian Logo 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"/>
            <a:ext cx="1600200" cy="3347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IDEA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107899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there's no office, every laptop is the front door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fully remote, cloud-only team isn't a smaller version of an office — it's a different shape. Here's why, in plain terms.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Creative Nonprofit Business Consultants  |  2026-06-05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2103120"/>
            <a:ext cx="2606040" cy="41148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103120"/>
            <a:ext cx="2606040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22860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old model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67512" y="25786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(what you don't have)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3026664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0392" y="2971800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office with one network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5800" y="3648456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50392" y="359359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firewall at the door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85800" y="4270248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50392" y="4215384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server in a closet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4892040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50392" y="483717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staff down the hall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" y="5513832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50392" y="5458968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behind one wall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291840" y="2103120"/>
            <a:ext cx="2606040" cy="41148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91840" y="2103120"/>
            <a:ext cx="2606040" cy="9144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56432" y="22860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reality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3456432" y="25786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(remote-first)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474720" y="3026664"/>
            <a:ext cx="91440" cy="91440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639312" y="2971800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laptops, 7 home networks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474720" y="3648456"/>
            <a:ext cx="91440" cy="91440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639312" y="359359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states, multiple time zones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3474720" y="4270248"/>
            <a:ext cx="91440" cy="91440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639312" y="4215384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in Microsoft 365 / the cloud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474720" y="4892040"/>
            <a:ext cx="91440" cy="91440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639312" y="483717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login = the keys to everything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3474720" y="5513832"/>
            <a:ext cx="91440" cy="91440"/>
          </a:xfrm>
          <a:prstGeom prst="ellipse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639312" y="5458968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wall — each device on its own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199632" y="2103120"/>
            <a:ext cx="5504688" cy="1261872"/>
          </a:xfrm>
          <a:prstGeom prst="roundRect">
            <a:avLst>
              <a:gd name="adj" fmla="val 5797"/>
            </a:avLst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355080" y="228600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355080" y="2286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42" name="Text 39"/>
          <p:cNvSpPr/>
          <p:nvPr/>
        </p:nvSpPr>
        <p:spPr>
          <a:xfrm>
            <a:off x="7178040" y="226771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perimeter is gone</a:t>
            </a:r>
            <a:endParaRPr lang="en-US" sz="1400" dirty="0"/>
          </a:p>
        </p:txBody>
      </p:sp>
      <p:sp>
        <p:nvSpPr>
          <p:cNvPr id="43" name="Text 40"/>
          <p:cNvSpPr/>
          <p:nvPr/>
        </p:nvSpPr>
        <p:spPr>
          <a:xfrm>
            <a:off x="7178040" y="256032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There's no office wall to hide behind. Each laptop is exposed on its own home or coffee-shop Wi-Fi — so protection has to live on the device itself.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199632" y="3493008"/>
            <a:ext cx="5504688" cy="1261872"/>
          </a:xfrm>
          <a:prstGeom prst="roundRect">
            <a:avLst>
              <a:gd name="adj" fmla="val 5797"/>
            </a:avLst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355080" y="3675888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355080" y="36758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47" name="Text 44"/>
          <p:cNvSpPr/>
          <p:nvPr/>
        </p:nvSpPr>
        <p:spPr>
          <a:xfrm>
            <a:off x="7178040" y="3657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login is the new lock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7178040" y="39502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Whoever controls your Microsoft 365 sign-in controls your data. Securing that login — with MFA and access rules — is job number one.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6199632" y="4882896"/>
            <a:ext cx="5504688" cy="1261872"/>
          </a:xfrm>
          <a:prstGeom prst="roundRect">
            <a:avLst>
              <a:gd name="adj" fmla="val 5797"/>
            </a:avLst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355080" y="5065776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355080" y="506577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52" name="Text 49"/>
          <p:cNvSpPr/>
          <p:nvPr/>
        </p:nvSpPr>
        <p:spPr>
          <a:xfrm>
            <a:off x="7178040" y="504748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Protection must be remote-native</a:t>
            </a:r>
            <a:endParaRPr lang="en-US" sz="1400" dirty="0"/>
          </a:p>
        </p:txBody>
      </p:sp>
      <p:sp>
        <p:nvSpPr>
          <p:cNvPr id="53" name="Text 50"/>
          <p:cNvSpPr/>
          <p:nvPr/>
        </p:nvSpPr>
        <p:spPr>
          <a:xfrm>
            <a:off x="7178040" y="5340096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that assume a server or an office don't fit you. Yours have to reach every laptop over the internet and manage it automatically.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pic>
        <p:nvPicPr>
          <p:cNvPr id="3" name="Image 0" descr="C:/vscode/tech-branding/tech-branding/assets/Technijian Logo 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"/>
            <a:ext cx="1600200" cy="3347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TODAY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107899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intern got you here. Securing a distributed team is a team sport.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isn't a knock on your intern — it's that protecting 7 laptops across 4 time zones, around the clock, is more than any one person can carry.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Creative Nonprofit Business Consultants  |  2026-06-05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2148840"/>
            <a:ext cx="548640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148840"/>
            <a:ext cx="5486400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233172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FOR ONE PERSON — THROUGH NO FAULT OF THEIRS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67512" y="255117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intern can't cover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67512" y="3017520"/>
            <a:ext cx="5157216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24/7 monitoring across multiple time zones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After-hours and weekend incident response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 documented, repeatable security baseline applied the same way to every laptop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Accountability — guaranteed response times, and insurance behind the work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Continuity when they graduate or move on — today the knowledge lives in one head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199632" y="2148840"/>
            <a:ext cx="548640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2148840"/>
            <a:ext cx="5486400" cy="91440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64224" y="233172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 WITH A MANAGED PARTNER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364224" y="255117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team adds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364224" y="3017520"/>
            <a:ext cx="5157216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 credentialed team and a 24/7 Security Operations Center behind every laptop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Written security standards, applied consistently to all 7 devices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One number to call — with defined, guaranteed response times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Knowledge that stays — documented and owned by us, not stuck in one person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We can mentor your intern alongside us (co-managed), so they grow with you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pic>
        <p:nvPicPr>
          <p:cNvPr id="3" name="Image 0" descr="C:/vscode/tech-branding/tech-branding/assets/Technijian Logo 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"/>
            <a:ext cx="1600200" cy="3347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TO YOUR QUESTION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107899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secure a fully remote team — no server required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layers that travel with each person, wherever they log in. This is exactly what you asked us to explain.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Creative Nonprofit Business Consultants  |  2026-06-05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21031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103120"/>
            <a:ext cx="3611880" cy="91440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22860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01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67512" y="250545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&amp; access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67512" y="2889504"/>
            <a:ext cx="32826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Multi-factor authentication on every login, smart access rules, and hardened Microsoft 365 sign-ins. The login is the new perimeter — we lock it down first.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06824" y="21031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06824" y="2103120"/>
            <a:ext cx="3611880" cy="9144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71416" y="22860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02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471416" y="250545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device protected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471416" y="2889504"/>
            <a:ext cx="32826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antivirus + threat detection on all 7 laptops, disk encryption, and automatic updates — enforced over the internet, no office visit needed.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21031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110728" y="2103120"/>
            <a:ext cx="3611880" cy="91440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75320" y="22860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03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75320" y="250545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&amp; web defense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275320" y="2889504"/>
            <a:ext cx="32826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Phishing and spam filtering, malicious-link protection, and safe web/DNS filtering. Most attacks arrive by email — we stop them before the click.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02920" y="42062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2920" y="4206240"/>
            <a:ext cx="3611880" cy="91440"/>
          </a:xfrm>
          <a:prstGeom prst="rect">
            <a:avLst/>
          </a:prstGeom>
          <a:solidFill>
            <a:srgbClr val="CBDB2D"/>
          </a:solidFill>
          <a:ln w="12700">
            <a:solidFill>
              <a:srgbClr val="CBDB2D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7512" y="438912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04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67512" y="460857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backup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67512" y="4992624"/>
            <a:ext cx="32826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Independent, ransomware-resilient backup of your Microsoft 365 data with fast recovery. The cloud by itself is not a backup.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06824" y="42062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306824" y="4206240"/>
            <a:ext cx="361188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71416" y="438912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05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471416" y="460857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people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471416" y="4992624"/>
            <a:ext cx="32826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security-awareness training and simulated phishing. Your team becomes your strongest layer instead of the weakest link.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8110728" y="42062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110728" y="4206240"/>
            <a:ext cx="3611880" cy="914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275320" y="438912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06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8275320" y="460857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Eyes on glass, 24/7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8275320" y="4992624"/>
            <a:ext cx="32826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Operations Center watching alerts around the clock, with a defined response when something looks wrong — across every time zone your team works in.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pic>
        <p:nvPicPr>
          <p:cNvPr id="3" name="Image 0" descr="C:/vscode/tech-branding/tech-branding/assets/Technijian Logo 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"/>
            <a:ext cx="1600200" cy="3347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TECHNIJIAN STACK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107899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services — you'd start with just the first two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works on its own. For a team your size, My IT + My Security is the foundation; the rest are here when you grow.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Creative Nonprofit Business Consultants  |  2026-06-05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210312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103120"/>
            <a:ext cx="3611880" cy="91440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22860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&amp; CO-MANAGED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67512" y="250545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IT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67512" y="2889504"/>
            <a:ext cx="32826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desk + monitoring + patching for your laptops and Microsoft 365. We can run it fully, or alongside your intern.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67512" y="3813048"/>
            <a:ext cx="3282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here.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306824" y="210312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06824" y="2103120"/>
            <a:ext cx="3611880" cy="9144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71416" y="22860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SOC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471416" y="250545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Security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471416" y="2889504"/>
            <a:ext cx="32826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EDR + email security + MFA-everywhere + 24/7 monitoring and response. This is the core of what you came to us for.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4471416" y="3813048"/>
            <a:ext cx="3282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here.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110728" y="210312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10728" y="2103120"/>
            <a:ext cx="3611880" cy="91440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75320" y="22860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CLIENTS ASK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8275320" y="250545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Compliance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8275320" y="2889504"/>
            <a:ext cx="32826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HIPAA, SOC 2, and more — evidence and guidance for when a funder or client asks how you protect their data.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02920" y="434340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" y="4343400"/>
            <a:ext cx="3611880" cy="91440"/>
          </a:xfrm>
          <a:prstGeom prst="rect">
            <a:avLst/>
          </a:prstGeom>
          <a:solidFill>
            <a:srgbClr val="CBDB2D"/>
          </a:solidFill>
          <a:ln w="12700">
            <a:solidFill>
              <a:srgbClr val="CBDB2D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67512" y="452628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SECURITY PLATFORM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67512" y="474573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Jian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67512" y="5129784"/>
            <a:ext cx="32826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Technijian-built monitoring that watches across your tools and produces a plain monthly security report.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306824" y="434340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306824" y="4343400"/>
            <a:ext cx="3611880" cy="914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71416" y="452628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YOU'RE READY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4471416" y="4745736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AI / My Dev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4471416" y="5129784"/>
            <a:ext cx="32826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AI and custom builds — a later conversation, only if and when it helps the mission.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pic>
        <p:nvPicPr>
          <p:cNvPr id="3" name="Image 0" descr="C:/vscode/tech-branding/tech-branding/assets/Technijian Logo 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"/>
            <a:ext cx="1600200" cy="3347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107899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firm that serves nonprofits, trust is the product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isn't overhead for CNBC — it's part of the credibility you sell to the organizations that rely on you.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Creative Nonprofit Business Consultants  |  2026-06-05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2103120"/>
            <a:ext cx="54864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103120"/>
            <a:ext cx="5486400" cy="9144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" y="250545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hold sensitive data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67512" y="2944368"/>
            <a:ext cx="51572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financials, grant and donor information, board materials. A breach there isn't just downtime — it's a hit to the trust your business runs on.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99632" y="2103120"/>
            <a:ext cx="54864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99632" y="2103120"/>
            <a:ext cx="5486400" cy="91440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64224" y="250545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clients are starting to ask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364224" y="2944368"/>
            <a:ext cx="51572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Funders, boards, and partners increasingly ask consultants “how do you protect our data?” A clear, confident answer helps you win and keep work.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54864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2920" y="3931920"/>
            <a:ext cx="5486400" cy="91440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" y="433425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Nonprofits are targeted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7512" y="4773168"/>
            <a:ext cx="51572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Attackers see mission-driven organizations — and the firms that serve them — as softer targets. Being the secure consultant is a real differentiator.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199632" y="3931920"/>
            <a:ext cx="54864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199632" y="3931920"/>
            <a:ext cx="5486400" cy="914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64224" y="4334256"/>
            <a:ext cx="5157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more with less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364224" y="4773168"/>
            <a:ext cx="51572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security gives a 7-person firm enterprise-grade protection without an enterprise budget — and gets you out of being the help desk.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5742432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5742432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Modeling good data stewardship isn't a cost for CNBC — it's part of the value you offer the nonprofits you serve.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pic>
        <p:nvPicPr>
          <p:cNvPr id="3" name="Image 0" descr="C:/vscode/tech-branding/tech-branding/assets/Technijian Logo 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"/>
            <a:ext cx="1600200" cy="3347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107899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costs — real numbers for seven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asked about cost, so here it is. This is how we price a team your size, using our standard small-business security packages. Your final, fixed quote is set after a free assessment.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Creative Nonprofit Business Consultants  |  2026-06-05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2103120"/>
            <a:ext cx="6858000" cy="37033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103120"/>
            <a:ext cx="6858000" cy="91440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230428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PROTECTS EACH PERSON  ·  PER MONTH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13232" y="2615184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security — EDR + threat detection + DNS filtering + patching + remote support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55080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$26.50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13232" y="3017520"/>
            <a:ext cx="6446520" cy="7315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3035808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security &amp; archiving (anti-phishing / anti-spam)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355080" y="303580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$4.75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13232" y="3438144"/>
            <a:ext cx="6446520" cy="7315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3232" y="3456432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365 cloud backup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355080" y="34564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13232" y="3858768"/>
            <a:ext cx="6446520" cy="7315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3877056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Security-awareness training (simulated phishing)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355080" y="387705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$6.00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13232" y="4279392"/>
            <a:ext cx="6446520" cy="7315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13232" y="429768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help desk &amp; 24/7 monitoring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355080" y="42976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~$46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13232" y="4700016"/>
            <a:ext cx="6446520" cy="7315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13232" y="47548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person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029200" y="475488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$87 / mo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713232" y="513892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Email-domain (DMARC/DKIM) monitoring — whole org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355080" y="5138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/ mo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713232" y="5468112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as you grow: encrypted email, advanced identity / single sign-on, deeper activity monitoring.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7543800" y="2103120"/>
            <a:ext cx="4160520" cy="3703320"/>
          </a:xfrm>
          <a:prstGeom prst="roundRect">
            <a:avLst>
              <a:gd name="adj" fmla="val 1975"/>
            </a:avLst>
          </a:prstGeom>
          <a:solidFill>
            <a:srgbClr val="1A1A2E"/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43800" y="2103120"/>
            <a:ext cx="4160520" cy="91440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754112" y="23042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ESTIMATE — ALL 7 USERS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7754112" y="25786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$630</a:t>
            </a:r>
            <a:endParaRPr lang="en-US" sz="4400" dirty="0"/>
          </a:p>
        </p:txBody>
      </p:sp>
      <p:sp>
        <p:nvSpPr>
          <p:cNvPr id="38" name="Text 35"/>
          <p:cNvSpPr/>
          <p:nvPr/>
        </p:nvSpPr>
        <p:spPr>
          <a:xfrm>
            <a:off x="7754112" y="3218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month  ·  about $90 / user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7754112" y="3529584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Microsoft 365 nonprofit licensing — often free or deeply discounted — lowers it further.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7754112" y="4114800"/>
            <a:ext cx="3703320" cy="9144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754112" y="4315968"/>
            <a:ext cx="91440" cy="91440"/>
          </a:xfrm>
          <a:prstGeom prst="ellipse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918704" y="426110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Flat, predictable monthly — one bundle, billed per person.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7754112" y="4773168"/>
            <a:ext cx="91440" cy="91440"/>
          </a:xfrm>
          <a:prstGeom prst="ellipse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918704" y="471830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line shown — nothing hidden, you approve the scope.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7754112" y="5230368"/>
            <a:ext cx="91440" cy="91440"/>
          </a:xfrm>
          <a:prstGeom prst="ellipse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918704" y="517550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quote in writing after a free 30-minute assessment.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estimate using our standard small-business security packages — the same way we price other 7-person teams. Final fixed monthly quote is set after a free assessment, and before nonprofit Microsoft 365 licensing.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pic>
        <p:nvPicPr>
          <p:cNvPr id="3" name="Image 0" descr="C:/vscode/tech-branding/tech-branding/assets/Technijian Logo 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"/>
            <a:ext cx="1600200" cy="3347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WE'D ENGAGE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02920" y="107899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first. Start small. No long lock-in.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155448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low-commitment path — a small first step that earns the right to the next one.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201400" cy="9144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6446520"/>
            <a:ext cx="11292840" cy="10973"/>
          </a:xfrm>
          <a:prstGeom prst="rect">
            <a:avLst/>
          </a:prstGeom>
          <a:solidFill>
            <a:srgbClr val="D8E0EA"/>
          </a:solidFill>
          <a:ln w="12700">
            <a:solidFill>
              <a:srgbClr val="D8E0E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6492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Technijian  |  For Creative Nonprofit Business Consultants  |  2026-06-05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55680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D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194560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502920" y="3291840"/>
            <a:ext cx="2670048" cy="2926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3291840"/>
            <a:ext cx="2670048" cy="54864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3474720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67512" y="3931920"/>
            <a:ext cx="2340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30-minute conversation (today). We learn your team, devices, and what matters most. No commitment.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7180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538728" y="2194560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38728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20" name="Shape 17"/>
          <p:cNvSpPr/>
          <p:nvPr/>
        </p:nvSpPr>
        <p:spPr>
          <a:xfrm>
            <a:off x="3355848" y="3291840"/>
            <a:ext cx="2670048" cy="2926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355848" y="3291840"/>
            <a:ext cx="2670048" cy="54864"/>
          </a:xfrm>
          <a:prstGeom prst="rect">
            <a:avLst/>
          </a:prstGeom>
          <a:solidFill>
            <a:srgbClr val="006DB6"/>
          </a:solidFill>
          <a:ln w="12700">
            <a:solidFill>
              <a:srgbClr val="006DB6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520440" y="3474720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security assessment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3520440" y="3931920"/>
            <a:ext cx="2340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review your Microsoft 365 setup and the 7 laptops, then hand you a plain-language risk snapshot — what's exposed, ranked.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824728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6391656" y="2194560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91656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27" name="Shape 24"/>
          <p:cNvSpPr/>
          <p:nvPr/>
        </p:nvSpPr>
        <p:spPr>
          <a:xfrm>
            <a:off x="6208776" y="3291840"/>
            <a:ext cx="2670048" cy="2926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208776" y="3291840"/>
            <a:ext cx="2670048" cy="54864"/>
          </a:xfrm>
          <a:prstGeom prst="rect">
            <a:avLst/>
          </a:prstGeom>
          <a:solidFill>
            <a:srgbClr val="1EAAC8"/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373368" y="3474720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quote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373368" y="3931920"/>
            <a:ext cx="2340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fixed, per-user monthly proposal with nonprofit licensing applied. Every line explained, nothing hidden.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77656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32" name="Shape 29"/>
          <p:cNvSpPr/>
          <p:nvPr/>
        </p:nvSpPr>
        <p:spPr>
          <a:xfrm>
            <a:off x="9244584" y="2194560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CBDB2D"/>
          </a:solidFill>
          <a:ln w="12700">
            <a:solidFill>
              <a:srgbClr val="CBDB2D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44584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34" name="Shape 31"/>
          <p:cNvSpPr/>
          <p:nvPr/>
        </p:nvSpPr>
        <p:spPr>
          <a:xfrm>
            <a:off x="9061704" y="3291840"/>
            <a:ext cx="2670048" cy="2926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61704" y="3291840"/>
            <a:ext cx="2670048" cy="54864"/>
          </a:xfrm>
          <a:prstGeom prst="rect">
            <a:avLst/>
          </a:prstGeom>
          <a:solidFill>
            <a:srgbClr val="CBDB2D"/>
          </a:solidFill>
          <a:ln w="12700">
            <a:solidFill>
              <a:srgbClr val="CBDB2D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26296" y="3474720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 &amp; protect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9226296" y="3931920"/>
            <a:ext cx="2340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secure identities and laptops first (days, not months), then settle into 24/7 managed protection — alongside your intern if you like.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6DB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>
              <a:alpha val="30000"/>
            </a:srgbClr>
          </a:solidFill>
          <a:ln w="12700">
            <a:solidFill>
              <a:srgbClr val="1A1A2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914400"/>
            <a:ext cx="4572000" cy="4572000"/>
          </a:xfrm>
          <a:prstGeom prst="ellipse">
            <a:avLst/>
          </a:prstGeom>
          <a:solidFill>
            <a:srgbClr val="1EAAC8">
              <a:alpha val="12000"/>
            </a:srgbClr>
          </a:solidFill>
          <a:ln w="12700">
            <a:solidFill>
              <a:srgbClr val="1EAAC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pic>
        <p:nvPicPr>
          <p:cNvPr id="5" name="Image 0" descr="C:/vscode/tech-branding/tech-branding/assets/Technijian Logo - white 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65760"/>
            <a:ext cx="2011680" cy="4208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344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next step. </a:t>
            </a:r>
            <a:pPr indent="0" marL="0">
              <a:buNone/>
            </a:pPr>
            <a:r>
              <a:rPr lang="en-US" sz="34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commitment.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502920" y="2331720"/>
            <a:ext cx="5577840" cy="2560320"/>
          </a:xfrm>
          <a:prstGeom prst="roundRect">
            <a:avLst>
              <a:gd name="adj" fmla="val 2857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1EAA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246888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A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31520" y="2697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remote-security assessment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31520" y="324612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8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review your Microsoft 365 and your 7 laptops, then come back with a plain-language risk snapshot and a fixed, per-user quote — with nonprofit pricing applied. You decide from there.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55080" y="2331720"/>
            <a:ext cx="5577840" cy="2560320"/>
          </a:xfrm>
          <a:prstGeom prst="roundRect">
            <a:avLst>
              <a:gd name="adj" fmla="val 2857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67D4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83680" y="246888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7D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KEEP THIS EITHER WAY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583680" y="2697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1-page secure-remote-team checklist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83680" y="324612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8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short, plain checklist of the protections every fully remote team should have — yours to keep and act on, whether or not we work together.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212080"/>
            <a:ext cx="11155680" cy="777240"/>
          </a:xfrm>
          <a:prstGeom prst="roundRect">
            <a:avLst>
              <a:gd name="adj" fmla="val 47059"/>
            </a:avLst>
          </a:prstGeom>
          <a:solidFill>
            <a:srgbClr val="F67D4B"/>
          </a:solidFill>
          <a:ln w="12700">
            <a:solidFill>
              <a:srgbClr val="F67D4B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52120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Book a 30-minute assessment   ·   </a:t>
            </a:r>
            <a:pPr algn="ctr" indent="0" marL="0">
              <a:buNone/>
            </a:pPr>
            <a:r>
              <a:rPr lang="en-US" sz="1400" dirty="0">
                <a:solidFill>
                  <a:srgbClr val="FFFFFF">
                    <a:alpha val="90000"/>
                  </a:srgbClr>
                </a:solidFill>
              </a:rPr>
              <a:t>rjain@technijian.com   ·   949.379.8499   ·   technijian.com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02920" y="61722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Technology Dr. Ste 141, Irvine CA 92618  ·  Securely supporting fully remote teams.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Technijian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Technijian for Creative Nonprofit Business Consultants</dc:title>
  <dc:subject>Technijian for Creative Nonprofit Business Consultants — Securing a Fully Remote Team</dc:subject>
  <dc:creator>Technijian</dc:creator>
  <cp:lastModifiedBy>Technijian</cp:lastModifiedBy>
  <cp:revision>1</cp:revision>
  <dcterms:created xsi:type="dcterms:W3CDTF">2026-06-04T17:49:12Z</dcterms:created>
  <dcterms:modified xsi:type="dcterms:W3CDTF">2026-06-04T17:49:12Z</dcterms:modified>
</cp:coreProperties>
</file>