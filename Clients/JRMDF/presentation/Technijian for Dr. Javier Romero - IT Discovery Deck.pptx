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 Dr. Romero booked this himself through technijian.com — thank him for reaching out and respect his time; he's a practicing surgeon. PREP CONTEXT (verify naturally, don't recite his CV at him): we believe he's the Ventura trauma / critical-care + minimally-invasive surgeon — Anacapa Surgical Associates, Director of Surgical Critical Care at Ventura County Medical Center, and surgery program director at Community Memorial. His 805 number fits Ventura. His three named systems map to his likely affiliations: VCMC runs Cerner, Community Memorial runs Epic (MyChart), Kaiser runs Epic. Frame today as a working discovery conversation: he told us exactly what he needs — software interfaces to Cerner / Epic / Kaiser and infrastructure for a brand-new clinic — so today is about understanding the clinic well enough to design it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six quick stops. Say it plainly: "You told us two things — you need the clinic's infrastructure built, and you need to work across Cerner, Epic, and Kaiser. We'll cover how we'd approach both, then what discovery looks like." Then hand him the wheel: "What would make this half-hour most useful to you?" Let his priorities reorder the talk. If he's short on time, slides 5 (interfaces) and 6 (infrastructure) are the heart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his own words back, then fill the blanks LIVE — this is the discovery slide. Must-learn list: (1) What's the sub-specialty and scope of the new clinic? (2) Where — Ventura area? Lease signed? Build-out underway? (3) Target opening date — everything schedules backward from it. (4) Headcount at opening — providers, MAs, front office? (5) The EMR question (sets up slide 5): does he plan to DOCUMENT in the hospital systems via their portals, or run his own practice EHR/PM and exchange with them? (6) Billing — in-house or billing service? (7) Who else is involved — office manager, practice consultant, contractor? (8) Imaging or in-office procedures that need special equipment on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teaching moment. A new clinic is the one time you get to build technology right ONCE instead of untangling someone else's choices. Walk the contrast quickly — the point is the three takeaways on the right: the EMR-access strategy drives the build; lead times gate opening day (internet circuits, hardware, and hospital IT processes all take weeks — start early); and HIPAA is cheapest designed-in. If he gives you an opening date on slide 3, tie takeaway 2 to it here: "If you're opening in the fall, circuit orders need to go in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TO HIS FIRST ASK. He said 'using Cerner, Epic and Kaiser portals for EMRs' — that phrasing suggests Pattern A (work inside the hospitals' systems via community-provider access), which is common for surgeons who operate at hospitals. But confirm: many surgical practices also run their own lightweight EHR/PM for office notes, scheduling, and billing — Pattern B. The honest framing: hospital IT controls THEIR side; what we own is YOUR side — engineered workstations, secured access, and driving the credentialing / access / interface process with each of the three organizations so it's not him chasing three IT departments. Probes: Does he have remote access to each system today? Which hospital is primary? Does Kaiser send him referrals (Affiliate Link)? Who does his billing?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TO HIS SECOND ASK. Walk the six layers briefly — don't lecture a surgeon. Emphasize: Layer 1 lead times (business internet circuits can take 30–60+ days in some buildings — order first); Layer 5 is not optional for a clinic (HIPAA technical safeguards + cyber-insurance applications now require EDR, MFA, encryption); Layer 6 in plain terms: "If a workstation dies at 8 AM on clinic day, what happens at 8:05?" Tie everything to clinical workflow: exam rooms, front desk, his office, and wherever he reviews imaging.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confident, not scary — he knows HIPAA clinically; what's new is standing up a covered entity from scratch. The Security Risk Analysis isn't bureaucracy: it's legally required (45 CFR 164.308), Medicare/MIPS attestation asks for it, and cyber-insurance underwriting effectively demands the same controls. New-practice gotcha: EVERY vendor touching PHI needs a BAA — EHR, e-fax, email, answering service, billing service, shredding, IT provider (us included — we sign one). Position: we build the technical safeguards into the build itself, so compliance is a by-product of the architecture, not a retrofit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not promises — these are real, anonymized Technijian healthcare engagements; offer references. Walk them fast: (1) we already run the full platform — phones, servers, endpoints, M365 — for a multi-site medical group, 12 months, zero patient-facing downtime; (2) we upgraded an 18-workstation clinical fleet in one weekend without disrupting patient hours — that's the same discipline a new-clinic cutover needs; (3) we do custom software and AI work INSIDE a HIPAA-aware development cycle — that's the muscle behind his interface workstream. Do NOT name the clients. If he asks about new-clinic builds specifically, be honest: every environment we manage we either built or rebuilt — and a greenfield build is the cleaner version of work we do every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 the point is one partner, five doors, and he'd start with three: the build project (My Dev + My IT together), then My IT + My Security as the ongoing foundation. My Compliance is the HIPAA program he'll want as he hires staff. My Jian = the plain-language monthly report that proves it's all working. Don't pitch AI beyond the interface work — wrong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didn't ask for pricing in his note, but a physician opening a practice is absolutely budgeting — so show HOW the number gets built, with real list prices, before he asks. Walk the per-person stack so it feels earned: about $87 per person per month all-in managed. The 10-person line is ILLUSTRATIVE — say "swap in your real headcount and that's your monthly." The one-time build-out (cabling, network, workstations, phones, interfaces) is genuinely scope-dependent — committing to a number before seeing the space would be guessing, and we don't guess; it's a fixed-scope quote after the free site walk, with hardware at the configuration he approves. NEVER discuss cost basis or staffing economics — only his investment. (Source: standard desktop $26.50 + email security $4.75 + M365 backup $4.00 + training $6.00 + ~$46 managed help-desk per person, + $20/mo domain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the stakes. The only ask today is Step 2 — a free site walk and clinic technology assessment. Everything after is gated and reversible: he sees the blueprint and the fixed quote BEFORE committing to anything. Reassure on accountability: one partner owns the whole runway — circuits, hardware, hospital access processes, go-live — so he's never coordinating three vendors and three hospital IT departments while also credentialing, hiring, and seeing patients. If the opening date is close, say so honestly: the calendar is the enemy, let's get the site walk on the books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ONE thing: book the free site walk / clinic technology assessment — propose a specific day. He's in Ventura; we cover SoCal on-site. Offer the New Clinic IT Checklist as a give-away no matter what — it keeps goodwill if he's not ready. Confirm best email (jromero116@msn.com from the booking) and cell for scheduling. End warm: congratulate him on the new practice. Send a short recap email TODAY with the checklist and proposed site-walk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88952" cy="365760"/>
          </a:xfrm>
          <a:prstGeom prst="rect">
            <a:avLst/>
          </a:prstGeom>
          <a:solidFill>
            <a:srgbClr val="F67D4B"/>
          </a:solidFill>
          <a:ln w="12700">
            <a:solidFill>
              <a:srgbClr val="F67D4B">
                <a:alpha val="0"/>
              </a:srgbClr>
            </a:solidFill>
            <a:prstDash val="solid"/>
          </a:ln>
        </p:spPr>
      </p:sp>
      <p:sp>
        <p:nvSpPr>
          <p:cNvPr id="3" name="Shape 1"/>
          <p:cNvSpPr/>
          <p:nvPr/>
        </p:nvSpPr>
        <p:spPr>
          <a:xfrm>
            <a:off x="0" y="6492240"/>
            <a:ext cx="12188952" cy="365760"/>
          </a:xfrm>
          <a:prstGeom prst="rect">
            <a:avLst/>
          </a:prstGeom>
          <a:solidFill>
            <a:srgbClr val="006DB6"/>
          </a:solidFill>
          <a:ln w="12700">
            <a:solidFill>
              <a:srgbClr val="006DB6">
                <a:alpha val="0"/>
              </a:srgbClr>
            </a:solidFill>
            <a:prstDash val="solid"/>
          </a:ln>
        </p:spPr>
      </p:sp>
      <p:sp>
        <p:nvSpPr>
          <p:cNvPr id="4" name="Shape 2"/>
          <p:cNvSpPr/>
          <p:nvPr/>
        </p:nvSpPr>
        <p:spPr>
          <a:xfrm>
            <a:off x="8686800" y="-914400"/>
            <a:ext cx="4572000" cy="4572000"/>
          </a:xfrm>
          <a:prstGeom prst="ellipse">
            <a:avLst/>
          </a:prstGeom>
          <a:solidFill>
            <a:srgbClr val="1EAAC8">
              <a:alpha val="12000"/>
            </a:srgbClr>
          </a:solidFill>
          <a:ln w="12700">
            <a:solidFill>
              <a:srgbClr val="1EAAC8">
                <a:alpha val="0"/>
              </a:srgbClr>
            </a:solidFill>
            <a:prstDash val="solid"/>
          </a:ln>
        </p:spPr>
      </p:sp>
      <p:sp>
        <p:nvSpPr>
          <p:cNvPr id="5" name="Shape 3"/>
          <p:cNvSpPr/>
          <p:nvPr/>
        </p:nvSpPr>
        <p:spPr>
          <a:xfrm>
            <a:off x="-914400" y="4572000"/>
            <a:ext cx="4572000" cy="4572000"/>
          </a:xfrm>
          <a:prstGeom prst="ellipse">
            <a:avLst/>
          </a:prstGeom>
          <a:solidFill>
            <a:srgbClr val="F67D4B">
              <a:alpha val="8000"/>
            </a:srgbClr>
          </a:solidFill>
          <a:ln w="12700">
            <a:solidFill>
              <a:srgbClr val="F67D4B">
                <a:alpha val="0"/>
              </a:srgbClr>
            </a:solidFill>
            <a:prstDash val="solid"/>
          </a:ln>
        </p:spPr>
      </p:sp>
      <p:pic>
        <p:nvPicPr>
          <p:cNvPr id="6" name="Image 0" descr="C:/vscode/tech-branding/tech-branding/assets/Technijian Logo - white text.png">    </p:cNvPr>
          <p:cNvPicPr>
            <a:picLocks noChangeAspect="1"/>
          </p:cNvPicPr>
          <p:nvPr/>
        </p:nvPicPr>
        <p:blipFill>
          <a:blip r:embed="rId1"/>
          <a:stretch>
            <a:fillRect/>
          </a:stretch>
        </p:blipFill>
        <p:spPr>
          <a:xfrm>
            <a:off x="640080" y="731520"/>
            <a:ext cx="2468880" cy="516502"/>
          </a:xfrm>
          <a:prstGeom prst="rect">
            <a:avLst/>
          </a:prstGeom>
        </p:spPr>
      </p:pic>
      <p:sp>
        <p:nvSpPr>
          <p:cNvPr id="7" name="Shape 4"/>
          <p:cNvSpPr/>
          <p:nvPr/>
        </p:nvSpPr>
        <p:spPr>
          <a:xfrm>
            <a:off x="8869680" y="868680"/>
            <a:ext cx="2651760" cy="292608"/>
          </a:xfrm>
          <a:prstGeom prst="roundRect">
            <a:avLst>
              <a:gd name="adj" fmla="val 12500"/>
            </a:avLst>
          </a:prstGeom>
          <a:solidFill>
            <a:srgbClr val="1A1A2E">
              <a:alpha val="70000"/>
            </a:srgbClr>
          </a:solidFill>
          <a:ln w="12700">
            <a:solidFill>
              <a:srgbClr val="1EAAC8"/>
            </a:solidFill>
            <a:prstDash val="solid"/>
          </a:ln>
        </p:spPr>
      </p:sp>
      <p:sp>
        <p:nvSpPr>
          <p:cNvPr id="8" name="Text 5"/>
          <p:cNvSpPr/>
          <p:nvPr/>
        </p:nvSpPr>
        <p:spPr>
          <a:xfrm>
            <a:off x="8869680" y="868680"/>
            <a:ext cx="2651760" cy="292608"/>
          </a:xfrm>
          <a:prstGeom prst="rect">
            <a:avLst/>
          </a:prstGeom>
          <a:noFill/>
          <a:ln/>
        </p:spPr>
        <p:txBody>
          <a:bodyPr wrap="square" lIns="0" tIns="0" rIns="0" bIns="0" rtlCol="0" anchor="ctr"/>
          <a:lstStyle/>
          <a:p>
            <a:pPr algn="ctr" indent="0" marL="0">
              <a:buNone/>
            </a:pPr>
            <a:r>
              <a:rPr lang="en-US" sz="850" b="1" dirty="0">
                <a:solidFill>
                  <a:srgbClr val="1EAAC8"/>
                </a:solidFill>
                <a:latin typeface="Arial" pitchFamily="34" charset="0"/>
                <a:ea typeface="Arial" pitchFamily="34" charset="-122"/>
                <a:cs typeface="Arial" pitchFamily="34" charset="-120"/>
              </a:rPr>
              <a:t>PREPARED FOR DR. JAVIER ROMERO</a:t>
            </a:r>
            <a:endParaRPr lang="en-US" sz="850" dirty="0"/>
          </a:p>
        </p:txBody>
      </p:sp>
      <p:sp>
        <p:nvSpPr>
          <p:cNvPr id="9" name="Text 6"/>
          <p:cNvSpPr/>
          <p:nvPr/>
        </p:nvSpPr>
        <p:spPr>
          <a:xfrm>
            <a:off x="640080" y="2103120"/>
            <a:ext cx="10972800" cy="868680"/>
          </a:xfrm>
          <a:prstGeom prst="rect">
            <a:avLst/>
          </a:prstGeom>
          <a:noFill/>
          <a:ln/>
        </p:spPr>
        <p:txBody>
          <a:bodyPr wrap="square" lIns="0" tIns="0" rIns="0" bIns="0" rtlCol="0" anchor="ctr"/>
          <a:lstStyle/>
          <a:p>
            <a:pPr indent="0" marL="0">
              <a:buNone/>
            </a:pPr>
            <a:r>
              <a:rPr lang="en-US" sz="5200" b="1" dirty="0">
                <a:solidFill>
                  <a:srgbClr val="FFFFFF"/>
                </a:solidFill>
                <a:latin typeface="Arial" pitchFamily="34" charset="0"/>
                <a:ea typeface="Arial" pitchFamily="34" charset="-122"/>
                <a:cs typeface="Arial" pitchFamily="34" charset="-120"/>
              </a:rPr>
              <a:t>Technijian</a:t>
            </a:r>
            <a:endParaRPr lang="en-US" sz="5200" dirty="0"/>
          </a:p>
        </p:txBody>
      </p:sp>
      <p:sp>
        <p:nvSpPr>
          <p:cNvPr id="10" name="Text 7"/>
          <p:cNvSpPr/>
          <p:nvPr/>
        </p:nvSpPr>
        <p:spPr>
          <a:xfrm>
            <a:off x="640080" y="2971800"/>
            <a:ext cx="11155680" cy="640080"/>
          </a:xfrm>
          <a:prstGeom prst="rect">
            <a:avLst/>
          </a:prstGeom>
          <a:noFill/>
          <a:ln/>
        </p:spPr>
        <p:txBody>
          <a:bodyPr wrap="square" lIns="0" tIns="0" rIns="0" bIns="0" rtlCol="0" anchor="ctr"/>
          <a:lstStyle/>
          <a:p>
            <a:pPr indent="0" marL="0">
              <a:buNone/>
            </a:pPr>
            <a:r>
              <a:rPr lang="en-US" sz="3000" b="1" dirty="0">
                <a:solidFill>
                  <a:srgbClr val="F67D4B"/>
                </a:solidFill>
                <a:latin typeface="Arial" pitchFamily="34" charset="0"/>
                <a:ea typeface="Arial" pitchFamily="34" charset="-122"/>
                <a:cs typeface="Arial" pitchFamily="34" charset="-120"/>
              </a:rPr>
              <a:t>for Javier Romero, MD FACS</a:t>
            </a:r>
            <a:endParaRPr lang="en-US" sz="3000" dirty="0"/>
          </a:p>
        </p:txBody>
      </p:sp>
      <p:sp>
        <p:nvSpPr>
          <p:cNvPr id="11" name="Text 8"/>
          <p:cNvSpPr/>
          <p:nvPr/>
        </p:nvSpPr>
        <p:spPr>
          <a:xfrm>
            <a:off x="640080" y="3794760"/>
            <a:ext cx="10789920" cy="457200"/>
          </a:xfrm>
          <a:prstGeom prst="rect">
            <a:avLst/>
          </a:prstGeom>
          <a:noFill/>
          <a:ln/>
        </p:spPr>
        <p:txBody>
          <a:bodyPr wrap="square" lIns="0" tIns="0" rIns="0" bIns="0" rtlCol="0" anchor="ctr"/>
          <a:lstStyle/>
          <a:p>
            <a:pPr indent="0" marL="0">
              <a:buNone/>
            </a:pPr>
            <a:r>
              <a:rPr lang="en-US" sz="1800" dirty="0">
                <a:solidFill>
                  <a:srgbClr val="FFFFFF">
                    <a:alpha val="82000"/>
                  </a:srgbClr>
                </a:solidFill>
                <a:latin typeface="Arial" pitchFamily="34" charset="0"/>
                <a:ea typeface="Arial" pitchFamily="34" charset="-122"/>
                <a:cs typeface="Arial" pitchFamily="34" charset="-120"/>
              </a:rPr>
              <a:t>Building the technology foundation for your new surgical sub-specialty clinic.</a:t>
            </a:r>
            <a:endParaRPr lang="en-US" sz="1800" dirty="0"/>
          </a:p>
        </p:txBody>
      </p:sp>
      <p:sp>
        <p:nvSpPr>
          <p:cNvPr id="12" name="Shape 9"/>
          <p:cNvSpPr/>
          <p:nvPr/>
        </p:nvSpPr>
        <p:spPr>
          <a:xfrm>
            <a:off x="640080" y="4754880"/>
            <a:ext cx="10881360" cy="16459"/>
          </a:xfrm>
          <a:prstGeom prst="rect">
            <a:avLst/>
          </a:prstGeom>
          <a:solidFill>
            <a:srgbClr val="1EAAC8"/>
          </a:solidFill>
          <a:ln w="12700">
            <a:solidFill>
              <a:srgbClr val="1EAAC8">
                <a:alpha val="0"/>
              </a:srgbClr>
            </a:solidFill>
            <a:prstDash val="solid"/>
          </a:ln>
        </p:spPr>
      </p:sp>
      <p:sp>
        <p:nvSpPr>
          <p:cNvPr id="13" name="Text 10"/>
          <p:cNvSpPr/>
          <p:nvPr/>
        </p:nvSpPr>
        <p:spPr>
          <a:xfrm>
            <a:off x="640080" y="4892040"/>
            <a:ext cx="1088136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IT Discovery Meeting  |  Ravi Jain ↔ Javier Romero, MD FACS  |  Booked via technijian.com</a:t>
            </a:r>
            <a:endParaRPr lang="en-US" sz="1100" dirty="0"/>
          </a:p>
        </p:txBody>
      </p:sp>
      <p:sp>
        <p:nvSpPr>
          <p:cNvPr id="14" name="Text 11"/>
          <p:cNvSpPr/>
          <p:nvPr/>
        </p:nvSpPr>
        <p:spPr>
          <a:xfrm>
            <a:off x="640080" y="5230368"/>
            <a:ext cx="10881360" cy="274320"/>
          </a:xfrm>
          <a:prstGeom prst="rect">
            <a:avLst/>
          </a:prstGeom>
          <a:noFill/>
          <a:ln/>
        </p:spPr>
        <p:txBody>
          <a:bodyPr wrap="square" lIns="0" tIns="0" rIns="0" bIns="0" rtlCol="0" anchor="ctr"/>
          <a:lstStyle/>
          <a:p>
            <a:pPr indent="0" marL="0">
              <a:buNone/>
            </a:pPr>
            <a:r>
              <a:rPr lang="en-US" sz="1100" b="1" dirty="0">
                <a:solidFill>
                  <a:srgbClr val="1EAAC8"/>
                </a:solidFill>
                <a:latin typeface="Arial" pitchFamily="34" charset="0"/>
                <a:ea typeface="Arial" pitchFamily="34" charset="-122"/>
                <a:cs typeface="Arial" pitchFamily="34" charset="-120"/>
              </a:rPr>
              <a:t>New clinic infrastructure  ·  EMR connectivity across Cerner, Epic &amp; Kaiser  ·  HIPAA from day one</a:t>
            </a:r>
            <a:endParaRPr lang="en-US" sz="1100" dirty="0"/>
          </a:p>
        </p:txBody>
      </p:sp>
      <p:sp>
        <p:nvSpPr>
          <p:cNvPr id="15" name="Text 12"/>
          <p:cNvSpPr/>
          <p:nvPr/>
        </p:nvSpPr>
        <p:spPr>
          <a:xfrm>
            <a:off x="640080" y="5559552"/>
            <a:ext cx="10881360" cy="274320"/>
          </a:xfrm>
          <a:prstGeom prst="rect">
            <a:avLst/>
          </a:prstGeom>
          <a:noFill/>
          <a:ln/>
        </p:spPr>
        <p:txBody>
          <a:bodyPr wrap="square" lIns="0" tIns="0" rIns="0" bIns="0" rtlCol="0" anchor="ctr"/>
          <a:lstStyle/>
          <a:p>
            <a:pPr indent="0" marL="0">
              <a:buNone/>
            </a:pPr>
            <a:r>
              <a:rPr lang="en-US" sz="1000" dirty="0">
                <a:solidFill>
                  <a:srgbClr val="FFFFFF">
                    <a:alpha val="60000"/>
                  </a:srgbClr>
                </a:solidFill>
                <a:latin typeface="Arial" pitchFamily="34" charset="0"/>
                <a:ea typeface="Arial" pitchFamily="34" charset="-122"/>
                <a:cs typeface="Arial" pitchFamily="34" charset="-120"/>
              </a:rPr>
              <a:t>18 Technology Dr. Ste 141, Irvine CA 92618  ·  technijian.com  ·  949.379.8499</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pic>
        <p:nvPicPr>
          <p:cNvPr id="3" name="Image 0" descr="C:/vscode/tech-branding/tech-brandin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AGENDA</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What we'd like to cover today</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A working discovery conversation, not a pitch. You told us what you need — interfaces and infrastructure — so that's where we'll spend the time.</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Javier Romero, MD FACS  |  IT Discovery  |  2026-06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502920" y="2148840"/>
            <a:ext cx="3657600" cy="4114800"/>
          </a:xfrm>
          <a:prstGeom prst="roundRect">
            <a:avLst>
              <a:gd name="adj" fmla="val 2000"/>
            </a:avLst>
          </a:prstGeom>
          <a:solidFill>
            <a:srgbClr val="1A1A2E"/>
          </a:solidFill>
          <a:ln w="12700">
            <a:solidFill>
              <a:srgbClr val="1A1A2E">
                <a:alpha val="0"/>
              </a:srgbClr>
            </a:solidFill>
            <a:prstDash val="solid"/>
          </a:ln>
        </p:spPr>
      </p:sp>
      <p:sp>
        <p:nvSpPr>
          <p:cNvPr id="12" name="Shape 9"/>
          <p:cNvSpPr/>
          <p:nvPr/>
        </p:nvSpPr>
        <p:spPr>
          <a:xfrm>
            <a:off x="502920" y="2148840"/>
            <a:ext cx="3657600" cy="91440"/>
          </a:xfrm>
          <a:prstGeom prst="rect">
            <a:avLst/>
          </a:prstGeom>
          <a:solidFill>
            <a:srgbClr val="F67D4B"/>
          </a:solidFill>
          <a:ln w="12700">
            <a:solidFill>
              <a:srgbClr val="F67D4B">
                <a:alpha val="0"/>
              </a:srgbClr>
            </a:solidFill>
            <a:prstDash val="solid"/>
          </a:ln>
        </p:spPr>
      </p:sp>
      <p:sp>
        <p:nvSpPr>
          <p:cNvPr id="13" name="Text 10"/>
          <p:cNvSpPr/>
          <p:nvPr/>
        </p:nvSpPr>
        <p:spPr>
          <a:xfrm>
            <a:off x="713232" y="2423160"/>
            <a:ext cx="3291840" cy="274320"/>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OUR GOAL TODAY</a:t>
            </a:r>
            <a:endParaRPr lang="en-US" sz="1000" dirty="0"/>
          </a:p>
        </p:txBody>
      </p:sp>
      <p:sp>
        <p:nvSpPr>
          <p:cNvPr id="14" name="Text 11"/>
          <p:cNvSpPr/>
          <p:nvPr/>
        </p:nvSpPr>
        <p:spPr>
          <a:xfrm>
            <a:off x="713232" y="2788920"/>
            <a:ext cx="3200400" cy="1737360"/>
          </a:xfrm>
          <a:prstGeom prst="rect">
            <a:avLst/>
          </a:prstGeom>
          <a:noFill/>
          <a:ln/>
        </p:spPr>
        <p:txBody>
          <a:bodyPr wrap="square" lIns="0" tIns="0" rIns="0" bIns="0" rtlCol="0" anchor="t"/>
          <a:lstStyle/>
          <a:p>
            <a:pPr indent="0" marL="0">
              <a:buNone/>
            </a:pPr>
            <a:r>
              <a:rPr lang="en-US" sz="1400" dirty="0">
                <a:solidFill>
                  <a:srgbClr val="FFFFFF">
                    <a:alpha val="92000"/>
                  </a:srgbClr>
                </a:solidFill>
                <a:latin typeface="Arial" pitchFamily="34" charset="0"/>
                <a:ea typeface="Arial" pitchFamily="34" charset="-122"/>
                <a:cs typeface="Arial" pitchFamily="34" charset="-120"/>
              </a:rPr>
              <a:t>Understand your new clinic well enough to design its technology right — and leave you with a clear, no-pressure path from today to a fully built, HIPAA-ready opening day.</a:t>
            </a:r>
            <a:endParaRPr lang="en-US" sz="1400" dirty="0"/>
          </a:p>
        </p:txBody>
      </p:sp>
      <p:sp>
        <p:nvSpPr>
          <p:cNvPr id="15" name="Text 12"/>
          <p:cNvSpPr/>
          <p:nvPr/>
        </p:nvSpPr>
        <p:spPr>
          <a:xfrm>
            <a:off x="713232" y="5074920"/>
            <a:ext cx="3200400" cy="1005840"/>
          </a:xfrm>
          <a:prstGeom prst="rect">
            <a:avLst/>
          </a:prstGeom>
          <a:noFill/>
          <a:ln/>
        </p:spPr>
        <p:txBody>
          <a:bodyPr wrap="square" lIns="0" tIns="0" rIns="0" bIns="0" rtlCol="0" anchor="t"/>
          <a:lstStyle/>
          <a:p>
            <a:pPr indent="0" marL="0">
              <a:buNone/>
            </a:pPr>
            <a:r>
              <a:rPr lang="en-US" sz="1200" b="1" dirty="0">
                <a:solidFill>
                  <a:srgbClr val="1EAAC8"/>
                </a:solidFill>
              </a:rPr>
              <a:t>You bring the clinical vision.
</a:t>
            </a:r>
            <a:pPr indent="0" marL="0">
              <a:buNone/>
            </a:pPr>
            <a:r>
              <a:rPr lang="en-US" sz="1200" dirty="0">
                <a:solidFill>
                  <a:srgbClr val="FFFFFF">
                    <a:alpha val="85000"/>
                  </a:srgbClr>
                </a:solidFill>
              </a:rPr>
              <a:t>We bring the build plan — and straight answers about what it takes.</a:t>
            </a:r>
            <a:endParaRPr lang="en-US" sz="1200" dirty="0"/>
          </a:p>
        </p:txBody>
      </p:sp>
      <p:sp>
        <p:nvSpPr>
          <p:cNvPr id="16" name="Shape 13"/>
          <p:cNvSpPr/>
          <p:nvPr/>
        </p:nvSpPr>
        <p:spPr>
          <a:xfrm>
            <a:off x="4389120" y="2194560"/>
            <a:ext cx="502920" cy="502920"/>
          </a:xfrm>
          <a:prstGeom prst="roundRect">
            <a:avLst>
              <a:gd name="adj" fmla="val 18182"/>
            </a:avLst>
          </a:prstGeom>
          <a:solidFill>
            <a:srgbClr val="006DB6"/>
          </a:solidFill>
          <a:ln w="12700">
            <a:solidFill>
              <a:srgbClr val="006DB6">
                <a:alpha val="0"/>
              </a:srgbClr>
            </a:solidFill>
            <a:prstDash val="solid"/>
          </a:ln>
        </p:spPr>
      </p:sp>
      <p:sp>
        <p:nvSpPr>
          <p:cNvPr id="17" name="Text 14"/>
          <p:cNvSpPr/>
          <p:nvPr/>
        </p:nvSpPr>
        <p:spPr>
          <a:xfrm>
            <a:off x="4389120" y="21945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8" name="Text 15"/>
          <p:cNvSpPr/>
          <p:nvPr/>
        </p:nvSpPr>
        <p:spPr>
          <a:xfrm>
            <a:off x="5074920" y="2176272"/>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What we heard from you</a:t>
            </a:r>
            <a:endParaRPr lang="en-US" sz="1400" dirty="0"/>
          </a:p>
        </p:txBody>
      </p:sp>
      <p:sp>
        <p:nvSpPr>
          <p:cNvPr id="19" name="Text 16"/>
          <p:cNvSpPr/>
          <p:nvPr/>
        </p:nvSpPr>
        <p:spPr>
          <a:xfrm>
            <a:off x="5074920" y="2441448"/>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New surgical sub-specialty clinic, Cerner + Epic + Kaiser, interfaces and infrastructure — said back to make sure we got it right.</a:t>
            </a:r>
            <a:endParaRPr lang="en-US" sz="1050" dirty="0"/>
          </a:p>
        </p:txBody>
      </p:sp>
      <p:sp>
        <p:nvSpPr>
          <p:cNvPr id="20" name="Shape 17"/>
          <p:cNvSpPr/>
          <p:nvPr/>
        </p:nvSpPr>
        <p:spPr>
          <a:xfrm>
            <a:off x="4389120" y="2871216"/>
            <a:ext cx="502920" cy="502920"/>
          </a:xfrm>
          <a:prstGeom prst="roundRect">
            <a:avLst>
              <a:gd name="adj" fmla="val 18182"/>
            </a:avLst>
          </a:prstGeom>
          <a:solidFill>
            <a:srgbClr val="1EAAC8"/>
          </a:solidFill>
          <a:ln w="12700">
            <a:solidFill>
              <a:srgbClr val="1EAAC8">
                <a:alpha val="0"/>
              </a:srgbClr>
            </a:solidFill>
            <a:prstDash val="solid"/>
          </a:ln>
        </p:spPr>
      </p:sp>
      <p:sp>
        <p:nvSpPr>
          <p:cNvPr id="21" name="Text 18"/>
          <p:cNvSpPr/>
          <p:nvPr/>
        </p:nvSpPr>
        <p:spPr>
          <a:xfrm>
            <a:off x="4389120" y="2871216"/>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2" name="Text 19"/>
          <p:cNvSpPr/>
          <p:nvPr/>
        </p:nvSpPr>
        <p:spPr>
          <a:xfrm>
            <a:off x="5074920" y="2852928"/>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What working across three EMR ecosystems means</a:t>
            </a:r>
            <a:endParaRPr lang="en-US" sz="1400" dirty="0"/>
          </a:p>
        </p:txBody>
      </p:sp>
      <p:sp>
        <p:nvSpPr>
          <p:cNvPr id="23" name="Text 20"/>
          <p:cNvSpPr/>
          <p:nvPr/>
        </p:nvSpPr>
        <p:spPr>
          <a:xfrm>
            <a:off x="5074920" y="3118104"/>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The two patterns for Cerner / Epic / Kaiser connectivity — and what each asks of the build.</a:t>
            </a:r>
            <a:endParaRPr lang="en-US" sz="1050" dirty="0"/>
          </a:p>
        </p:txBody>
      </p:sp>
      <p:sp>
        <p:nvSpPr>
          <p:cNvPr id="24" name="Shape 21"/>
          <p:cNvSpPr/>
          <p:nvPr/>
        </p:nvSpPr>
        <p:spPr>
          <a:xfrm>
            <a:off x="4389120" y="3547872"/>
            <a:ext cx="502920" cy="502920"/>
          </a:xfrm>
          <a:prstGeom prst="roundRect">
            <a:avLst>
              <a:gd name="adj" fmla="val 18182"/>
            </a:avLst>
          </a:prstGeom>
          <a:solidFill>
            <a:srgbClr val="006DB6"/>
          </a:solidFill>
          <a:ln w="12700">
            <a:solidFill>
              <a:srgbClr val="006DB6">
                <a:alpha val="0"/>
              </a:srgbClr>
            </a:solidFill>
            <a:prstDash val="solid"/>
          </a:ln>
        </p:spPr>
      </p:sp>
      <p:sp>
        <p:nvSpPr>
          <p:cNvPr id="25" name="Text 22"/>
          <p:cNvSpPr/>
          <p:nvPr/>
        </p:nvSpPr>
        <p:spPr>
          <a:xfrm>
            <a:off x="4389120" y="354787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6" name="Text 23"/>
          <p:cNvSpPr/>
          <p:nvPr/>
        </p:nvSpPr>
        <p:spPr>
          <a:xfrm>
            <a:off x="5074920" y="3529584"/>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The infrastructure blueprint</a:t>
            </a:r>
            <a:endParaRPr lang="en-US" sz="1400" dirty="0"/>
          </a:p>
        </p:txBody>
      </p:sp>
      <p:sp>
        <p:nvSpPr>
          <p:cNvPr id="27" name="Text 24"/>
          <p:cNvSpPr/>
          <p:nvPr/>
        </p:nvSpPr>
        <p:spPr>
          <a:xfrm>
            <a:off x="5074920" y="3794760"/>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The six layers every new clinic needs, from internet circuits to backup and continuity.</a:t>
            </a:r>
            <a:endParaRPr lang="en-US" sz="1050" dirty="0"/>
          </a:p>
        </p:txBody>
      </p:sp>
      <p:sp>
        <p:nvSpPr>
          <p:cNvPr id="28" name="Shape 25"/>
          <p:cNvSpPr/>
          <p:nvPr/>
        </p:nvSpPr>
        <p:spPr>
          <a:xfrm>
            <a:off x="4389120" y="4224528"/>
            <a:ext cx="502920" cy="502920"/>
          </a:xfrm>
          <a:prstGeom prst="roundRect">
            <a:avLst>
              <a:gd name="adj" fmla="val 18182"/>
            </a:avLst>
          </a:prstGeom>
          <a:solidFill>
            <a:srgbClr val="1EAAC8"/>
          </a:solidFill>
          <a:ln w="12700">
            <a:solidFill>
              <a:srgbClr val="1EAAC8">
                <a:alpha val="0"/>
              </a:srgbClr>
            </a:solidFill>
            <a:prstDash val="solid"/>
          </a:ln>
        </p:spPr>
      </p:sp>
      <p:sp>
        <p:nvSpPr>
          <p:cNvPr id="29" name="Text 26"/>
          <p:cNvSpPr/>
          <p:nvPr/>
        </p:nvSpPr>
        <p:spPr>
          <a:xfrm>
            <a:off x="4389120" y="422452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0" name="Text 27"/>
          <p:cNvSpPr/>
          <p:nvPr/>
        </p:nvSpPr>
        <p:spPr>
          <a:xfrm>
            <a:off x="5074920" y="4206240"/>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HIPAA from day one</a:t>
            </a:r>
            <a:endParaRPr lang="en-US" sz="1400" dirty="0"/>
          </a:p>
        </p:txBody>
      </p:sp>
      <p:sp>
        <p:nvSpPr>
          <p:cNvPr id="31" name="Text 28"/>
          <p:cNvSpPr/>
          <p:nvPr/>
        </p:nvSpPr>
        <p:spPr>
          <a:xfrm>
            <a:off x="5074920" y="4471416"/>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Compliant-by-design: what a brand-new covered entity must stand up — built into the build.</a:t>
            </a:r>
            <a:endParaRPr lang="en-US" sz="1050" dirty="0"/>
          </a:p>
        </p:txBody>
      </p:sp>
      <p:sp>
        <p:nvSpPr>
          <p:cNvPr id="32" name="Shape 29"/>
          <p:cNvSpPr/>
          <p:nvPr/>
        </p:nvSpPr>
        <p:spPr>
          <a:xfrm>
            <a:off x="4389120" y="4901184"/>
            <a:ext cx="502920" cy="502920"/>
          </a:xfrm>
          <a:prstGeom prst="roundRect">
            <a:avLst>
              <a:gd name="adj" fmla="val 18182"/>
            </a:avLst>
          </a:prstGeom>
          <a:solidFill>
            <a:srgbClr val="006DB6"/>
          </a:solidFill>
          <a:ln w="12700">
            <a:solidFill>
              <a:srgbClr val="006DB6">
                <a:alpha val="0"/>
              </a:srgbClr>
            </a:solidFill>
            <a:prstDash val="solid"/>
          </a:ln>
        </p:spPr>
      </p:sp>
      <p:sp>
        <p:nvSpPr>
          <p:cNvPr id="33" name="Text 30"/>
          <p:cNvSpPr/>
          <p:nvPr/>
        </p:nvSpPr>
        <p:spPr>
          <a:xfrm>
            <a:off x="4389120" y="490118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34" name="Text 31"/>
          <p:cNvSpPr/>
          <p:nvPr/>
        </p:nvSpPr>
        <p:spPr>
          <a:xfrm>
            <a:off x="5074920" y="4882896"/>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Proof, and how pricing works</a:t>
            </a:r>
            <a:endParaRPr lang="en-US" sz="1400" dirty="0"/>
          </a:p>
        </p:txBody>
      </p:sp>
      <p:sp>
        <p:nvSpPr>
          <p:cNvPr id="35" name="Text 32"/>
          <p:cNvSpPr/>
          <p:nvPr/>
        </p:nvSpPr>
        <p:spPr>
          <a:xfrm>
            <a:off x="5074920" y="5148072"/>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Real Technijian healthcare engagements, and transparent per-person pricing with no surprises.</a:t>
            </a:r>
            <a:endParaRPr lang="en-US" sz="1050" dirty="0"/>
          </a:p>
        </p:txBody>
      </p:sp>
      <p:sp>
        <p:nvSpPr>
          <p:cNvPr id="36" name="Shape 33"/>
          <p:cNvSpPr/>
          <p:nvPr/>
        </p:nvSpPr>
        <p:spPr>
          <a:xfrm>
            <a:off x="4389120" y="5577840"/>
            <a:ext cx="502920" cy="502920"/>
          </a:xfrm>
          <a:prstGeom prst="roundRect">
            <a:avLst>
              <a:gd name="adj" fmla="val 18182"/>
            </a:avLst>
          </a:prstGeom>
          <a:solidFill>
            <a:srgbClr val="1EAAC8"/>
          </a:solidFill>
          <a:ln w="12700">
            <a:solidFill>
              <a:srgbClr val="1EAAC8">
                <a:alpha val="0"/>
              </a:srgbClr>
            </a:solidFill>
            <a:prstDash val="solid"/>
          </a:ln>
        </p:spPr>
      </p:sp>
      <p:sp>
        <p:nvSpPr>
          <p:cNvPr id="37" name="Text 34"/>
          <p:cNvSpPr/>
          <p:nvPr/>
        </p:nvSpPr>
        <p:spPr>
          <a:xfrm>
            <a:off x="4389120" y="55778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38" name="Text 35"/>
          <p:cNvSpPr/>
          <p:nvPr/>
        </p:nvSpPr>
        <p:spPr>
          <a:xfrm>
            <a:off x="5074920" y="5559552"/>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Next step</a:t>
            </a:r>
            <a:endParaRPr lang="en-US" sz="1400" dirty="0"/>
          </a:p>
        </p:txBody>
      </p:sp>
      <p:sp>
        <p:nvSpPr>
          <p:cNvPr id="39" name="Text 36"/>
          <p:cNvSpPr/>
          <p:nvPr/>
        </p:nvSpPr>
        <p:spPr>
          <a:xfrm>
            <a:off x="5074920" y="5824728"/>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A free site walk and clinic technology assessment — then a blueprint and fixed quote.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sp>
      <p:pic>
        <p:nvPicPr>
          <p:cNvPr id="3" name="Image 0" descr="C:/vscode/tech-branding/tech-brandin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WHAT WE HEARD</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Your situation, said back to you</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From your note when you booked this meeting. Today we fill in the details — correct anything we have wrong.</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Javier Romero, MD FACS  |  IT Discovery  |  2026-06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3</a:t>
            </a:r>
            <a:endParaRPr lang="en-US" sz="1000" dirty="0"/>
          </a:p>
        </p:txBody>
      </p:sp>
      <p:sp>
        <p:nvSpPr>
          <p:cNvPr id="11" name="Shape 8"/>
          <p:cNvSpPr/>
          <p:nvPr/>
        </p:nvSpPr>
        <p:spPr>
          <a:xfrm>
            <a:off x="502920" y="2148840"/>
            <a:ext cx="2615184" cy="1234440"/>
          </a:xfrm>
          <a:prstGeom prst="roundRect">
            <a:avLst>
              <a:gd name="adj" fmla="val 5926"/>
            </a:avLst>
          </a:prstGeom>
          <a:solidFill>
            <a:srgbClr val="1A1A2E"/>
          </a:solidFill>
          <a:ln w="12700">
            <a:solidFill>
              <a:srgbClr val="1A1A2E">
                <a:alpha val="0"/>
              </a:srgbClr>
            </a:solidFill>
            <a:prstDash val="solid"/>
          </a:ln>
        </p:spPr>
      </p:sp>
      <p:sp>
        <p:nvSpPr>
          <p:cNvPr id="12" name="Text 9"/>
          <p:cNvSpPr/>
          <p:nvPr/>
        </p:nvSpPr>
        <p:spPr>
          <a:xfrm>
            <a:off x="502920" y="2267712"/>
            <a:ext cx="2615184" cy="594360"/>
          </a:xfrm>
          <a:prstGeom prst="rect">
            <a:avLst/>
          </a:prstGeom>
          <a:noFill/>
          <a:ln/>
        </p:spPr>
        <p:txBody>
          <a:bodyPr wrap="square" lIns="0" tIns="0" rIns="0" bIns="0" rtlCol="0" anchor="ctr"/>
          <a:lstStyle/>
          <a:p>
            <a:pPr algn="ctr" indent="0" marL="0">
              <a:buNone/>
            </a:pPr>
            <a:r>
              <a:rPr lang="en-US" sz="3000" b="1" dirty="0">
                <a:solidFill>
                  <a:srgbClr val="F67D4B"/>
                </a:solidFill>
                <a:latin typeface="Arial" pitchFamily="34" charset="0"/>
                <a:ea typeface="Arial" pitchFamily="34" charset="-122"/>
                <a:cs typeface="Arial" pitchFamily="34" charset="-120"/>
              </a:rPr>
              <a:t>NEW</a:t>
            </a:r>
            <a:endParaRPr lang="en-US" sz="3000" dirty="0"/>
          </a:p>
        </p:txBody>
      </p:sp>
      <p:sp>
        <p:nvSpPr>
          <p:cNvPr id="13" name="Text 10"/>
          <p:cNvSpPr/>
          <p:nvPr/>
        </p:nvSpPr>
        <p:spPr>
          <a:xfrm>
            <a:off x="594360" y="2889504"/>
            <a:ext cx="2432304" cy="411480"/>
          </a:xfrm>
          <a:prstGeom prst="rect">
            <a:avLst/>
          </a:prstGeom>
          <a:noFill/>
          <a:ln/>
        </p:spPr>
        <p:txBody>
          <a:bodyPr wrap="square" lIns="0" tIns="0" rIns="0" bIns="0" rtlCol="0" anchor="t"/>
          <a:lstStyle/>
          <a:p>
            <a:pPr algn="ctr" indent="0" marL="0">
              <a:buNone/>
            </a:pPr>
            <a:r>
              <a:rPr lang="en-US" sz="900" b="1" dirty="0">
                <a:solidFill>
                  <a:srgbClr val="FFFFFF">
                    <a:alpha val="75000"/>
                  </a:srgbClr>
                </a:solidFill>
                <a:latin typeface="Arial" pitchFamily="34" charset="0"/>
                <a:ea typeface="Arial" pitchFamily="34" charset="-122"/>
                <a:cs typeface="Arial" pitchFamily="34" charset="-120"/>
              </a:rPr>
              <a:t>CLINIC — BUILT FROM THE GROUND UP</a:t>
            </a:r>
            <a:endParaRPr lang="en-US" sz="900" dirty="0"/>
          </a:p>
        </p:txBody>
      </p:sp>
      <p:sp>
        <p:nvSpPr>
          <p:cNvPr id="14" name="Shape 11"/>
          <p:cNvSpPr/>
          <p:nvPr/>
        </p:nvSpPr>
        <p:spPr>
          <a:xfrm>
            <a:off x="3300984" y="2148840"/>
            <a:ext cx="2615184" cy="1234440"/>
          </a:xfrm>
          <a:prstGeom prst="roundRect">
            <a:avLst>
              <a:gd name="adj" fmla="val 5926"/>
            </a:avLst>
          </a:prstGeom>
          <a:solidFill>
            <a:srgbClr val="1A1A2E"/>
          </a:solidFill>
          <a:ln w="12700">
            <a:solidFill>
              <a:srgbClr val="1A1A2E">
                <a:alpha val="0"/>
              </a:srgbClr>
            </a:solidFill>
            <a:prstDash val="solid"/>
          </a:ln>
        </p:spPr>
      </p:sp>
      <p:sp>
        <p:nvSpPr>
          <p:cNvPr id="15" name="Text 12"/>
          <p:cNvSpPr/>
          <p:nvPr/>
        </p:nvSpPr>
        <p:spPr>
          <a:xfrm>
            <a:off x="3300984" y="2267712"/>
            <a:ext cx="2615184" cy="594360"/>
          </a:xfrm>
          <a:prstGeom prst="rect">
            <a:avLst/>
          </a:prstGeom>
          <a:noFill/>
          <a:ln/>
        </p:spPr>
        <p:txBody>
          <a:bodyPr wrap="square" lIns="0" tIns="0" rIns="0" bIns="0" rtlCol="0" anchor="ctr"/>
          <a:lstStyle/>
          <a:p>
            <a:pPr algn="ctr" indent="0" marL="0">
              <a:buNone/>
            </a:pPr>
            <a:r>
              <a:rPr lang="en-US" sz="3000" b="1" dirty="0">
                <a:solidFill>
                  <a:srgbClr val="F67D4B"/>
                </a:solidFill>
                <a:latin typeface="Arial" pitchFamily="34" charset="0"/>
                <a:ea typeface="Arial" pitchFamily="34" charset="-122"/>
                <a:cs typeface="Arial" pitchFamily="34" charset="-120"/>
              </a:rPr>
              <a:t>3</a:t>
            </a:r>
            <a:endParaRPr lang="en-US" sz="3000" dirty="0"/>
          </a:p>
        </p:txBody>
      </p:sp>
      <p:sp>
        <p:nvSpPr>
          <p:cNvPr id="16" name="Text 13"/>
          <p:cNvSpPr/>
          <p:nvPr/>
        </p:nvSpPr>
        <p:spPr>
          <a:xfrm>
            <a:off x="3392424" y="2889504"/>
            <a:ext cx="2432304" cy="411480"/>
          </a:xfrm>
          <a:prstGeom prst="rect">
            <a:avLst/>
          </a:prstGeom>
          <a:noFill/>
          <a:ln/>
        </p:spPr>
        <p:txBody>
          <a:bodyPr wrap="square" lIns="0" tIns="0" rIns="0" bIns="0" rtlCol="0" anchor="t"/>
          <a:lstStyle/>
          <a:p>
            <a:pPr algn="ctr" indent="0" marL="0">
              <a:buNone/>
            </a:pPr>
            <a:r>
              <a:rPr lang="en-US" sz="900" b="1" dirty="0">
                <a:solidFill>
                  <a:srgbClr val="FFFFFF">
                    <a:alpha val="75000"/>
                  </a:srgbClr>
                </a:solidFill>
                <a:latin typeface="Arial" pitchFamily="34" charset="0"/>
                <a:ea typeface="Arial" pitchFamily="34" charset="-122"/>
                <a:cs typeface="Arial" pitchFamily="34" charset="-120"/>
              </a:rPr>
              <a:t>EMR ECOSYSTEMS · CERNER · EPIC · KAISER</a:t>
            </a:r>
            <a:endParaRPr lang="en-US" sz="900" dirty="0"/>
          </a:p>
        </p:txBody>
      </p:sp>
      <p:sp>
        <p:nvSpPr>
          <p:cNvPr id="17" name="Shape 14"/>
          <p:cNvSpPr/>
          <p:nvPr/>
        </p:nvSpPr>
        <p:spPr>
          <a:xfrm>
            <a:off x="6099048" y="2148840"/>
            <a:ext cx="2615184" cy="1234440"/>
          </a:xfrm>
          <a:prstGeom prst="roundRect">
            <a:avLst>
              <a:gd name="adj" fmla="val 5926"/>
            </a:avLst>
          </a:prstGeom>
          <a:solidFill>
            <a:srgbClr val="1A1A2E"/>
          </a:solidFill>
          <a:ln w="12700">
            <a:solidFill>
              <a:srgbClr val="1A1A2E">
                <a:alpha val="0"/>
              </a:srgbClr>
            </a:solidFill>
            <a:prstDash val="solid"/>
          </a:ln>
        </p:spPr>
      </p:sp>
      <p:sp>
        <p:nvSpPr>
          <p:cNvPr id="18" name="Text 15"/>
          <p:cNvSpPr/>
          <p:nvPr/>
        </p:nvSpPr>
        <p:spPr>
          <a:xfrm>
            <a:off x="6099048" y="2267712"/>
            <a:ext cx="2615184" cy="594360"/>
          </a:xfrm>
          <a:prstGeom prst="rect">
            <a:avLst/>
          </a:prstGeom>
          <a:noFill/>
          <a:ln/>
        </p:spPr>
        <p:txBody>
          <a:bodyPr wrap="square" lIns="0" tIns="0" rIns="0" bIns="0" rtlCol="0" anchor="ctr"/>
          <a:lstStyle/>
          <a:p>
            <a:pPr algn="ctr" indent="0" marL="0">
              <a:buNone/>
            </a:pPr>
            <a:r>
              <a:rPr lang="en-US" sz="3000" b="1" dirty="0">
                <a:solidFill>
                  <a:srgbClr val="F67D4B"/>
                </a:solidFill>
                <a:latin typeface="Arial" pitchFamily="34" charset="0"/>
                <a:ea typeface="Arial" pitchFamily="34" charset="-122"/>
                <a:cs typeface="Arial" pitchFamily="34" charset="-120"/>
              </a:rPr>
              <a:t>2</a:t>
            </a:r>
            <a:endParaRPr lang="en-US" sz="3000" dirty="0"/>
          </a:p>
        </p:txBody>
      </p:sp>
      <p:sp>
        <p:nvSpPr>
          <p:cNvPr id="19" name="Text 16"/>
          <p:cNvSpPr/>
          <p:nvPr/>
        </p:nvSpPr>
        <p:spPr>
          <a:xfrm>
            <a:off x="6190488" y="2889504"/>
            <a:ext cx="2432304" cy="411480"/>
          </a:xfrm>
          <a:prstGeom prst="rect">
            <a:avLst/>
          </a:prstGeom>
          <a:noFill/>
          <a:ln/>
        </p:spPr>
        <p:txBody>
          <a:bodyPr wrap="square" lIns="0" tIns="0" rIns="0" bIns="0" rtlCol="0" anchor="t"/>
          <a:lstStyle/>
          <a:p>
            <a:pPr algn="ctr" indent="0" marL="0">
              <a:buNone/>
            </a:pPr>
            <a:r>
              <a:rPr lang="en-US" sz="900" b="1" dirty="0">
                <a:solidFill>
                  <a:srgbClr val="FFFFFF">
                    <a:alpha val="75000"/>
                  </a:srgbClr>
                </a:solidFill>
                <a:latin typeface="Arial" pitchFamily="34" charset="0"/>
                <a:ea typeface="Arial" pitchFamily="34" charset="-122"/>
                <a:cs typeface="Arial" pitchFamily="34" charset="-120"/>
              </a:rPr>
              <a:t>WORKSTREAMS · INTERFACES + INFRASTRUCTURE</a:t>
            </a:r>
            <a:endParaRPr lang="en-US" sz="900" dirty="0"/>
          </a:p>
        </p:txBody>
      </p:sp>
      <p:sp>
        <p:nvSpPr>
          <p:cNvPr id="20" name="Shape 17"/>
          <p:cNvSpPr/>
          <p:nvPr/>
        </p:nvSpPr>
        <p:spPr>
          <a:xfrm>
            <a:off x="8897112" y="2148840"/>
            <a:ext cx="2615184" cy="1234440"/>
          </a:xfrm>
          <a:prstGeom prst="roundRect">
            <a:avLst>
              <a:gd name="adj" fmla="val 5926"/>
            </a:avLst>
          </a:prstGeom>
          <a:solidFill>
            <a:srgbClr val="1A1A2E"/>
          </a:solidFill>
          <a:ln w="12700">
            <a:solidFill>
              <a:srgbClr val="1A1A2E">
                <a:alpha val="0"/>
              </a:srgbClr>
            </a:solidFill>
            <a:prstDash val="solid"/>
          </a:ln>
        </p:spPr>
      </p:sp>
      <p:sp>
        <p:nvSpPr>
          <p:cNvPr id="21" name="Text 18"/>
          <p:cNvSpPr/>
          <p:nvPr/>
        </p:nvSpPr>
        <p:spPr>
          <a:xfrm>
            <a:off x="8897112" y="2267712"/>
            <a:ext cx="2615184" cy="594360"/>
          </a:xfrm>
          <a:prstGeom prst="rect">
            <a:avLst/>
          </a:prstGeom>
          <a:noFill/>
          <a:ln/>
        </p:spPr>
        <p:txBody>
          <a:bodyPr wrap="square" lIns="0" tIns="0" rIns="0" bIns="0" rtlCol="0" anchor="ctr"/>
          <a:lstStyle/>
          <a:p>
            <a:pPr algn="ctr" indent="0" marL="0">
              <a:buNone/>
            </a:pPr>
            <a:r>
              <a:rPr lang="en-US" sz="3000" b="1" dirty="0">
                <a:solidFill>
                  <a:srgbClr val="F67D4B"/>
                </a:solidFill>
                <a:latin typeface="Arial" pitchFamily="34" charset="0"/>
                <a:ea typeface="Arial" pitchFamily="34" charset="-122"/>
                <a:cs typeface="Arial" pitchFamily="34" charset="-120"/>
              </a:rPr>
              <a:t>DAY 1</a:t>
            </a:r>
            <a:endParaRPr lang="en-US" sz="3000" dirty="0"/>
          </a:p>
        </p:txBody>
      </p:sp>
      <p:sp>
        <p:nvSpPr>
          <p:cNvPr id="22" name="Text 19"/>
          <p:cNvSpPr/>
          <p:nvPr/>
        </p:nvSpPr>
        <p:spPr>
          <a:xfrm>
            <a:off x="8988552" y="2889504"/>
            <a:ext cx="2432304" cy="411480"/>
          </a:xfrm>
          <a:prstGeom prst="rect">
            <a:avLst/>
          </a:prstGeom>
          <a:noFill/>
          <a:ln/>
        </p:spPr>
        <p:txBody>
          <a:bodyPr wrap="square" lIns="0" tIns="0" rIns="0" bIns="0" rtlCol="0" anchor="t"/>
          <a:lstStyle/>
          <a:p>
            <a:pPr algn="ctr" indent="0" marL="0">
              <a:buNone/>
            </a:pPr>
            <a:r>
              <a:rPr lang="en-US" sz="900" b="1" dirty="0">
                <a:solidFill>
                  <a:srgbClr val="FFFFFF">
                    <a:alpha val="75000"/>
                  </a:srgbClr>
                </a:solidFill>
                <a:latin typeface="Arial" pitchFamily="34" charset="0"/>
                <a:ea typeface="Arial" pitchFamily="34" charset="-122"/>
                <a:cs typeface="Arial" pitchFamily="34" charset="-120"/>
              </a:rPr>
              <a:t>HIPAA-READY TARGET AT OPENING</a:t>
            </a:r>
            <a:endParaRPr lang="en-US" sz="900" dirty="0"/>
          </a:p>
        </p:txBody>
      </p:sp>
      <p:sp>
        <p:nvSpPr>
          <p:cNvPr id="23" name="Shape 20"/>
          <p:cNvSpPr/>
          <p:nvPr/>
        </p:nvSpPr>
        <p:spPr>
          <a:xfrm>
            <a:off x="502920" y="3611880"/>
            <a:ext cx="11201400" cy="2560320"/>
          </a:xfrm>
          <a:prstGeom prst="roundRect">
            <a:avLst>
              <a:gd name="adj" fmla="val 2857"/>
            </a:avLst>
          </a:prstGeom>
          <a:solidFill>
            <a:srgbClr val="FFFFFF"/>
          </a:solidFill>
          <a:ln w="12700">
            <a:solidFill>
              <a:srgbClr val="D8E0EA"/>
            </a:solidFill>
            <a:prstDash val="solid"/>
          </a:ln>
        </p:spPr>
      </p:sp>
      <p:sp>
        <p:nvSpPr>
          <p:cNvPr id="24" name="Shape 21"/>
          <p:cNvSpPr/>
          <p:nvPr/>
        </p:nvSpPr>
        <p:spPr>
          <a:xfrm>
            <a:off x="502920" y="3611880"/>
            <a:ext cx="109728" cy="2560320"/>
          </a:xfrm>
          <a:prstGeom prst="rect">
            <a:avLst/>
          </a:prstGeom>
          <a:solidFill>
            <a:srgbClr val="1EAAC8"/>
          </a:solidFill>
          <a:ln w="12700">
            <a:solidFill>
              <a:srgbClr val="1EAAC8">
                <a:alpha val="0"/>
              </a:srgbClr>
            </a:solidFill>
            <a:prstDash val="solid"/>
          </a:ln>
        </p:spPr>
      </p:sp>
      <p:sp>
        <p:nvSpPr>
          <p:cNvPr id="25" name="Text 22"/>
          <p:cNvSpPr/>
          <p:nvPr/>
        </p:nvSpPr>
        <p:spPr>
          <a:xfrm>
            <a:off x="777240" y="3794760"/>
            <a:ext cx="10607040" cy="274320"/>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WHAT THAT MEANS</a:t>
            </a:r>
            <a:endParaRPr lang="en-US" sz="1000" dirty="0"/>
          </a:p>
        </p:txBody>
      </p:sp>
      <p:sp>
        <p:nvSpPr>
          <p:cNvPr id="26" name="Text 23"/>
          <p:cNvSpPr/>
          <p:nvPr/>
        </p:nvSpPr>
        <p:spPr>
          <a:xfrm>
            <a:off x="777240" y="4114800"/>
            <a:ext cx="10698480" cy="1920240"/>
          </a:xfrm>
          <a:prstGeom prst="rect">
            <a:avLst/>
          </a:prstGeom>
          <a:noFill/>
          <a:ln/>
        </p:spPr>
        <p:txBody>
          <a:bodyPr wrap="square" lIns="0" tIns="0" rIns="0" bIns="0" rtlCol="0" anchor="t"/>
          <a:lstStyle/>
          <a:p>
            <a:pPr indent="0" marL="0">
              <a:buNone/>
            </a:pPr>
            <a:r>
              <a:rPr lang="en-US" sz="1250" b="1" dirty="0">
                <a:solidFill>
                  <a:srgbClr val="1A1A2E"/>
                </a:solidFill>
              </a:rPr>
              <a:t>A greenfield build — your one chance to do it right once. </a:t>
            </a:r>
            <a:pPr indent="0" marL="0">
              <a:buNone/>
            </a:pPr>
            <a:r>
              <a:rPr lang="en-US" sz="1250" dirty="0">
                <a:solidFill>
                  <a:srgbClr val="334155"/>
                </a:solidFill>
              </a:rPr>
              <a:t>No legacy systems to untangle. Every choice — network, devices, phones, security — gets made on purpose, sized to your clinical workflow.
</a:t>
            </a:r>
            <a:pPr indent="0" marL="0">
              <a:buNone/>
            </a:pPr>
            <a:r>
              <a:rPr lang="en-US" sz="1250" b="1" dirty="0">
                <a:solidFill>
                  <a:srgbClr val="1A1A2E"/>
                </a:solidFill>
              </a:rPr>
              <a:t>Three EMR ecosystems, one practice. </a:t>
            </a:r>
            <a:pPr indent="0" marL="0">
              <a:buNone/>
            </a:pPr>
            <a:r>
              <a:rPr lang="en-US" sz="1250" dirty="0">
                <a:solidFill>
                  <a:srgbClr val="334155"/>
                </a:solidFill>
              </a:rPr>
              <a:t>Cerner, Epic, and Kaiser portals means working across three separate health-system IT organizations — credentialed access, secured workstations, and clean referral and results flow into your own records.
</a:t>
            </a:r>
            <a:pPr indent="0" marL="0">
              <a:buNone/>
            </a:pPr>
            <a:r>
              <a:rPr lang="en-US" sz="1250" b="1" dirty="0">
                <a:solidFill>
                  <a:srgbClr val="1A1A2E"/>
                </a:solidFill>
              </a:rPr>
              <a:t>A surgical practice runs on uptime and compliance. </a:t>
            </a:r>
            <a:pPr indent="0" marL="0">
              <a:buNone/>
            </a:pPr>
            <a:r>
              <a:rPr lang="en-US" sz="1250" dirty="0">
                <a:solidFill>
                  <a:srgbClr val="334155"/>
                </a:solidFill>
              </a:rPr>
              <a:t>Scheduling, documentation, imaging review, and billing all sit on this foundation — and as a new covered entity, HIPAA safeguards have to be standing on opening day, not bolted on later.</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pic>
        <p:nvPicPr>
          <p:cNvPr id="3" name="Image 0" descr="C:/vscode/tech-branding/tech-brandin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THE CORE IDEA</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A clinic that's born digital — built right once</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Most practices inherit technology problems and retrofit around them. You get to skip that entirely — if the build is sequenced right.</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Javier Romero, MD FACS  |  IT Discovery  |  2026-06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4</a:t>
            </a:r>
            <a:endParaRPr lang="en-US" sz="1000" dirty="0"/>
          </a:p>
        </p:txBody>
      </p:sp>
      <p:sp>
        <p:nvSpPr>
          <p:cNvPr id="11" name="Shape 8"/>
          <p:cNvSpPr/>
          <p:nvPr/>
        </p:nvSpPr>
        <p:spPr>
          <a:xfrm>
            <a:off x="502920" y="2103120"/>
            <a:ext cx="2606040" cy="4114800"/>
          </a:xfrm>
          <a:prstGeom prst="roundRect">
            <a:avLst>
              <a:gd name="adj" fmla="val 2807"/>
            </a:avLst>
          </a:prstGeom>
          <a:solidFill>
            <a:srgbClr val="FFFFFF"/>
          </a:solidFill>
          <a:ln w="12700">
            <a:solidFill>
              <a:srgbClr val="D8E0EA"/>
            </a:solidFill>
            <a:prstDash val="solid"/>
          </a:ln>
        </p:spPr>
      </p:sp>
      <p:sp>
        <p:nvSpPr>
          <p:cNvPr id="12" name="Shape 9"/>
          <p:cNvSpPr/>
          <p:nvPr/>
        </p:nvSpPr>
        <p:spPr>
          <a:xfrm>
            <a:off x="502920" y="2103120"/>
            <a:ext cx="2606040" cy="91440"/>
          </a:xfrm>
          <a:prstGeom prst="rect">
            <a:avLst/>
          </a:prstGeom>
          <a:solidFill>
            <a:srgbClr val="64748B"/>
          </a:solidFill>
          <a:ln w="12700">
            <a:solidFill>
              <a:srgbClr val="64748B">
                <a:alpha val="0"/>
              </a:srgbClr>
            </a:solidFill>
            <a:prstDash val="solid"/>
          </a:ln>
        </p:spPr>
      </p:sp>
      <p:sp>
        <p:nvSpPr>
          <p:cNvPr id="13" name="Text 10"/>
          <p:cNvSpPr/>
          <p:nvPr/>
        </p:nvSpPr>
        <p:spPr>
          <a:xfrm>
            <a:off x="667512" y="2286000"/>
            <a:ext cx="2286000" cy="29260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The retrofit way</a:t>
            </a:r>
            <a:endParaRPr lang="en-US" sz="1500" dirty="0"/>
          </a:p>
        </p:txBody>
      </p:sp>
      <p:sp>
        <p:nvSpPr>
          <p:cNvPr id="14" name="Text 11"/>
          <p:cNvSpPr/>
          <p:nvPr/>
        </p:nvSpPr>
        <p:spPr>
          <a:xfrm>
            <a:off x="667512" y="2578608"/>
            <a:ext cx="2286000" cy="256032"/>
          </a:xfrm>
          <a:prstGeom prst="rect">
            <a:avLst/>
          </a:prstGeom>
          <a:noFill/>
          <a:ln/>
        </p:spPr>
        <p:txBody>
          <a:bodyPr wrap="square" lIns="0" tIns="0" rIns="0" bIns="0" rtlCol="0" anchor="ctr"/>
          <a:lstStyle/>
          <a:p>
            <a:pPr indent="0" marL="0">
              <a:buNone/>
            </a:pPr>
            <a:r>
              <a:rPr lang="en-US" sz="1000" i="1" dirty="0">
                <a:solidFill>
                  <a:srgbClr val="64748B"/>
                </a:solidFill>
                <a:latin typeface="Arial" pitchFamily="34" charset="0"/>
                <a:ea typeface="Arial" pitchFamily="34" charset="-122"/>
                <a:cs typeface="Arial" pitchFamily="34" charset="-120"/>
              </a:rPr>
              <a:t>(what most practices live with)</a:t>
            </a:r>
            <a:endParaRPr lang="en-US" sz="1000" dirty="0"/>
          </a:p>
        </p:txBody>
      </p:sp>
      <p:sp>
        <p:nvSpPr>
          <p:cNvPr id="15" name="Shape 12"/>
          <p:cNvSpPr/>
          <p:nvPr/>
        </p:nvSpPr>
        <p:spPr>
          <a:xfrm>
            <a:off x="685800" y="3026664"/>
            <a:ext cx="91440" cy="91440"/>
          </a:xfrm>
          <a:prstGeom prst="ellipse">
            <a:avLst/>
          </a:prstGeom>
          <a:solidFill>
            <a:srgbClr val="64748B"/>
          </a:solidFill>
          <a:ln w="12700">
            <a:solidFill>
              <a:srgbClr val="64748B">
                <a:alpha val="0"/>
              </a:srgbClr>
            </a:solidFill>
            <a:prstDash val="solid"/>
          </a:ln>
        </p:spPr>
      </p:sp>
      <p:sp>
        <p:nvSpPr>
          <p:cNvPr id="16" name="Text 13"/>
          <p:cNvSpPr/>
          <p:nvPr/>
        </p:nvSpPr>
        <p:spPr>
          <a:xfrm>
            <a:off x="850392" y="2971800"/>
            <a:ext cx="2121408" cy="58521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Devices bought ad hoc, one crisis at a time</a:t>
            </a:r>
            <a:endParaRPr lang="en-US" sz="1050" dirty="0"/>
          </a:p>
        </p:txBody>
      </p:sp>
      <p:sp>
        <p:nvSpPr>
          <p:cNvPr id="17" name="Shape 14"/>
          <p:cNvSpPr/>
          <p:nvPr/>
        </p:nvSpPr>
        <p:spPr>
          <a:xfrm>
            <a:off x="685800" y="3648456"/>
            <a:ext cx="91440" cy="91440"/>
          </a:xfrm>
          <a:prstGeom prst="ellipse">
            <a:avLst/>
          </a:prstGeom>
          <a:solidFill>
            <a:srgbClr val="64748B"/>
          </a:solidFill>
          <a:ln w="12700">
            <a:solidFill>
              <a:srgbClr val="64748B">
                <a:alpha val="0"/>
              </a:srgbClr>
            </a:solidFill>
            <a:prstDash val="solid"/>
          </a:ln>
        </p:spPr>
      </p:sp>
      <p:sp>
        <p:nvSpPr>
          <p:cNvPr id="18" name="Text 15"/>
          <p:cNvSpPr/>
          <p:nvPr/>
        </p:nvSpPr>
        <p:spPr>
          <a:xfrm>
            <a:off x="850392" y="3593592"/>
            <a:ext cx="2121408" cy="58521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Consumer-grade Wi-Fi carrying patient data</a:t>
            </a:r>
            <a:endParaRPr lang="en-US" sz="1050" dirty="0"/>
          </a:p>
        </p:txBody>
      </p:sp>
      <p:sp>
        <p:nvSpPr>
          <p:cNvPr id="19" name="Shape 16"/>
          <p:cNvSpPr/>
          <p:nvPr/>
        </p:nvSpPr>
        <p:spPr>
          <a:xfrm>
            <a:off x="685800" y="4270248"/>
            <a:ext cx="91440" cy="91440"/>
          </a:xfrm>
          <a:prstGeom prst="ellipse">
            <a:avLst/>
          </a:prstGeom>
          <a:solidFill>
            <a:srgbClr val="64748B"/>
          </a:solidFill>
          <a:ln w="12700">
            <a:solidFill>
              <a:srgbClr val="64748B">
                <a:alpha val="0"/>
              </a:srgbClr>
            </a:solidFill>
            <a:prstDash val="solid"/>
          </a:ln>
        </p:spPr>
      </p:sp>
      <p:sp>
        <p:nvSpPr>
          <p:cNvPr id="20" name="Text 17"/>
          <p:cNvSpPr/>
          <p:nvPr/>
        </p:nvSpPr>
        <p:spPr>
          <a:xfrm>
            <a:off x="850392" y="4215384"/>
            <a:ext cx="2121408" cy="58521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EMR access set up laptop-by-laptop, by whoever's around</a:t>
            </a:r>
            <a:endParaRPr lang="en-US" sz="1050" dirty="0"/>
          </a:p>
        </p:txBody>
      </p:sp>
      <p:sp>
        <p:nvSpPr>
          <p:cNvPr id="21" name="Shape 18"/>
          <p:cNvSpPr/>
          <p:nvPr/>
        </p:nvSpPr>
        <p:spPr>
          <a:xfrm>
            <a:off x="685800" y="4892040"/>
            <a:ext cx="91440" cy="91440"/>
          </a:xfrm>
          <a:prstGeom prst="ellipse">
            <a:avLst/>
          </a:prstGeom>
          <a:solidFill>
            <a:srgbClr val="64748B"/>
          </a:solidFill>
          <a:ln w="12700">
            <a:solidFill>
              <a:srgbClr val="64748B">
                <a:alpha val="0"/>
              </a:srgbClr>
            </a:solidFill>
            <a:prstDash val="solid"/>
          </a:ln>
        </p:spPr>
      </p:sp>
      <p:sp>
        <p:nvSpPr>
          <p:cNvPr id="22" name="Text 19"/>
          <p:cNvSpPr/>
          <p:nvPr/>
        </p:nvSpPr>
        <p:spPr>
          <a:xfrm>
            <a:off x="850392" y="4837176"/>
            <a:ext cx="2121408" cy="58521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Compliance bolted on after the fact</a:t>
            </a:r>
            <a:endParaRPr lang="en-US" sz="1050" dirty="0"/>
          </a:p>
        </p:txBody>
      </p:sp>
      <p:sp>
        <p:nvSpPr>
          <p:cNvPr id="23" name="Shape 20"/>
          <p:cNvSpPr/>
          <p:nvPr/>
        </p:nvSpPr>
        <p:spPr>
          <a:xfrm>
            <a:off x="685800" y="5513832"/>
            <a:ext cx="91440" cy="91440"/>
          </a:xfrm>
          <a:prstGeom prst="ellipse">
            <a:avLst/>
          </a:prstGeom>
          <a:solidFill>
            <a:srgbClr val="64748B"/>
          </a:solidFill>
          <a:ln w="12700">
            <a:solidFill>
              <a:srgbClr val="64748B">
                <a:alpha val="0"/>
              </a:srgbClr>
            </a:solidFill>
            <a:prstDash val="solid"/>
          </a:ln>
        </p:spPr>
      </p:sp>
      <p:sp>
        <p:nvSpPr>
          <p:cNvPr id="24" name="Text 21"/>
          <p:cNvSpPr/>
          <p:nvPr/>
        </p:nvSpPr>
        <p:spPr>
          <a:xfrm>
            <a:off x="850392" y="5458968"/>
            <a:ext cx="2121408" cy="58521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Week-one surprises: dead spots, dropped faxes, no backups</a:t>
            </a:r>
            <a:endParaRPr lang="en-US" sz="1050" dirty="0"/>
          </a:p>
        </p:txBody>
      </p:sp>
      <p:sp>
        <p:nvSpPr>
          <p:cNvPr id="25" name="Shape 22"/>
          <p:cNvSpPr/>
          <p:nvPr/>
        </p:nvSpPr>
        <p:spPr>
          <a:xfrm>
            <a:off x="3291840" y="2103120"/>
            <a:ext cx="2606040" cy="4114800"/>
          </a:xfrm>
          <a:prstGeom prst="roundRect">
            <a:avLst>
              <a:gd name="adj" fmla="val 2807"/>
            </a:avLst>
          </a:prstGeom>
          <a:solidFill>
            <a:srgbClr val="FFFFFF"/>
          </a:solidFill>
          <a:ln w="12700">
            <a:solidFill>
              <a:srgbClr val="D8E0EA"/>
            </a:solidFill>
            <a:prstDash val="solid"/>
          </a:ln>
        </p:spPr>
      </p:sp>
      <p:sp>
        <p:nvSpPr>
          <p:cNvPr id="26" name="Shape 23"/>
          <p:cNvSpPr/>
          <p:nvPr/>
        </p:nvSpPr>
        <p:spPr>
          <a:xfrm>
            <a:off x="3291840" y="2103120"/>
            <a:ext cx="2606040" cy="91440"/>
          </a:xfrm>
          <a:prstGeom prst="rect">
            <a:avLst/>
          </a:prstGeom>
          <a:solidFill>
            <a:srgbClr val="F67D4B"/>
          </a:solidFill>
          <a:ln w="12700">
            <a:solidFill>
              <a:srgbClr val="F67D4B">
                <a:alpha val="0"/>
              </a:srgbClr>
            </a:solidFill>
            <a:prstDash val="solid"/>
          </a:ln>
        </p:spPr>
      </p:sp>
      <p:sp>
        <p:nvSpPr>
          <p:cNvPr id="27" name="Text 24"/>
          <p:cNvSpPr/>
          <p:nvPr/>
        </p:nvSpPr>
        <p:spPr>
          <a:xfrm>
            <a:off x="3456432" y="2286000"/>
            <a:ext cx="2286000" cy="29260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Your greenfield</a:t>
            </a:r>
            <a:endParaRPr lang="en-US" sz="1500" dirty="0"/>
          </a:p>
        </p:txBody>
      </p:sp>
      <p:sp>
        <p:nvSpPr>
          <p:cNvPr id="28" name="Text 25"/>
          <p:cNvSpPr/>
          <p:nvPr/>
        </p:nvSpPr>
        <p:spPr>
          <a:xfrm>
            <a:off x="3456432" y="2578608"/>
            <a:ext cx="2286000" cy="256032"/>
          </a:xfrm>
          <a:prstGeom prst="rect">
            <a:avLst/>
          </a:prstGeom>
          <a:noFill/>
          <a:ln/>
        </p:spPr>
        <p:txBody>
          <a:bodyPr wrap="square" lIns="0" tIns="0" rIns="0" bIns="0" rtlCol="0" anchor="ctr"/>
          <a:lstStyle/>
          <a:p>
            <a:pPr indent="0" marL="0">
              <a:buNone/>
            </a:pPr>
            <a:r>
              <a:rPr lang="en-US" sz="1000" i="1" dirty="0">
                <a:solidFill>
                  <a:srgbClr val="F67D4B"/>
                </a:solidFill>
                <a:latin typeface="Arial" pitchFamily="34" charset="0"/>
                <a:ea typeface="Arial" pitchFamily="34" charset="-122"/>
                <a:cs typeface="Arial" pitchFamily="34" charset="-120"/>
              </a:rPr>
              <a:t>(built on purpose)</a:t>
            </a:r>
            <a:endParaRPr lang="en-US" sz="1000" dirty="0"/>
          </a:p>
        </p:txBody>
      </p:sp>
      <p:sp>
        <p:nvSpPr>
          <p:cNvPr id="29" name="Shape 26"/>
          <p:cNvSpPr/>
          <p:nvPr/>
        </p:nvSpPr>
        <p:spPr>
          <a:xfrm>
            <a:off x="3474720" y="3026664"/>
            <a:ext cx="91440" cy="91440"/>
          </a:xfrm>
          <a:prstGeom prst="ellipse">
            <a:avLst/>
          </a:prstGeom>
          <a:solidFill>
            <a:srgbClr val="F67D4B"/>
          </a:solidFill>
          <a:ln w="12700">
            <a:solidFill>
              <a:srgbClr val="F67D4B">
                <a:alpha val="0"/>
              </a:srgbClr>
            </a:solidFill>
            <a:prstDash val="solid"/>
          </a:ln>
        </p:spPr>
      </p:sp>
      <p:sp>
        <p:nvSpPr>
          <p:cNvPr id="30" name="Text 27"/>
          <p:cNvSpPr/>
          <p:nvPr/>
        </p:nvSpPr>
        <p:spPr>
          <a:xfrm>
            <a:off x="3639312" y="2971800"/>
            <a:ext cx="2121408" cy="58521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Every component chosen once, to a plan</a:t>
            </a:r>
            <a:endParaRPr lang="en-US" sz="1050" dirty="0"/>
          </a:p>
        </p:txBody>
      </p:sp>
      <p:sp>
        <p:nvSpPr>
          <p:cNvPr id="31" name="Shape 28"/>
          <p:cNvSpPr/>
          <p:nvPr/>
        </p:nvSpPr>
        <p:spPr>
          <a:xfrm>
            <a:off x="3474720" y="3648456"/>
            <a:ext cx="91440" cy="91440"/>
          </a:xfrm>
          <a:prstGeom prst="ellipse">
            <a:avLst/>
          </a:prstGeom>
          <a:solidFill>
            <a:srgbClr val="F67D4B"/>
          </a:solidFill>
          <a:ln w="12700">
            <a:solidFill>
              <a:srgbClr val="F67D4B">
                <a:alpha val="0"/>
              </a:srgbClr>
            </a:solidFill>
            <a:prstDash val="solid"/>
          </a:ln>
        </p:spPr>
      </p:sp>
      <p:sp>
        <p:nvSpPr>
          <p:cNvPr id="32" name="Text 29"/>
          <p:cNvSpPr/>
          <p:nvPr/>
        </p:nvSpPr>
        <p:spPr>
          <a:xfrm>
            <a:off x="3639312" y="3593592"/>
            <a:ext cx="2121408" cy="58521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Clinical-grade, segmented network from day one</a:t>
            </a:r>
            <a:endParaRPr lang="en-US" sz="1050" dirty="0"/>
          </a:p>
        </p:txBody>
      </p:sp>
      <p:sp>
        <p:nvSpPr>
          <p:cNvPr id="33" name="Shape 30"/>
          <p:cNvSpPr/>
          <p:nvPr/>
        </p:nvSpPr>
        <p:spPr>
          <a:xfrm>
            <a:off x="3474720" y="4270248"/>
            <a:ext cx="91440" cy="91440"/>
          </a:xfrm>
          <a:prstGeom prst="ellipse">
            <a:avLst/>
          </a:prstGeom>
          <a:solidFill>
            <a:srgbClr val="F67D4B"/>
          </a:solidFill>
          <a:ln w="12700">
            <a:solidFill>
              <a:srgbClr val="F67D4B">
                <a:alpha val="0"/>
              </a:srgbClr>
            </a:solidFill>
            <a:prstDash val="solid"/>
          </a:ln>
        </p:spPr>
      </p:sp>
      <p:sp>
        <p:nvSpPr>
          <p:cNvPr id="34" name="Text 31"/>
          <p:cNvSpPr/>
          <p:nvPr/>
        </p:nvSpPr>
        <p:spPr>
          <a:xfrm>
            <a:off x="3639312" y="4215384"/>
            <a:ext cx="2121408" cy="58521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Hospital access engineered per ecosystem — all three</a:t>
            </a:r>
            <a:endParaRPr lang="en-US" sz="1050" dirty="0"/>
          </a:p>
        </p:txBody>
      </p:sp>
      <p:sp>
        <p:nvSpPr>
          <p:cNvPr id="35" name="Shape 32"/>
          <p:cNvSpPr/>
          <p:nvPr/>
        </p:nvSpPr>
        <p:spPr>
          <a:xfrm>
            <a:off x="3474720" y="4892040"/>
            <a:ext cx="91440" cy="91440"/>
          </a:xfrm>
          <a:prstGeom prst="ellipse">
            <a:avLst/>
          </a:prstGeom>
          <a:solidFill>
            <a:srgbClr val="F67D4B"/>
          </a:solidFill>
          <a:ln w="12700">
            <a:solidFill>
              <a:srgbClr val="F67D4B">
                <a:alpha val="0"/>
              </a:srgbClr>
            </a:solidFill>
            <a:prstDash val="solid"/>
          </a:ln>
        </p:spPr>
      </p:sp>
      <p:sp>
        <p:nvSpPr>
          <p:cNvPr id="36" name="Text 33"/>
          <p:cNvSpPr/>
          <p:nvPr/>
        </p:nvSpPr>
        <p:spPr>
          <a:xfrm>
            <a:off x="3639312" y="4837176"/>
            <a:ext cx="2121408" cy="58521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HIPAA safeguards designed into the architecture</a:t>
            </a:r>
            <a:endParaRPr lang="en-US" sz="1050" dirty="0"/>
          </a:p>
        </p:txBody>
      </p:sp>
      <p:sp>
        <p:nvSpPr>
          <p:cNvPr id="37" name="Shape 34"/>
          <p:cNvSpPr/>
          <p:nvPr/>
        </p:nvSpPr>
        <p:spPr>
          <a:xfrm>
            <a:off x="3474720" y="5513832"/>
            <a:ext cx="91440" cy="91440"/>
          </a:xfrm>
          <a:prstGeom prst="ellipse">
            <a:avLst/>
          </a:prstGeom>
          <a:solidFill>
            <a:srgbClr val="F67D4B"/>
          </a:solidFill>
          <a:ln w="12700">
            <a:solidFill>
              <a:srgbClr val="F67D4B">
                <a:alpha val="0"/>
              </a:srgbClr>
            </a:solidFill>
            <a:prstDash val="solid"/>
          </a:ln>
        </p:spPr>
      </p:sp>
      <p:sp>
        <p:nvSpPr>
          <p:cNvPr id="38" name="Text 35"/>
          <p:cNvSpPr/>
          <p:nvPr/>
        </p:nvSpPr>
        <p:spPr>
          <a:xfrm>
            <a:off x="3639312" y="5458968"/>
            <a:ext cx="2121408" cy="58521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Opening day is boring — everything just works</a:t>
            </a:r>
            <a:endParaRPr lang="en-US" sz="1050" dirty="0"/>
          </a:p>
        </p:txBody>
      </p:sp>
      <p:sp>
        <p:nvSpPr>
          <p:cNvPr id="39" name="Shape 36"/>
          <p:cNvSpPr/>
          <p:nvPr/>
        </p:nvSpPr>
        <p:spPr>
          <a:xfrm>
            <a:off x="6199632" y="2103120"/>
            <a:ext cx="5504688" cy="1261872"/>
          </a:xfrm>
          <a:prstGeom prst="roundRect">
            <a:avLst>
              <a:gd name="adj" fmla="val 5797"/>
            </a:avLst>
          </a:prstGeom>
          <a:solidFill>
            <a:srgbClr val="F8FAFC"/>
          </a:solidFill>
          <a:ln w="12700">
            <a:solidFill>
              <a:srgbClr val="D8E0EA"/>
            </a:solidFill>
            <a:prstDash val="solid"/>
          </a:ln>
        </p:spPr>
      </p:sp>
      <p:sp>
        <p:nvSpPr>
          <p:cNvPr id="40" name="Shape 37"/>
          <p:cNvSpPr/>
          <p:nvPr/>
        </p:nvSpPr>
        <p:spPr>
          <a:xfrm>
            <a:off x="6355080" y="2286000"/>
            <a:ext cx="685800" cy="685800"/>
          </a:xfrm>
          <a:prstGeom prst="roundRect">
            <a:avLst>
              <a:gd name="adj" fmla="val 13333"/>
            </a:avLst>
          </a:prstGeom>
          <a:solidFill>
            <a:srgbClr val="006DB6"/>
          </a:solidFill>
          <a:ln w="12700">
            <a:solidFill>
              <a:srgbClr val="006DB6">
                <a:alpha val="0"/>
              </a:srgbClr>
            </a:solidFill>
            <a:prstDash val="solid"/>
          </a:ln>
        </p:spPr>
      </p:sp>
      <p:sp>
        <p:nvSpPr>
          <p:cNvPr id="41" name="Text 38"/>
          <p:cNvSpPr/>
          <p:nvPr/>
        </p:nvSpPr>
        <p:spPr>
          <a:xfrm>
            <a:off x="6355080" y="228600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42" name="Text 39"/>
          <p:cNvSpPr/>
          <p:nvPr/>
        </p:nvSpPr>
        <p:spPr>
          <a:xfrm>
            <a:off x="7178040" y="2231136"/>
            <a:ext cx="4389120" cy="292608"/>
          </a:xfrm>
          <a:prstGeom prst="rect">
            <a:avLst/>
          </a:prstGeom>
          <a:noFill/>
          <a:ln/>
        </p:spPr>
        <p:txBody>
          <a:bodyPr wrap="square" lIns="0" tIns="0" rIns="0" bIns="0" rtlCol="0" anchor="ctr"/>
          <a:lstStyle/>
          <a:p>
            <a:pPr indent="0" marL="0">
              <a:buNone/>
            </a:pPr>
            <a:r>
              <a:rPr lang="en-US" sz="1350" b="1" dirty="0">
                <a:solidFill>
                  <a:srgbClr val="1A1A2E"/>
                </a:solidFill>
                <a:latin typeface="Arial" pitchFamily="34" charset="0"/>
                <a:ea typeface="Arial" pitchFamily="34" charset="-122"/>
                <a:cs typeface="Arial" pitchFamily="34" charset="-120"/>
              </a:rPr>
              <a:t>The EMR strategy drives the build</a:t>
            </a:r>
            <a:endParaRPr lang="en-US" sz="1350" dirty="0"/>
          </a:p>
        </p:txBody>
      </p:sp>
      <p:sp>
        <p:nvSpPr>
          <p:cNvPr id="43" name="Text 40"/>
          <p:cNvSpPr/>
          <p:nvPr/>
        </p:nvSpPr>
        <p:spPr>
          <a:xfrm>
            <a:off x="7178040" y="2523744"/>
            <a:ext cx="4434840" cy="786384"/>
          </a:xfrm>
          <a:prstGeom prst="rect">
            <a:avLst/>
          </a:prstGeom>
          <a:noFill/>
          <a:ln/>
        </p:spPr>
        <p:txBody>
          <a:bodyPr wrap="square" lIns="0" tIns="0" rIns="0" bIns="0" rtlCol="0" anchor="t"/>
          <a:lstStyle/>
          <a:p>
            <a:pPr indent="0" marL="0">
              <a:buNone/>
            </a:pPr>
            <a:r>
              <a:rPr lang="en-US" sz="980" dirty="0">
                <a:solidFill>
                  <a:srgbClr val="334155"/>
                </a:solidFill>
                <a:latin typeface="Arial" pitchFamily="34" charset="0"/>
                <a:ea typeface="Arial" pitchFamily="34" charset="-122"/>
                <a:cs typeface="Arial" pitchFamily="34" charset="-120"/>
              </a:rPr>
              <a:t>How you'll work across Cerner, Epic, and Kaiser — and whether you run your own practice system — shapes the workstations, network, and security underneath. We settle that first.</a:t>
            </a:r>
            <a:endParaRPr lang="en-US" sz="980" dirty="0"/>
          </a:p>
        </p:txBody>
      </p:sp>
      <p:sp>
        <p:nvSpPr>
          <p:cNvPr id="44" name="Shape 41"/>
          <p:cNvSpPr/>
          <p:nvPr/>
        </p:nvSpPr>
        <p:spPr>
          <a:xfrm>
            <a:off x="6199632" y="3493008"/>
            <a:ext cx="5504688" cy="1261872"/>
          </a:xfrm>
          <a:prstGeom prst="roundRect">
            <a:avLst>
              <a:gd name="adj" fmla="val 5797"/>
            </a:avLst>
          </a:prstGeom>
          <a:solidFill>
            <a:srgbClr val="F8FAFC"/>
          </a:solidFill>
          <a:ln w="12700">
            <a:solidFill>
              <a:srgbClr val="D8E0EA"/>
            </a:solidFill>
            <a:prstDash val="solid"/>
          </a:ln>
        </p:spPr>
      </p:sp>
      <p:sp>
        <p:nvSpPr>
          <p:cNvPr id="45" name="Shape 42"/>
          <p:cNvSpPr/>
          <p:nvPr/>
        </p:nvSpPr>
        <p:spPr>
          <a:xfrm>
            <a:off x="6355080" y="3675888"/>
            <a:ext cx="685800" cy="685800"/>
          </a:xfrm>
          <a:prstGeom prst="roundRect">
            <a:avLst>
              <a:gd name="adj" fmla="val 13333"/>
            </a:avLst>
          </a:prstGeom>
          <a:solidFill>
            <a:srgbClr val="1EAAC8"/>
          </a:solidFill>
          <a:ln w="12700">
            <a:solidFill>
              <a:srgbClr val="1EAAC8">
                <a:alpha val="0"/>
              </a:srgbClr>
            </a:solidFill>
            <a:prstDash val="solid"/>
          </a:ln>
        </p:spPr>
      </p:sp>
      <p:sp>
        <p:nvSpPr>
          <p:cNvPr id="46" name="Text 43"/>
          <p:cNvSpPr/>
          <p:nvPr/>
        </p:nvSpPr>
        <p:spPr>
          <a:xfrm>
            <a:off x="6355080" y="3675888"/>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47" name="Text 44"/>
          <p:cNvSpPr/>
          <p:nvPr/>
        </p:nvSpPr>
        <p:spPr>
          <a:xfrm>
            <a:off x="7178040" y="3621024"/>
            <a:ext cx="4389120" cy="292608"/>
          </a:xfrm>
          <a:prstGeom prst="rect">
            <a:avLst/>
          </a:prstGeom>
          <a:noFill/>
          <a:ln/>
        </p:spPr>
        <p:txBody>
          <a:bodyPr wrap="square" lIns="0" tIns="0" rIns="0" bIns="0" rtlCol="0" anchor="ctr"/>
          <a:lstStyle/>
          <a:p>
            <a:pPr indent="0" marL="0">
              <a:buNone/>
            </a:pPr>
            <a:r>
              <a:rPr lang="en-US" sz="1350" b="1" dirty="0">
                <a:solidFill>
                  <a:srgbClr val="1A1A2E"/>
                </a:solidFill>
                <a:latin typeface="Arial" pitchFamily="34" charset="0"/>
                <a:ea typeface="Arial" pitchFamily="34" charset="-122"/>
                <a:cs typeface="Arial" pitchFamily="34" charset="-120"/>
              </a:rPr>
              <a:t>Lead times gate opening day</a:t>
            </a:r>
            <a:endParaRPr lang="en-US" sz="1350" dirty="0"/>
          </a:p>
        </p:txBody>
      </p:sp>
      <p:sp>
        <p:nvSpPr>
          <p:cNvPr id="48" name="Text 45"/>
          <p:cNvSpPr/>
          <p:nvPr/>
        </p:nvSpPr>
        <p:spPr>
          <a:xfrm>
            <a:off x="7178040" y="3913632"/>
            <a:ext cx="4434840" cy="786384"/>
          </a:xfrm>
          <a:prstGeom prst="rect">
            <a:avLst/>
          </a:prstGeom>
          <a:noFill/>
          <a:ln/>
        </p:spPr>
        <p:txBody>
          <a:bodyPr wrap="square" lIns="0" tIns="0" rIns="0" bIns="0" rtlCol="0" anchor="t"/>
          <a:lstStyle/>
          <a:p>
            <a:pPr indent="0" marL="0">
              <a:buNone/>
            </a:pPr>
            <a:r>
              <a:rPr lang="en-US" sz="980" dirty="0">
                <a:solidFill>
                  <a:srgbClr val="334155"/>
                </a:solidFill>
                <a:latin typeface="Arial" pitchFamily="34" charset="0"/>
                <a:ea typeface="Arial" pitchFamily="34" charset="-122"/>
                <a:cs typeface="Arial" pitchFamily="34" charset="-120"/>
              </a:rPr>
              <a:t>Internet circuits, hardware orders, and hospital IT access processes each take weeks. The build schedules backward from your opening date — the earlier we start, the calmer it goes.</a:t>
            </a:r>
            <a:endParaRPr lang="en-US" sz="980" dirty="0"/>
          </a:p>
        </p:txBody>
      </p:sp>
      <p:sp>
        <p:nvSpPr>
          <p:cNvPr id="49" name="Shape 46"/>
          <p:cNvSpPr/>
          <p:nvPr/>
        </p:nvSpPr>
        <p:spPr>
          <a:xfrm>
            <a:off x="6199632" y="4882896"/>
            <a:ext cx="5504688" cy="1261872"/>
          </a:xfrm>
          <a:prstGeom prst="roundRect">
            <a:avLst>
              <a:gd name="adj" fmla="val 5797"/>
            </a:avLst>
          </a:prstGeom>
          <a:solidFill>
            <a:srgbClr val="F8FAFC"/>
          </a:solidFill>
          <a:ln w="12700">
            <a:solidFill>
              <a:srgbClr val="D8E0EA"/>
            </a:solidFill>
            <a:prstDash val="solid"/>
          </a:ln>
        </p:spPr>
      </p:sp>
      <p:sp>
        <p:nvSpPr>
          <p:cNvPr id="50" name="Shape 47"/>
          <p:cNvSpPr/>
          <p:nvPr/>
        </p:nvSpPr>
        <p:spPr>
          <a:xfrm>
            <a:off x="6355080" y="5065776"/>
            <a:ext cx="685800" cy="685800"/>
          </a:xfrm>
          <a:prstGeom prst="roundRect">
            <a:avLst>
              <a:gd name="adj" fmla="val 13333"/>
            </a:avLst>
          </a:prstGeom>
          <a:solidFill>
            <a:srgbClr val="F67D4B"/>
          </a:solidFill>
          <a:ln w="12700">
            <a:solidFill>
              <a:srgbClr val="F67D4B">
                <a:alpha val="0"/>
              </a:srgbClr>
            </a:solidFill>
            <a:prstDash val="solid"/>
          </a:ln>
        </p:spPr>
      </p:sp>
      <p:sp>
        <p:nvSpPr>
          <p:cNvPr id="51" name="Text 48"/>
          <p:cNvSpPr/>
          <p:nvPr/>
        </p:nvSpPr>
        <p:spPr>
          <a:xfrm>
            <a:off x="6355080" y="5065776"/>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52" name="Text 49"/>
          <p:cNvSpPr/>
          <p:nvPr/>
        </p:nvSpPr>
        <p:spPr>
          <a:xfrm>
            <a:off x="7178040" y="5010912"/>
            <a:ext cx="4389120" cy="292608"/>
          </a:xfrm>
          <a:prstGeom prst="rect">
            <a:avLst/>
          </a:prstGeom>
          <a:noFill/>
          <a:ln/>
        </p:spPr>
        <p:txBody>
          <a:bodyPr wrap="square" lIns="0" tIns="0" rIns="0" bIns="0" rtlCol="0" anchor="ctr"/>
          <a:lstStyle/>
          <a:p>
            <a:pPr indent="0" marL="0">
              <a:buNone/>
            </a:pPr>
            <a:r>
              <a:rPr lang="en-US" sz="1350" b="1" dirty="0">
                <a:solidFill>
                  <a:srgbClr val="1A1A2E"/>
                </a:solidFill>
                <a:latin typeface="Arial" pitchFamily="34" charset="0"/>
                <a:ea typeface="Arial" pitchFamily="34" charset="-122"/>
                <a:cs typeface="Arial" pitchFamily="34" charset="-120"/>
              </a:rPr>
              <a:t>Compliance is cheapest on day one</a:t>
            </a:r>
            <a:endParaRPr lang="en-US" sz="1350" dirty="0"/>
          </a:p>
        </p:txBody>
      </p:sp>
      <p:sp>
        <p:nvSpPr>
          <p:cNvPr id="53" name="Text 50"/>
          <p:cNvSpPr/>
          <p:nvPr/>
        </p:nvSpPr>
        <p:spPr>
          <a:xfrm>
            <a:off x="7178040" y="5303520"/>
            <a:ext cx="4434840" cy="786384"/>
          </a:xfrm>
          <a:prstGeom prst="rect">
            <a:avLst/>
          </a:prstGeom>
          <a:noFill/>
          <a:ln/>
        </p:spPr>
        <p:txBody>
          <a:bodyPr wrap="square" lIns="0" tIns="0" rIns="0" bIns="0" rtlCol="0" anchor="t"/>
          <a:lstStyle/>
          <a:p>
            <a:pPr indent="0" marL="0">
              <a:buNone/>
            </a:pPr>
            <a:r>
              <a:rPr lang="en-US" sz="980" dirty="0">
                <a:solidFill>
                  <a:srgbClr val="334155"/>
                </a:solidFill>
                <a:latin typeface="Arial" pitchFamily="34" charset="0"/>
                <a:ea typeface="Arial" pitchFamily="34" charset="-122"/>
                <a:cs typeface="Arial" pitchFamily="34" charset="-120"/>
              </a:rPr>
              <a:t>HIPAA safeguards designed into the architecture cost a fraction of retrofitting them — and your cyber-insurance application will ask for them anyway.</a:t>
            </a:r>
            <a:endParaRPr lang="en-US" sz="9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sp>
      <p:pic>
        <p:nvPicPr>
          <p:cNvPr id="3" name="Image 0" descr="C:/vscode/tech-branding/tech-brandin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YOUR FIRST ASK — SOFTWARE INTERFACES</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What “using Cerner, Epic and Kaiser” means for the build</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Two proven patterns — most surgical practices end up with a blend. Discovery decides the mix; the build then makes it seamless.</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Javier Romero, MD FACS  |  IT Discovery  |  2026-06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5</a:t>
            </a:r>
            <a:endParaRPr lang="en-US" sz="1000" dirty="0"/>
          </a:p>
        </p:txBody>
      </p:sp>
      <p:sp>
        <p:nvSpPr>
          <p:cNvPr id="11" name="Shape 8"/>
          <p:cNvSpPr/>
          <p:nvPr/>
        </p:nvSpPr>
        <p:spPr>
          <a:xfrm>
            <a:off x="502920" y="2103120"/>
            <a:ext cx="3611880" cy="3520440"/>
          </a:xfrm>
          <a:prstGeom prst="roundRect">
            <a:avLst>
              <a:gd name="adj" fmla="val 2078"/>
            </a:avLst>
          </a:prstGeom>
          <a:solidFill>
            <a:srgbClr val="FFFFFF"/>
          </a:solidFill>
          <a:ln w="12700">
            <a:solidFill>
              <a:srgbClr val="D8E0EA"/>
            </a:solidFill>
            <a:prstDash val="solid"/>
          </a:ln>
        </p:spPr>
      </p:sp>
      <p:sp>
        <p:nvSpPr>
          <p:cNvPr id="12" name="Shape 9"/>
          <p:cNvSpPr/>
          <p:nvPr/>
        </p:nvSpPr>
        <p:spPr>
          <a:xfrm>
            <a:off x="502920" y="2103120"/>
            <a:ext cx="361188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86000"/>
            <a:ext cx="328269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PATTERN A — WORK INSIDE THEIR SYSTEMS</a:t>
            </a:r>
            <a:endParaRPr lang="en-US" sz="900" dirty="0"/>
          </a:p>
        </p:txBody>
      </p:sp>
      <p:sp>
        <p:nvSpPr>
          <p:cNvPr id="14" name="Text 11"/>
          <p:cNvSpPr/>
          <p:nvPr/>
        </p:nvSpPr>
        <p:spPr>
          <a:xfrm>
            <a:off x="667512" y="2505456"/>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Hospital portals, engineered</a:t>
            </a:r>
            <a:endParaRPr lang="en-US" sz="1450" dirty="0"/>
          </a:p>
        </p:txBody>
      </p:sp>
      <p:sp>
        <p:nvSpPr>
          <p:cNvPr id="15" name="Text 12"/>
          <p:cNvSpPr/>
          <p:nvPr/>
        </p:nvSpPr>
        <p:spPr>
          <a:xfrm>
            <a:off x="667512" y="2944368"/>
            <a:ext cx="3282696" cy="2542032"/>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You document and round inside each hospital's own EMR via credentialed community-provider access.</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What that takes: per-hospital access clients (Citrix / VDI / web), secured and certified on every workstation; fast dual-monitor setups; identity hygiene and MFA per health system; and one tested login experience in every exam room — not three fights per patient.</a:t>
            </a:r>
            <a:endParaRPr lang="en-US" sz="1050" dirty="0"/>
          </a:p>
        </p:txBody>
      </p:sp>
      <p:sp>
        <p:nvSpPr>
          <p:cNvPr id="16" name="Shape 13"/>
          <p:cNvSpPr/>
          <p:nvPr/>
        </p:nvSpPr>
        <p:spPr>
          <a:xfrm>
            <a:off x="4306824" y="2103120"/>
            <a:ext cx="3611880" cy="3520440"/>
          </a:xfrm>
          <a:prstGeom prst="roundRect">
            <a:avLst>
              <a:gd name="adj" fmla="val 2078"/>
            </a:avLst>
          </a:prstGeom>
          <a:solidFill>
            <a:srgbClr val="FFFFFF"/>
          </a:solidFill>
          <a:ln w="12700">
            <a:solidFill>
              <a:srgbClr val="D8E0EA"/>
            </a:solidFill>
            <a:prstDash val="solid"/>
          </a:ln>
        </p:spPr>
      </p:sp>
      <p:sp>
        <p:nvSpPr>
          <p:cNvPr id="17" name="Shape 14"/>
          <p:cNvSpPr/>
          <p:nvPr/>
        </p:nvSpPr>
        <p:spPr>
          <a:xfrm>
            <a:off x="4306824" y="2103120"/>
            <a:ext cx="3611880" cy="91440"/>
          </a:xfrm>
          <a:prstGeom prst="rect">
            <a:avLst/>
          </a:prstGeom>
          <a:solidFill>
            <a:srgbClr val="F67D4B"/>
          </a:solidFill>
          <a:ln w="12700">
            <a:solidFill>
              <a:srgbClr val="F67D4B">
                <a:alpha val="0"/>
              </a:srgbClr>
            </a:solidFill>
            <a:prstDash val="solid"/>
          </a:ln>
        </p:spPr>
      </p:sp>
      <p:sp>
        <p:nvSpPr>
          <p:cNvPr id="18" name="Text 15"/>
          <p:cNvSpPr/>
          <p:nvPr/>
        </p:nvSpPr>
        <p:spPr>
          <a:xfrm>
            <a:off x="4471416" y="2286000"/>
            <a:ext cx="328269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PATTERN B — RUN YOUR OWN SYSTEM</a:t>
            </a:r>
            <a:endParaRPr lang="en-US" sz="900" dirty="0"/>
          </a:p>
        </p:txBody>
      </p:sp>
      <p:sp>
        <p:nvSpPr>
          <p:cNvPr id="19" name="Text 16"/>
          <p:cNvSpPr/>
          <p:nvPr/>
        </p:nvSpPr>
        <p:spPr>
          <a:xfrm>
            <a:off x="4471416" y="2505456"/>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Practice EHR/PM + exchange</a:t>
            </a:r>
            <a:endParaRPr lang="en-US" sz="1450" dirty="0"/>
          </a:p>
        </p:txBody>
      </p:sp>
      <p:sp>
        <p:nvSpPr>
          <p:cNvPr id="20" name="Text 17"/>
          <p:cNvSpPr/>
          <p:nvPr/>
        </p:nvSpPr>
        <p:spPr>
          <a:xfrm>
            <a:off x="4471416" y="2944368"/>
            <a:ext cx="3282696" cy="2542032"/>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Your clinic runs its own EHR / practice-management system for office notes, scheduling, and billing — and exchanges with the hospitals.</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What that takes: EHR/PM selection support, HL7 / FHIR interfaces and Direct secure messaging where each hospital supports them, e-fax workflows for the rest, plus eRx and lab / imaging results routing into your charts.</a:t>
            </a:r>
            <a:endParaRPr lang="en-US" sz="1050" dirty="0"/>
          </a:p>
        </p:txBody>
      </p:sp>
      <p:sp>
        <p:nvSpPr>
          <p:cNvPr id="21" name="Shape 18"/>
          <p:cNvSpPr/>
          <p:nvPr/>
        </p:nvSpPr>
        <p:spPr>
          <a:xfrm>
            <a:off x="8110728" y="2103120"/>
            <a:ext cx="3611880" cy="3520440"/>
          </a:xfrm>
          <a:prstGeom prst="roundRect">
            <a:avLst>
              <a:gd name="adj" fmla="val 2078"/>
            </a:avLst>
          </a:prstGeom>
          <a:solidFill>
            <a:srgbClr val="FFFFFF"/>
          </a:solidFill>
          <a:ln w="12700">
            <a:solidFill>
              <a:srgbClr val="D8E0EA"/>
            </a:solidFill>
            <a:prstDash val="solid"/>
          </a:ln>
        </p:spPr>
      </p:sp>
      <p:sp>
        <p:nvSpPr>
          <p:cNvPr id="22" name="Shape 19"/>
          <p:cNvSpPr/>
          <p:nvPr/>
        </p:nvSpPr>
        <p:spPr>
          <a:xfrm>
            <a:off x="8110728" y="2103120"/>
            <a:ext cx="3611880" cy="91440"/>
          </a:xfrm>
          <a:prstGeom prst="rect">
            <a:avLst/>
          </a:prstGeom>
          <a:solidFill>
            <a:srgbClr val="1EAAC8"/>
          </a:solidFill>
          <a:ln w="12700">
            <a:solidFill>
              <a:srgbClr val="1EAAC8">
                <a:alpha val="0"/>
              </a:srgbClr>
            </a:solidFill>
            <a:prstDash val="solid"/>
          </a:ln>
        </p:spPr>
      </p:sp>
      <p:sp>
        <p:nvSpPr>
          <p:cNvPr id="23" name="Text 20"/>
          <p:cNvSpPr/>
          <p:nvPr/>
        </p:nvSpPr>
        <p:spPr>
          <a:xfrm>
            <a:off x="8275320" y="2286000"/>
            <a:ext cx="328269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EITHER WAY — WHAT TECHNIJIAN OWNS</a:t>
            </a:r>
            <a:endParaRPr lang="en-US" sz="900" dirty="0"/>
          </a:p>
        </p:txBody>
      </p:sp>
      <p:sp>
        <p:nvSpPr>
          <p:cNvPr id="24" name="Text 21"/>
          <p:cNvSpPr/>
          <p:nvPr/>
        </p:nvSpPr>
        <p:spPr>
          <a:xfrm>
            <a:off x="8275320" y="2505456"/>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We drive all three relationships</a:t>
            </a:r>
            <a:endParaRPr lang="en-US" sz="1450" dirty="0"/>
          </a:p>
        </p:txBody>
      </p:sp>
      <p:sp>
        <p:nvSpPr>
          <p:cNvPr id="25" name="Text 22"/>
          <p:cNvSpPr/>
          <p:nvPr/>
        </p:nvSpPr>
        <p:spPr>
          <a:xfrm>
            <a:off x="8275320" y="2944368"/>
            <a:ext cx="3282696" cy="2542032"/>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Hospital IT controls their side. We own yours — and we manage the process with each organization:</a:t>
            </a:r>
            <a:endParaRPr lang="en-US" sz="1050" dirty="0"/>
          </a:p>
          <a:p>
            <a:pPr indent="0" marL="0">
              <a:buNone/>
            </a:pP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Access / credentialing applications with each health-system IT</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Workstation builds certified against each portal</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Interface and Direct-messaging setup and testing</a:t>
            </a:r>
            <a:endParaRPr lang="en-US" sz="1050" dirty="0"/>
          </a:p>
          <a:p>
            <a:pPr indent="0" marL="0">
              <a:buNone/>
            </a:pPr>
            <a:r>
              <a:rPr lang="en-US" sz="1050" dirty="0">
                <a:solidFill>
                  <a:srgbClr val="334155"/>
                </a:solidFill>
                <a:latin typeface="Arial" pitchFamily="34" charset="0"/>
                <a:ea typeface="Arial" pitchFamily="34" charset="-122"/>
                <a:cs typeface="Arial" pitchFamily="34" charset="-120"/>
              </a:rPr>
              <a:t>•  One throat to choke when something breaks</a:t>
            </a:r>
            <a:endParaRPr lang="en-US" sz="1050" dirty="0"/>
          </a:p>
        </p:txBody>
      </p:sp>
      <p:sp>
        <p:nvSpPr>
          <p:cNvPr id="26" name="Shape 23"/>
          <p:cNvSpPr/>
          <p:nvPr/>
        </p:nvSpPr>
        <p:spPr>
          <a:xfrm>
            <a:off x="502920" y="5779008"/>
            <a:ext cx="11201400" cy="502920"/>
          </a:xfrm>
          <a:prstGeom prst="roundRect">
            <a:avLst>
              <a:gd name="adj" fmla="val 10909"/>
            </a:avLst>
          </a:prstGeom>
          <a:solidFill>
            <a:srgbClr val="1A1A2E"/>
          </a:solidFill>
          <a:ln w="12700">
            <a:solidFill>
              <a:srgbClr val="1A1A2E">
                <a:alpha val="0"/>
              </a:srgbClr>
            </a:solidFill>
            <a:prstDash val="solid"/>
          </a:ln>
        </p:spPr>
      </p:sp>
      <p:sp>
        <p:nvSpPr>
          <p:cNvPr id="27" name="Text 24"/>
          <p:cNvSpPr/>
          <p:nvPr/>
        </p:nvSpPr>
        <p:spPr>
          <a:xfrm>
            <a:off x="502920" y="5779008"/>
            <a:ext cx="1120140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Your three ecosystems are three separate IT organizations. Our job: you see patients — we handle the three IT departments.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67D4B"/>
          </a:solidFill>
          <a:ln w="12700">
            <a:solidFill>
              <a:srgbClr val="F67D4B">
                <a:alpha val="0"/>
              </a:srgbClr>
            </a:solidFill>
            <a:prstDash val="solid"/>
          </a:ln>
        </p:spPr>
      </p:sp>
      <p:pic>
        <p:nvPicPr>
          <p:cNvPr id="3" name="Image 0" descr="C:/vscode/tech-branding/tech-brandin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YOUR SECOND ASK — INFRASTRUCTURE</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The new-clinic blueprint — six layers, one build</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Everything a surgical sub-specialty clinic stands on. Each layer is sized to your floor plan, headcount, and workflow during discovery.</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Javier Romero, MD FACS  |  IT Discovery  |  2026-06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6</a:t>
            </a:r>
            <a:endParaRPr lang="en-US" sz="1000" dirty="0"/>
          </a:p>
        </p:txBody>
      </p:sp>
      <p:sp>
        <p:nvSpPr>
          <p:cNvPr id="11" name="Shape 8"/>
          <p:cNvSpPr/>
          <p:nvPr/>
        </p:nvSpPr>
        <p:spPr>
          <a:xfrm>
            <a:off x="502920" y="2103120"/>
            <a:ext cx="3611880" cy="1920240"/>
          </a:xfrm>
          <a:prstGeom prst="roundRect">
            <a:avLst>
              <a:gd name="adj" fmla="val 3810"/>
            </a:avLst>
          </a:prstGeom>
          <a:solidFill>
            <a:srgbClr val="FFFFFF"/>
          </a:solidFill>
          <a:ln w="12700">
            <a:solidFill>
              <a:srgbClr val="D8E0EA"/>
            </a:solidFill>
            <a:prstDash val="solid"/>
          </a:ln>
        </p:spPr>
      </p:sp>
      <p:sp>
        <p:nvSpPr>
          <p:cNvPr id="12" name="Shape 9"/>
          <p:cNvSpPr/>
          <p:nvPr/>
        </p:nvSpPr>
        <p:spPr>
          <a:xfrm>
            <a:off x="502920" y="2103120"/>
            <a:ext cx="361188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86000"/>
            <a:ext cx="328269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LAYER 01</a:t>
            </a:r>
            <a:endParaRPr lang="en-US" sz="900" dirty="0"/>
          </a:p>
        </p:txBody>
      </p:sp>
      <p:sp>
        <p:nvSpPr>
          <p:cNvPr id="14" name="Text 11"/>
          <p:cNvSpPr/>
          <p:nvPr/>
        </p:nvSpPr>
        <p:spPr>
          <a:xfrm>
            <a:off x="667512" y="250545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Connectivity &amp; network</a:t>
            </a:r>
            <a:endParaRPr lang="en-US" sz="1500" dirty="0"/>
          </a:p>
        </p:txBody>
      </p:sp>
      <p:sp>
        <p:nvSpPr>
          <p:cNvPr id="15" name="Text 12"/>
          <p:cNvSpPr/>
          <p:nvPr/>
        </p:nvSpPr>
        <p:spPr>
          <a:xfrm>
            <a:off x="667512" y="288950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Business internet + backup circuit, clinical-grade firewall, segmented Wi-Fi (clinical / office / guest), and structured cabling. Circuits have the longest lead time — we order them first.</a:t>
            </a:r>
            <a:endParaRPr lang="en-US" sz="1050" dirty="0"/>
          </a:p>
        </p:txBody>
      </p:sp>
      <p:sp>
        <p:nvSpPr>
          <p:cNvPr id="16" name="Shape 13"/>
          <p:cNvSpPr/>
          <p:nvPr/>
        </p:nvSpPr>
        <p:spPr>
          <a:xfrm>
            <a:off x="4306824" y="2103120"/>
            <a:ext cx="3611880" cy="1920240"/>
          </a:xfrm>
          <a:prstGeom prst="roundRect">
            <a:avLst>
              <a:gd name="adj" fmla="val 3810"/>
            </a:avLst>
          </a:prstGeom>
          <a:solidFill>
            <a:srgbClr val="FFFFFF"/>
          </a:solidFill>
          <a:ln w="12700">
            <a:solidFill>
              <a:srgbClr val="D8E0EA"/>
            </a:solidFill>
            <a:prstDash val="solid"/>
          </a:ln>
        </p:spPr>
      </p:sp>
      <p:sp>
        <p:nvSpPr>
          <p:cNvPr id="17" name="Shape 14"/>
          <p:cNvSpPr/>
          <p:nvPr/>
        </p:nvSpPr>
        <p:spPr>
          <a:xfrm>
            <a:off x="4306824" y="2103120"/>
            <a:ext cx="3611880" cy="91440"/>
          </a:xfrm>
          <a:prstGeom prst="rect">
            <a:avLst/>
          </a:prstGeom>
          <a:solidFill>
            <a:srgbClr val="F67D4B"/>
          </a:solidFill>
          <a:ln w="12700">
            <a:solidFill>
              <a:srgbClr val="F67D4B">
                <a:alpha val="0"/>
              </a:srgbClr>
            </a:solidFill>
            <a:prstDash val="solid"/>
          </a:ln>
        </p:spPr>
      </p:sp>
      <p:sp>
        <p:nvSpPr>
          <p:cNvPr id="18" name="Text 15"/>
          <p:cNvSpPr/>
          <p:nvPr/>
        </p:nvSpPr>
        <p:spPr>
          <a:xfrm>
            <a:off x="4471416" y="2286000"/>
            <a:ext cx="328269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LAYER 02</a:t>
            </a:r>
            <a:endParaRPr lang="en-US" sz="900" dirty="0"/>
          </a:p>
        </p:txBody>
      </p:sp>
      <p:sp>
        <p:nvSpPr>
          <p:cNvPr id="19" name="Text 16"/>
          <p:cNvSpPr/>
          <p:nvPr/>
        </p:nvSpPr>
        <p:spPr>
          <a:xfrm>
            <a:off x="4471416" y="250545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Clinical workstations &amp; devices</a:t>
            </a:r>
            <a:endParaRPr lang="en-US" sz="1500" dirty="0"/>
          </a:p>
        </p:txBody>
      </p:sp>
      <p:sp>
        <p:nvSpPr>
          <p:cNvPr id="20" name="Text 17"/>
          <p:cNvSpPr/>
          <p:nvPr/>
        </p:nvSpPr>
        <p:spPr>
          <a:xfrm>
            <a:off x="4471416" y="288950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Exam-room and front-desk workstations, dual monitors for imaging and portal work, document scanners, label and badge printers — specified once, imaged identically.</a:t>
            </a:r>
            <a:endParaRPr lang="en-US" sz="1050" dirty="0"/>
          </a:p>
        </p:txBody>
      </p:sp>
      <p:sp>
        <p:nvSpPr>
          <p:cNvPr id="21" name="Shape 18"/>
          <p:cNvSpPr/>
          <p:nvPr/>
        </p:nvSpPr>
        <p:spPr>
          <a:xfrm>
            <a:off x="8110728" y="2103120"/>
            <a:ext cx="3611880" cy="1920240"/>
          </a:xfrm>
          <a:prstGeom prst="roundRect">
            <a:avLst>
              <a:gd name="adj" fmla="val 3810"/>
            </a:avLst>
          </a:prstGeom>
          <a:solidFill>
            <a:srgbClr val="FFFFFF"/>
          </a:solidFill>
          <a:ln w="12700">
            <a:solidFill>
              <a:srgbClr val="D8E0EA"/>
            </a:solidFill>
            <a:prstDash val="solid"/>
          </a:ln>
        </p:spPr>
      </p:sp>
      <p:sp>
        <p:nvSpPr>
          <p:cNvPr id="22" name="Shape 19"/>
          <p:cNvSpPr/>
          <p:nvPr/>
        </p:nvSpPr>
        <p:spPr>
          <a:xfrm>
            <a:off x="8110728" y="2103120"/>
            <a:ext cx="3611880" cy="91440"/>
          </a:xfrm>
          <a:prstGeom prst="rect">
            <a:avLst/>
          </a:prstGeom>
          <a:solidFill>
            <a:srgbClr val="1EAAC8"/>
          </a:solidFill>
          <a:ln w="12700">
            <a:solidFill>
              <a:srgbClr val="1EAAC8">
                <a:alpha val="0"/>
              </a:srgbClr>
            </a:solidFill>
            <a:prstDash val="solid"/>
          </a:ln>
        </p:spPr>
      </p:sp>
      <p:sp>
        <p:nvSpPr>
          <p:cNvPr id="23" name="Text 20"/>
          <p:cNvSpPr/>
          <p:nvPr/>
        </p:nvSpPr>
        <p:spPr>
          <a:xfrm>
            <a:off x="8275320" y="2286000"/>
            <a:ext cx="328269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LAYER 03</a:t>
            </a:r>
            <a:endParaRPr lang="en-US" sz="900" dirty="0"/>
          </a:p>
        </p:txBody>
      </p:sp>
      <p:sp>
        <p:nvSpPr>
          <p:cNvPr id="24" name="Text 21"/>
          <p:cNvSpPr/>
          <p:nvPr/>
        </p:nvSpPr>
        <p:spPr>
          <a:xfrm>
            <a:off x="8275320" y="250545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Communications</a:t>
            </a:r>
            <a:endParaRPr lang="en-US" sz="1500" dirty="0"/>
          </a:p>
        </p:txBody>
      </p:sp>
      <p:sp>
        <p:nvSpPr>
          <p:cNvPr id="25" name="Text 22"/>
          <p:cNvSpPr/>
          <p:nvPr/>
        </p:nvSpPr>
        <p:spPr>
          <a:xfrm>
            <a:off x="8275320" y="288950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Healthcare-grade VoIP phones with auto-attendant and after-hours routing, HIPAA-suitable e-fax for referrals and records, and answering-service integration.</a:t>
            </a:r>
            <a:endParaRPr lang="en-US" sz="1050" dirty="0"/>
          </a:p>
        </p:txBody>
      </p:sp>
      <p:sp>
        <p:nvSpPr>
          <p:cNvPr id="26" name="Shape 23"/>
          <p:cNvSpPr/>
          <p:nvPr/>
        </p:nvSpPr>
        <p:spPr>
          <a:xfrm>
            <a:off x="502920" y="4206240"/>
            <a:ext cx="3611880" cy="1920240"/>
          </a:xfrm>
          <a:prstGeom prst="roundRect">
            <a:avLst>
              <a:gd name="adj" fmla="val 3810"/>
            </a:avLst>
          </a:prstGeom>
          <a:solidFill>
            <a:srgbClr val="FFFFFF"/>
          </a:solidFill>
          <a:ln w="12700">
            <a:solidFill>
              <a:srgbClr val="D8E0EA"/>
            </a:solidFill>
            <a:prstDash val="solid"/>
          </a:ln>
        </p:spPr>
      </p:sp>
      <p:sp>
        <p:nvSpPr>
          <p:cNvPr id="27" name="Shape 24"/>
          <p:cNvSpPr/>
          <p:nvPr/>
        </p:nvSpPr>
        <p:spPr>
          <a:xfrm>
            <a:off x="502920" y="4206240"/>
            <a:ext cx="3611880" cy="91440"/>
          </a:xfrm>
          <a:prstGeom prst="rect">
            <a:avLst/>
          </a:prstGeom>
          <a:solidFill>
            <a:srgbClr val="CBDB2D"/>
          </a:solidFill>
          <a:ln w="12700">
            <a:solidFill>
              <a:srgbClr val="CBDB2D">
                <a:alpha val="0"/>
              </a:srgbClr>
            </a:solidFill>
            <a:prstDash val="solid"/>
          </a:ln>
        </p:spPr>
      </p:sp>
      <p:sp>
        <p:nvSpPr>
          <p:cNvPr id="28" name="Text 25"/>
          <p:cNvSpPr/>
          <p:nvPr/>
        </p:nvSpPr>
        <p:spPr>
          <a:xfrm>
            <a:off x="667512" y="4389120"/>
            <a:ext cx="3282696" cy="201168"/>
          </a:xfrm>
          <a:prstGeom prst="rect">
            <a:avLst/>
          </a:prstGeom>
          <a:noFill/>
          <a:ln/>
        </p:spPr>
        <p:txBody>
          <a:bodyPr wrap="square" lIns="0" tIns="0" rIns="0" bIns="0" rtlCol="0" anchor="ctr"/>
          <a:lstStyle/>
          <a:p>
            <a:pPr indent="0" marL="0">
              <a:buNone/>
            </a:pPr>
            <a:r>
              <a:rPr lang="en-US" sz="900" b="1" dirty="0">
                <a:solidFill>
                  <a:srgbClr val="CBDB2D"/>
                </a:solidFill>
                <a:latin typeface="Arial" pitchFamily="34" charset="0"/>
                <a:ea typeface="Arial" pitchFamily="34" charset="-122"/>
                <a:cs typeface="Arial" pitchFamily="34" charset="-120"/>
              </a:rPr>
              <a:t>LAYER 04</a:t>
            </a:r>
            <a:endParaRPr lang="en-US" sz="900" dirty="0"/>
          </a:p>
        </p:txBody>
      </p:sp>
      <p:sp>
        <p:nvSpPr>
          <p:cNvPr id="29" name="Text 26"/>
          <p:cNvSpPr/>
          <p:nvPr/>
        </p:nvSpPr>
        <p:spPr>
          <a:xfrm>
            <a:off x="667512" y="460857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Microsoft 365 &amp; identity</a:t>
            </a:r>
            <a:endParaRPr lang="en-US" sz="1500" dirty="0"/>
          </a:p>
        </p:txBody>
      </p:sp>
      <p:sp>
        <p:nvSpPr>
          <p:cNvPr id="30" name="Text 27"/>
          <p:cNvSpPr/>
          <p:nvPr/>
        </p:nvSpPr>
        <p:spPr>
          <a:xfrm>
            <a:off x="667512" y="499262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Professional email on your domain, MFA on every login, secure internal messaging, and shared calendars — the identity backbone every hospital portal hangs off.</a:t>
            </a:r>
            <a:endParaRPr lang="en-US" sz="1050" dirty="0"/>
          </a:p>
        </p:txBody>
      </p:sp>
      <p:sp>
        <p:nvSpPr>
          <p:cNvPr id="31" name="Shape 28"/>
          <p:cNvSpPr/>
          <p:nvPr/>
        </p:nvSpPr>
        <p:spPr>
          <a:xfrm>
            <a:off x="4306824" y="4206240"/>
            <a:ext cx="3611880" cy="1920240"/>
          </a:xfrm>
          <a:prstGeom prst="roundRect">
            <a:avLst>
              <a:gd name="adj" fmla="val 3810"/>
            </a:avLst>
          </a:prstGeom>
          <a:solidFill>
            <a:srgbClr val="FFFFFF"/>
          </a:solidFill>
          <a:ln w="12700">
            <a:solidFill>
              <a:srgbClr val="D8E0EA"/>
            </a:solidFill>
            <a:prstDash val="solid"/>
          </a:ln>
        </p:spPr>
      </p:sp>
      <p:sp>
        <p:nvSpPr>
          <p:cNvPr id="32" name="Shape 29"/>
          <p:cNvSpPr/>
          <p:nvPr/>
        </p:nvSpPr>
        <p:spPr>
          <a:xfrm>
            <a:off x="4306824" y="4206240"/>
            <a:ext cx="3611880" cy="91440"/>
          </a:xfrm>
          <a:prstGeom prst="rect">
            <a:avLst/>
          </a:prstGeom>
          <a:solidFill>
            <a:srgbClr val="0F766E"/>
          </a:solidFill>
          <a:ln w="12700">
            <a:solidFill>
              <a:srgbClr val="0F766E">
                <a:alpha val="0"/>
              </a:srgbClr>
            </a:solidFill>
            <a:prstDash val="solid"/>
          </a:ln>
        </p:spPr>
      </p:sp>
      <p:sp>
        <p:nvSpPr>
          <p:cNvPr id="33" name="Text 30"/>
          <p:cNvSpPr/>
          <p:nvPr/>
        </p:nvSpPr>
        <p:spPr>
          <a:xfrm>
            <a:off x="4471416" y="4389120"/>
            <a:ext cx="3282696" cy="201168"/>
          </a:xfrm>
          <a:prstGeom prst="rect">
            <a:avLst/>
          </a:prstGeom>
          <a:noFill/>
          <a:ln/>
        </p:spPr>
        <p:txBody>
          <a:bodyPr wrap="square" lIns="0" tIns="0" rIns="0" bIns="0" rtlCol="0" anchor="ctr"/>
          <a:lstStyle/>
          <a:p>
            <a:pPr indent="0" marL="0">
              <a:buNone/>
            </a:pPr>
            <a:r>
              <a:rPr lang="en-US" sz="900" b="1" dirty="0">
                <a:solidFill>
                  <a:srgbClr val="0F766E"/>
                </a:solidFill>
                <a:latin typeface="Arial" pitchFamily="34" charset="0"/>
                <a:ea typeface="Arial" pitchFamily="34" charset="-122"/>
                <a:cs typeface="Arial" pitchFamily="34" charset="-120"/>
              </a:rPr>
              <a:t>LAYER 05</a:t>
            </a:r>
            <a:endParaRPr lang="en-US" sz="900" dirty="0"/>
          </a:p>
        </p:txBody>
      </p:sp>
      <p:sp>
        <p:nvSpPr>
          <p:cNvPr id="34" name="Text 31"/>
          <p:cNvSpPr/>
          <p:nvPr/>
        </p:nvSpPr>
        <p:spPr>
          <a:xfrm>
            <a:off x="4471416" y="460857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Security &amp; HIPAA stack</a:t>
            </a:r>
            <a:endParaRPr lang="en-US" sz="1500" dirty="0"/>
          </a:p>
        </p:txBody>
      </p:sp>
      <p:sp>
        <p:nvSpPr>
          <p:cNvPr id="35" name="Text 32"/>
          <p:cNvSpPr/>
          <p:nvPr/>
        </p:nvSpPr>
        <p:spPr>
          <a:xfrm>
            <a:off x="4471416" y="499262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Managed EDR + threat detection on every device, DNS filtering, disk encryption, automatic patching, and email security — the technical safeguards HIPAA expects.</a:t>
            </a:r>
            <a:endParaRPr lang="en-US" sz="1050" dirty="0"/>
          </a:p>
        </p:txBody>
      </p:sp>
      <p:sp>
        <p:nvSpPr>
          <p:cNvPr id="36" name="Shape 33"/>
          <p:cNvSpPr/>
          <p:nvPr/>
        </p:nvSpPr>
        <p:spPr>
          <a:xfrm>
            <a:off x="8110728" y="4206240"/>
            <a:ext cx="3611880" cy="1920240"/>
          </a:xfrm>
          <a:prstGeom prst="roundRect">
            <a:avLst>
              <a:gd name="adj" fmla="val 3810"/>
            </a:avLst>
          </a:prstGeom>
          <a:solidFill>
            <a:srgbClr val="FFFFFF"/>
          </a:solidFill>
          <a:ln w="12700">
            <a:solidFill>
              <a:srgbClr val="D8E0EA"/>
            </a:solidFill>
            <a:prstDash val="solid"/>
          </a:ln>
        </p:spPr>
      </p:sp>
      <p:sp>
        <p:nvSpPr>
          <p:cNvPr id="37" name="Shape 34"/>
          <p:cNvSpPr/>
          <p:nvPr/>
        </p:nvSpPr>
        <p:spPr>
          <a:xfrm>
            <a:off x="8110728" y="4206240"/>
            <a:ext cx="3611880" cy="91440"/>
          </a:xfrm>
          <a:prstGeom prst="rect">
            <a:avLst/>
          </a:prstGeom>
          <a:solidFill>
            <a:srgbClr val="1A1A2E"/>
          </a:solidFill>
          <a:ln w="12700">
            <a:solidFill>
              <a:srgbClr val="1A1A2E">
                <a:alpha val="0"/>
              </a:srgbClr>
            </a:solidFill>
            <a:prstDash val="solid"/>
          </a:ln>
        </p:spPr>
      </p:sp>
      <p:sp>
        <p:nvSpPr>
          <p:cNvPr id="38" name="Text 35"/>
          <p:cNvSpPr/>
          <p:nvPr/>
        </p:nvSpPr>
        <p:spPr>
          <a:xfrm>
            <a:off x="8275320" y="4389120"/>
            <a:ext cx="3282696" cy="201168"/>
          </a:xfrm>
          <a:prstGeom prst="rect">
            <a:avLst/>
          </a:prstGeom>
          <a:noFill/>
          <a:ln/>
        </p:spPr>
        <p:txBody>
          <a:bodyPr wrap="square" lIns="0" tIns="0" rIns="0" bIns="0" rtlCol="0" anchor="ctr"/>
          <a:lstStyle/>
          <a:p>
            <a:pPr indent="0" marL="0">
              <a:buNone/>
            </a:pPr>
            <a:r>
              <a:rPr lang="en-US" sz="900" b="1" dirty="0">
                <a:solidFill>
                  <a:srgbClr val="1A1A2E"/>
                </a:solidFill>
                <a:latin typeface="Arial" pitchFamily="34" charset="0"/>
                <a:ea typeface="Arial" pitchFamily="34" charset="-122"/>
                <a:cs typeface="Arial" pitchFamily="34" charset="-120"/>
              </a:rPr>
              <a:t>LAYER 06</a:t>
            </a:r>
            <a:endParaRPr lang="en-US" sz="900" dirty="0"/>
          </a:p>
        </p:txBody>
      </p:sp>
      <p:sp>
        <p:nvSpPr>
          <p:cNvPr id="39" name="Text 36"/>
          <p:cNvSpPr/>
          <p:nvPr/>
        </p:nvSpPr>
        <p:spPr>
          <a:xfrm>
            <a:off x="8275320" y="460857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Backup &amp; continuity</a:t>
            </a:r>
            <a:endParaRPr lang="en-US" sz="1500" dirty="0"/>
          </a:p>
        </p:txBody>
      </p:sp>
      <p:sp>
        <p:nvSpPr>
          <p:cNvPr id="40" name="Text 37"/>
          <p:cNvSpPr/>
          <p:nvPr/>
        </p:nvSpPr>
        <p:spPr>
          <a:xfrm>
            <a:off x="8275320" y="499262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Independent backup of Microsoft 365 and clinic data, rapid workstation recovery, and documented downtime procedures — so a failed device never cancels a clinic day.</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pic>
        <p:nvPicPr>
          <p:cNvPr id="3" name="Image 0" descr="C:/vscode/tech-branding/tech-brandin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COMPLIANT BY DESIGN</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HIPAA from day one — built in, not bolted on</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A new practice is a new covered entity. These six items have to exist at opening — we build them into the build itself.</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Javier Romero, MD FACS  |  IT Discovery  |  2026-06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7</a:t>
            </a:r>
            <a:endParaRPr lang="en-US" sz="1000" dirty="0"/>
          </a:p>
        </p:txBody>
      </p:sp>
      <p:sp>
        <p:nvSpPr>
          <p:cNvPr id="11" name="Shape 8"/>
          <p:cNvSpPr/>
          <p:nvPr/>
        </p:nvSpPr>
        <p:spPr>
          <a:xfrm>
            <a:off x="502920" y="2084832"/>
            <a:ext cx="3611880" cy="1920240"/>
          </a:xfrm>
          <a:prstGeom prst="roundRect">
            <a:avLst>
              <a:gd name="adj" fmla="val 3810"/>
            </a:avLst>
          </a:prstGeom>
          <a:solidFill>
            <a:srgbClr val="FFFFFF"/>
          </a:solidFill>
          <a:ln w="12700">
            <a:solidFill>
              <a:srgbClr val="D8E0EA"/>
            </a:solidFill>
            <a:prstDash val="solid"/>
          </a:ln>
        </p:spPr>
      </p:sp>
      <p:sp>
        <p:nvSpPr>
          <p:cNvPr id="12" name="Shape 9"/>
          <p:cNvSpPr/>
          <p:nvPr/>
        </p:nvSpPr>
        <p:spPr>
          <a:xfrm>
            <a:off x="502920" y="2084832"/>
            <a:ext cx="361188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67712"/>
            <a:ext cx="328269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01</a:t>
            </a:r>
            <a:endParaRPr lang="en-US" sz="900" dirty="0"/>
          </a:p>
        </p:txBody>
      </p:sp>
      <p:sp>
        <p:nvSpPr>
          <p:cNvPr id="14" name="Text 11"/>
          <p:cNvSpPr/>
          <p:nvPr/>
        </p:nvSpPr>
        <p:spPr>
          <a:xfrm>
            <a:off x="667512" y="2487168"/>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Security Risk Analysis</a:t>
            </a:r>
            <a:endParaRPr lang="en-US" sz="1450" dirty="0"/>
          </a:p>
        </p:txBody>
      </p:sp>
      <p:sp>
        <p:nvSpPr>
          <p:cNvPr id="15" name="Text 12"/>
          <p:cNvSpPr/>
          <p:nvPr/>
        </p:nvSpPr>
        <p:spPr>
          <a:xfrm>
            <a:off x="667512" y="2871216"/>
            <a:ext cx="3282696" cy="996696"/>
          </a:xfrm>
          <a:prstGeom prst="rect">
            <a:avLst/>
          </a:prstGeom>
          <a:noFill/>
          <a:ln/>
        </p:spPr>
        <p:txBody>
          <a:bodyPr wrap="square" lIns="0" tIns="0" rIns="0" bIns="0" rtlCol="0" anchor="t"/>
          <a:lstStyle/>
          <a:p>
            <a:pPr indent="0" marL="0">
              <a:buNone/>
            </a:pPr>
            <a:r>
              <a:rPr lang="en-US" sz="1020" dirty="0">
                <a:solidFill>
                  <a:srgbClr val="334155"/>
                </a:solidFill>
                <a:latin typeface="Arial" pitchFamily="34" charset="0"/>
                <a:ea typeface="Arial" pitchFamily="34" charset="-122"/>
                <a:cs typeface="Arial" pitchFamily="34" charset="-120"/>
              </a:rPr>
              <a:t>The written risk analysis HIPAA requires (45 CFR 164.308) — and the first thing Medicare/MIPS attestation and OCR ask to see. We run it as part of the build.</a:t>
            </a:r>
            <a:endParaRPr lang="en-US" sz="1020" dirty="0"/>
          </a:p>
        </p:txBody>
      </p:sp>
      <p:sp>
        <p:nvSpPr>
          <p:cNvPr id="16" name="Shape 13"/>
          <p:cNvSpPr/>
          <p:nvPr/>
        </p:nvSpPr>
        <p:spPr>
          <a:xfrm>
            <a:off x="4306824" y="2084832"/>
            <a:ext cx="3611880" cy="1920240"/>
          </a:xfrm>
          <a:prstGeom prst="roundRect">
            <a:avLst>
              <a:gd name="adj" fmla="val 3810"/>
            </a:avLst>
          </a:prstGeom>
          <a:solidFill>
            <a:srgbClr val="FFFFFF"/>
          </a:solidFill>
          <a:ln w="12700">
            <a:solidFill>
              <a:srgbClr val="D8E0EA"/>
            </a:solidFill>
            <a:prstDash val="solid"/>
          </a:ln>
        </p:spPr>
      </p:sp>
      <p:sp>
        <p:nvSpPr>
          <p:cNvPr id="17" name="Shape 14"/>
          <p:cNvSpPr/>
          <p:nvPr/>
        </p:nvSpPr>
        <p:spPr>
          <a:xfrm>
            <a:off x="4306824" y="2084832"/>
            <a:ext cx="3611880" cy="91440"/>
          </a:xfrm>
          <a:prstGeom prst="rect">
            <a:avLst/>
          </a:prstGeom>
          <a:solidFill>
            <a:srgbClr val="1EAAC8"/>
          </a:solidFill>
          <a:ln w="12700">
            <a:solidFill>
              <a:srgbClr val="1EAAC8">
                <a:alpha val="0"/>
              </a:srgbClr>
            </a:solidFill>
            <a:prstDash val="solid"/>
          </a:ln>
        </p:spPr>
      </p:sp>
      <p:sp>
        <p:nvSpPr>
          <p:cNvPr id="18" name="Text 15"/>
          <p:cNvSpPr/>
          <p:nvPr/>
        </p:nvSpPr>
        <p:spPr>
          <a:xfrm>
            <a:off x="4471416" y="2267712"/>
            <a:ext cx="328269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02</a:t>
            </a:r>
            <a:endParaRPr lang="en-US" sz="900" dirty="0"/>
          </a:p>
        </p:txBody>
      </p:sp>
      <p:sp>
        <p:nvSpPr>
          <p:cNvPr id="19" name="Text 16"/>
          <p:cNvSpPr/>
          <p:nvPr/>
        </p:nvSpPr>
        <p:spPr>
          <a:xfrm>
            <a:off x="4471416" y="2487168"/>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Business Associate Agreements</a:t>
            </a:r>
            <a:endParaRPr lang="en-US" sz="1450" dirty="0"/>
          </a:p>
        </p:txBody>
      </p:sp>
      <p:sp>
        <p:nvSpPr>
          <p:cNvPr id="20" name="Text 17"/>
          <p:cNvSpPr/>
          <p:nvPr/>
        </p:nvSpPr>
        <p:spPr>
          <a:xfrm>
            <a:off x="4471416" y="2871216"/>
            <a:ext cx="3282696" cy="996696"/>
          </a:xfrm>
          <a:prstGeom prst="rect">
            <a:avLst/>
          </a:prstGeom>
          <a:noFill/>
          <a:ln/>
        </p:spPr>
        <p:txBody>
          <a:bodyPr wrap="square" lIns="0" tIns="0" rIns="0" bIns="0" rtlCol="0" anchor="t"/>
          <a:lstStyle/>
          <a:p>
            <a:pPr indent="0" marL="0">
              <a:buNone/>
            </a:pPr>
            <a:r>
              <a:rPr lang="en-US" sz="1020" dirty="0">
                <a:solidFill>
                  <a:srgbClr val="334155"/>
                </a:solidFill>
                <a:latin typeface="Arial" pitchFamily="34" charset="0"/>
                <a:ea typeface="Arial" pitchFamily="34" charset="-122"/>
                <a:cs typeface="Arial" pitchFamily="34" charset="-120"/>
              </a:rPr>
              <a:t>Every vendor touching PHI needs a BAA — EHR, e-fax, email, answering service, billing service, IT provider. We inventory them and sign ours on day one.</a:t>
            </a:r>
            <a:endParaRPr lang="en-US" sz="1020" dirty="0"/>
          </a:p>
        </p:txBody>
      </p:sp>
      <p:sp>
        <p:nvSpPr>
          <p:cNvPr id="21" name="Shape 18"/>
          <p:cNvSpPr/>
          <p:nvPr/>
        </p:nvSpPr>
        <p:spPr>
          <a:xfrm>
            <a:off x="8110728" y="2084832"/>
            <a:ext cx="3611880" cy="1920240"/>
          </a:xfrm>
          <a:prstGeom prst="roundRect">
            <a:avLst>
              <a:gd name="adj" fmla="val 3810"/>
            </a:avLst>
          </a:prstGeom>
          <a:solidFill>
            <a:srgbClr val="FFFFFF"/>
          </a:solidFill>
          <a:ln w="12700">
            <a:solidFill>
              <a:srgbClr val="D8E0EA"/>
            </a:solidFill>
            <a:prstDash val="solid"/>
          </a:ln>
        </p:spPr>
      </p:sp>
      <p:sp>
        <p:nvSpPr>
          <p:cNvPr id="22" name="Shape 19"/>
          <p:cNvSpPr/>
          <p:nvPr/>
        </p:nvSpPr>
        <p:spPr>
          <a:xfrm>
            <a:off x="8110728" y="2084832"/>
            <a:ext cx="3611880" cy="91440"/>
          </a:xfrm>
          <a:prstGeom prst="rect">
            <a:avLst/>
          </a:prstGeom>
          <a:solidFill>
            <a:srgbClr val="F67D4B"/>
          </a:solidFill>
          <a:ln w="12700">
            <a:solidFill>
              <a:srgbClr val="F67D4B">
                <a:alpha val="0"/>
              </a:srgbClr>
            </a:solidFill>
            <a:prstDash val="solid"/>
          </a:ln>
        </p:spPr>
      </p:sp>
      <p:sp>
        <p:nvSpPr>
          <p:cNvPr id="23" name="Text 20"/>
          <p:cNvSpPr/>
          <p:nvPr/>
        </p:nvSpPr>
        <p:spPr>
          <a:xfrm>
            <a:off x="8275320" y="2267712"/>
            <a:ext cx="328269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03</a:t>
            </a:r>
            <a:endParaRPr lang="en-US" sz="900" dirty="0"/>
          </a:p>
        </p:txBody>
      </p:sp>
      <p:sp>
        <p:nvSpPr>
          <p:cNvPr id="24" name="Text 21"/>
          <p:cNvSpPr/>
          <p:nvPr/>
        </p:nvSpPr>
        <p:spPr>
          <a:xfrm>
            <a:off x="8275320" y="2487168"/>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Encryption &amp; access control</a:t>
            </a:r>
            <a:endParaRPr lang="en-US" sz="1450" dirty="0"/>
          </a:p>
        </p:txBody>
      </p:sp>
      <p:sp>
        <p:nvSpPr>
          <p:cNvPr id="25" name="Text 22"/>
          <p:cNvSpPr/>
          <p:nvPr/>
        </p:nvSpPr>
        <p:spPr>
          <a:xfrm>
            <a:off x="8275320" y="2871216"/>
            <a:ext cx="3282696" cy="996696"/>
          </a:xfrm>
          <a:prstGeom prst="rect">
            <a:avLst/>
          </a:prstGeom>
          <a:noFill/>
          <a:ln/>
        </p:spPr>
        <p:txBody>
          <a:bodyPr wrap="square" lIns="0" tIns="0" rIns="0" bIns="0" rtlCol="0" anchor="t"/>
          <a:lstStyle/>
          <a:p>
            <a:pPr indent="0" marL="0">
              <a:buNone/>
            </a:pPr>
            <a:r>
              <a:rPr lang="en-US" sz="1020" dirty="0">
                <a:solidFill>
                  <a:srgbClr val="334155"/>
                </a:solidFill>
                <a:latin typeface="Arial" pitchFamily="34" charset="0"/>
                <a:ea typeface="Arial" pitchFamily="34" charset="-122"/>
                <a:cs typeface="Arial" pitchFamily="34" charset="-120"/>
              </a:rPr>
              <a:t>Disk encryption on every device, MFA on every login, role-based access, and automatic screen locks — the safe-harbor controls that make a lost laptop a non-event.</a:t>
            </a:r>
            <a:endParaRPr lang="en-US" sz="1020" dirty="0"/>
          </a:p>
        </p:txBody>
      </p:sp>
      <p:sp>
        <p:nvSpPr>
          <p:cNvPr id="26" name="Shape 23"/>
          <p:cNvSpPr/>
          <p:nvPr/>
        </p:nvSpPr>
        <p:spPr>
          <a:xfrm>
            <a:off x="502920" y="4114800"/>
            <a:ext cx="3611880" cy="1920240"/>
          </a:xfrm>
          <a:prstGeom prst="roundRect">
            <a:avLst>
              <a:gd name="adj" fmla="val 3810"/>
            </a:avLst>
          </a:prstGeom>
          <a:solidFill>
            <a:srgbClr val="FFFFFF"/>
          </a:solidFill>
          <a:ln w="12700">
            <a:solidFill>
              <a:srgbClr val="D8E0EA"/>
            </a:solidFill>
            <a:prstDash val="solid"/>
          </a:ln>
        </p:spPr>
      </p:sp>
      <p:sp>
        <p:nvSpPr>
          <p:cNvPr id="27" name="Shape 24"/>
          <p:cNvSpPr/>
          <p:nvPr/>
        </p:nvSpPr>
        <p:spPr>
          <a:xfrm>
            <a:off x="502920" y="4114800"/>
            <a:ext cx="3611880" cy="91440"/>
          </a:xfrm>
          <a:prstGeom prst="rect">
            <a:avLst/>
          </a:prstGeom>
          <a:solidFill>
            <a:srgbClr val="0F766E"/>
          </a:solidFill>
          <a:ln w="12700">
            <a:solidFill>
              <a:srgbClr val="0F766E">
                <a:alpha val="0"/>
              </a:srgbClr>
            </a:solidFill>
            <a:prstDash val="solid"/>
          </a:ln>
        </p:spPr>
      </p:sp>
      <p:sp>
        <p:nvSpPr>
          <p:cNvPr id="28" name="Text 25"/>
          <p:cNvSpPr/>
          <p:nvPr/>
        </p:nvSpPr>
        <p:spPr>
          <a:xfrm>
            <a:off x="667512" y="4297680"/>
            <a:ext cx="3282696" cy="201168"/>
          </a:xfrm>
          <a:prstGeom prst="rect">
            <a:avLst/>
          </a:prstGeom>
          <a:noFill/>
          <a:ln/>
        </p:spPr>
        <p:txBody>
          <a:bodyPr wrap="square" lIns="0" tIns="0" rIns="0" bIns="0" rtlCol="0" anchor="ctr"/>
          <a:lstStyle/>
          <a:p>
            <a:pPr indent="0" marL="0">
              <a:buNone/>
            </a:pPr>
            <a:r>
              <a:rPr lang="en-US" sz="900" b="1" dirty="0">
                <a:solidFill>
                  <a:srgbClr val="0F766E"/>
                </a:solidFill>
                <a:latin typeface="Arial" pitchFamily="34" charset="0"/>
                <a:ea typeface="Arial" pitchFamily="34" charset="-122"/>
                <a:cs typeface="Arial" pitchFamily="34" charset="-120"/>
              </a:rPr>
              <a:t>04</a:t>
            </a:r>
            <a:endParaRPr lang="en-US" sz="900" dirty="0"/>
          </a:p>
        </p:txBody>
      </p:sp>
      <p:sp>
        <p:nvSpPr>
          <p:cNvPr id="29" name="Text 26"/>
          <p:cNvSpPr/>
          <p:nvPr/>
        </p:nvSpPr>
        <p:spPr>
          <a:xfrm>
            <a:off x="667512" y="4517136"/>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Workforce training</a:t>
            </a:r>
            <a:endParaRPr lang="en-US" sz="1450" dirty="0"/>
          </a:p>
        </p:txBody>
      </p:sp>
      <p:sp>
        <p:nvSpPr>
          <p:cNvPr id="30" name="Text 27"/>
          <p:cNvSpPr/>
          <p:nvPr/>
        </p:nvSpPr>
        <p:spPr>
          <a:xfrm>
            <a:off x="667512" y="4901184"/>
            <a:ext cx="3282696" cy="996696"/>
          </a:xfrm>
          <a:prstGeom prst="rect">
            <a:avLst/>
          </a:prstGeom>
          <a:noFill/>
          <a:ln/>
        </p:spPr>
        <p:txBody>
          <a:bodyPr wrap="square" lIns="0" tIns="0" rIns="0" bIns="0" rtlCol="0" anchor="t"/>
          <a:lstStyle/>
          <a:p>
            <a:pPr indent="0" marL="0">
              <a:buNone/>
            </a:pPr>
            <a:r>
              <a:rPr lang="en-US" sz="1020" dirty="0">
                <a:solidFill>
                  <a:srgbClr val="334155"/>
                </a:solidFill>
                <a:latin typeface="Arial" pitchFamily="34" charset="0"/>
                <a:ea typeface="Arial" pitchFamily="34" charset="-122"/>
                <a:cs typeface="Arial" pitchFamily="34" charset="-120"/>
              </a:rPr>
              <a:t>Short security-awareness training and simulated phishing for your staff from the first hire — people are the most-attacked layer in healthcare.</a:t>
            </a:r>
            <a:endParaRPr lang="en-US" sz="1020" dirty="0"/>
          </a:p>
        </p:txBody>
      </p:sp>
      <p:sp>
        <p:nvSpPr>
          <p:cNvPr id="31" name="Shape 28"/>
          <p:cNvSpPr/>
          <p:nvPr/>
        </p:nvSpPr>
        <p:spPr>
          <a:xfrm>
            <a:off x="4306824" y="4114800"/>
            <a:ext cx="3611880" cy="1920240"/>
          </a:xfrm>
          <a:prstGeom prst="roundRect">
            <a:avLst>
              <a:gd name="adj" fmla="val 3810"/>
            </a:avLst>
          </a:prstGeom>
          <a:solidFill>
            <a:srgbClr val="FFFFFF"/>
          </a:solidFill>
          <a:ln w="12700">
            <a:solidFill>
              <a:srgbClr val="D8E0EA"/>
            </a:solidFill>
            <a:prstDash val="solid"/>
          </a:ln>
        </p:spPr>
      </p:sp>
      <p:sp>
        <p:nvSpPr>
          <p:cNvPr id="32" name="Shape 29"/>
          <p:cNvSpPr/>
          <p:nvPr/>
        </p:nvSpPr>
        <p:spPr>
          <a:xfrm>
            <a:off x="4306824" y="4114800"/>
            <a:ext cx="3611880" cy="91440"/>
          </a:xfrm>
          <a:prstGeom prst="rect">
            <a:avLst/>
          </a:prstGeom>
          <a:solidFill>
            <a:srgbClr val="CBDB2D"/>
          </a:solidFill>
          <a:ln w="12700">
            <a:solidFill>
              <a:srgbClr val="CBDB2D">
                <a:alpha val="0"/>
              </a:srgbClr>
            </a:solidFill>
            <a:prstDash val="solid"/>
          </a:ln>
        </p:spPr>
      </p:sp>
      <p:sp>
        <p:nvSpPr>
          <p:cNvPr id="33" name="Text 30"/>
          <p:cNvSpPr/>
          <p:nvPr/>
        </p:nvSpPr>
        <p:spPr>
          <a:xfrm>
            <a:off x="4471416" y="4297680"/>
            <a:ext cx="3282696" cy="201168"/>
          </a:xfrm>
          <a:prstGeom prst="rect">
            <a:avLst/>
          </a:prstGeom>
          <a:noFill/>
          <a:ln/>
        </p:spPr>
        <p:txBody>
          <a:bodyPr wrap="square" lIns="0" tIns="0" rIns="0" bIns="0" rtlCol="0" anchor="ctr"/>
          <a:lstStyle/>
          <a:p>
            <a:pPr indent="0" marL="0">
              <a:buNone/>
            </a:pPr>
            <a:r>
              <a:rPr lang="en-US" sz="900" b="1" dirty="0">
                <a:solidFill>
                  <a:srgbClr val="CBDB2D"/>
                </a:solidFill>
                <a:latin typeface="Arial" pitchFamily="34" charset="0"/>
                <a:ea typeface="Arial" pitchFamily="34" charset="-122"/>
                <a:cs typeface="Arial" pitchFamily="34" charset="-120"/>
              </a:rPr>
              <a:t>05</a:t>
            </a:r>
            <a:endParaRPr lang="en-US" sz="900" dirty="0"/>
          </a:p>
        </p:txBody>
      </p:sp>
      <p:sp>
        <p:nvSpPr>
          <p:cNvPr id="34" name="Text 31"/>
          <p:cNvSpPr/>
          <p:nvPr/>
        </p:nvSpPr>
        <p:spPr>
          <a:xfrm>
            <a:off x="4471416" y="4517136"/>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Policies &amp; incident response</a:t>
            </a:r>
            <a:endParaRPr lang="en-US" sz="1450" dirty="0"/>
          </a:p>
        </p:txBody>
      </p:sp>
      <p:sp>
        <p:nvSpPr>
          <p:cNvPr id="35" name="Text 32"/>
          <p:cNvSpPr/>
          <p:nvPr/>
        </p:nvSpPr>
        <p:spPr>
          <a:xfrm>
            <a:off x="4471416" y="4901184"/>
            <a:ext cx="3282696" cy="996696"/>
          </a:xfrm>
          <a:prstGeom prst="rect">
            <a:avLst/>
          </a:prstGeom>
          <a:noFill/>
          <a:ln/>
        </p:spPr>
        <p:txBody>
          <a:bodyPr wrap="square" lIns="0" tIns="0" rIns="0" bIns="0" rtlCol="0" anchor="t"/>
          <a:lstStyle/>
          <a:p>
            <a:pPr indent="0" marL="0">
              <a:buNone/>
            </a:pPr>
            <a:r>
              <a:rPr lang="en-US" sz="1020" dirty="0">
                <a:solidFill>
                  <a:srgbClr val="334155"/>
                </a:solidFill>
                <a:latin typeface="Arial" pitchFamily="34" charset="0"/>
                <a:ea typeface="Arial" pitchFamily="34" charset="-122"/>
                <a:cs typeface="Arial" pitchFamily="34" charset="-120"/>
              </a:rPr>
              <a:t>Right-sized written policies — acceptable use, access, breach response — plus a tested plan for what happens in the first hour of an incident.</a:t>
            </a:r>
            <a:endParaRPr lang="en-US" sz="1020" dirty="0"/>
          </a:p>
        </p:txBody>
      </p:sp>
      <p:sp>
        <p:nvSpPr>
          <p:cNvPr id="36" name="Shape 33"/>
          <p:cNvSpPr/>
          <p:nvPr/>
        </p:nvSpPr>
        <p:spPr>
          <a:xfrm>
            <a:off x="8110728" y="4114800"/>
            <a:ext cx="3611880" cy="1920240"/>
          </a:xfrm>
          <a:prstGeom prst="roundRect">
            <a:avLst>
              <a:gd name="adj" fmla="val 3810"/>
            </a:avLst>
          </a:prstGeom>
          <a:solidFill>
            <a:srgbClr val="FFFFFF"/>
          </a:solidFill>
          <a:ln w="12700">
            <a:solidFill>
              <a:srgbClr val="D8E0EA"/>
            </a:solidFill>
            <a:prstDash val="solid"/>
          </a:ln>
        </p:spPr>
      </p:sp>
      <p:sp>
        <p:nvSpPr>
          <p:cNvPr id="37" name="Shape 34"/>
          <p:cNvSpPr/>
          <p:nvPr/>
        </p:nvSpPr>
        <p:spPr>
          <a:xfrm>
            <a:off x="8110728" y="4114800"/>
            <a:ext cx="3611880" cy="91440"/>
          </a:xfrm>
          <a:prstGeom prst="rect">
            <a:avLst/>
          </a:prstGeom>
          <a:solidFill>
            <a:srgbClr val="1A1A2E"/>
          </a:solidFill>
          <a:ln w="12700">
            <a:solidFill>
              <a:srgbClr val="1A1A2E">
                <a:alpha val="0"/>
              </a:srgbClr>
            </a:solidFill>
            <a:prstDash val="solid"/>
          </a:ln>
        </p:spPr>
      </p:sp>
      <p:sp>
        <p:nvSpPr>
          <p:cNvPr id="38" name="Text 35"/>
          <p:cNvSpPr/>
          <p:nvPr/>
        </p:nvSpPr>
        <p:spPr>
          <a:xfrm>
            <a:off x="8275320" y="4297680"/>
            <a:ext cx="3282696" cy="201168"/>
          </a:xfrm>
          <a:prstGeom prst="rect">
            <a:avLst/>
          </a:prstGeom>
          <a:noFill/>
          <a:ln/>
        </p:spPr>
        <p:txBody>
          <a:bodyPr wrap="square" lIns="0" tIns="0" rIns="0" bIns="0" rtlCol="0" anchor="ctr"/>
          <a:lstStyle/>
          <a:p>
            <a:pPr indent="0" marL="0">
              <a:buNone/>
            </a:pPr>
            <a:r>
              <a:rPr lang="en-US" sz="900" b="1" dirty="0">
                <a:solidFill>
                  <a:srgbClr val="1A1A2E"/>
                </a:solidFill>
                <a:latin typeface="Arial" pitchFamily="34" charset="0"/>
                <a:ea typeface="Arial" pitchFamily="34" charset="-122"/>
                <a:cs typeface="Arial" pitchFamily="34" charset="-120"/>
              </a:rPr>
              <a:t>06</a:t>
            </a:r>
            <a:endParaRPr lang="en-US" sz="900" dirty="0"/>
          </a:p>
        </p:txBody>
      </p:sp>
      <p:sp>
        <p:nvSpPr>
          <p:cNvPr id="39" name="Text 36"/>
          <p:cNvSpPr/>
          <p:nvPr/>
        </p:nvSpPr>
        <p:spPr>
          <a:xfrm>
            <a:off x="8275320" y="4517136"/>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Evidence &amp; audit trail</a:t>
            </a:r>
            <a:endParaRPr lang="en-US" sz="1450" dirty="0"/>
          </a:p>
        </p:txBody>
      </p:sp>
      <p:sp>
        <p:nvSpPr>
          <p:cNvPr id="40" name="Text 37"/>
          <p:cNvSpPr/>
          <p:nvPr/>
        </p:nvSpPr>
        <p:spPr>
          <a:xfrm>
            <a:off x="8275320" y="4901184"/>
            <a:ext cx="3282696" cy="996696"/>
          </a:xfrm>
          <a:prstGeom prst="rect">
            <a:avLst/>
          </a:prstGeom>
          <a:noFill/>
          <a:ln/>
        </p:spPr>
        <p:txBody>
          <a:bodyPr wrap="square" lIns="0" tIns="0" rIns="0" bIns="0" rtlCol="0" anchor="t"/>
          <a:lstStyle/>
          <a:p>
            <a:pPr indent="0" marL="0">
              <a:buNone/>
            </a:pPr>
            <a:r>
              <a:rPr lang="en-US" sz="1020" dirty="0">
                <a:solidFill>
                  <a:srgbClr val="334155"/>
                </a:solidFill>
                <a:latin typeface="Arial" pitchFamily="34" charset="0"/>
                <a:ea typeface="Arial" pitchFamily="34" charset="-122"/>
                <a:cs typeface="Arial" pitchFamily="34" charset="-120"/>
              </a:rPr>
              <a:t>Patching, backups, training, and access reviews — documented continuously, so audits, payer reviews, and insurance renewals are a file pull, not a fire drill.</a:t>
            </a:r>
            <a:endParaRPr lang="en-US" sz="1020" dirty="0"/>
          </a:p>
        </p:txBody>
      </p:sp>
      <p:sp>
        <p:nvSpPr>
          <p:cNvPr id="41" name="Shape 38"/>
          <p:cNvSpPr/>
          <p:nvPr/>
        </p:nvSpPr>
        <p:spPr>
          <a:xfrm>
            <a:off x="502920" y="6089904"/>
            <a:ext cx="11201400" cy="292608"/>
          </a:xfrm>
          <a:prstGeom prst="roundRect">
            <a:avLst>
              <a:gd name="adj" fmla="val 15625"/>
            </a:avLst>
          </a:prstGeom>
          <a:solidFill>
            <a:srgbClr val="FFF1EA"/>
          </a:solidFill>
          <a:ln w="12700">
            <a:solidFill>
              <a:srgbClr val="F67D4B"/>
            </a:solidFill>
            <a:prstDash val="solid"/>
          </a:ln>
        </p:spPr>
      </p:sp>
      <p:sp>
        <p:nvSpPr>
          <p:cNvPr id="42" name="Text 39"/>
          <p:cNvSpPr/>
          <p:nvPr/>
        </p:nvSpPr>
        <p:spPr>
          <a:xfrm>
            <a:off x="502920" y="6089904"/>
            <a:ext cx="11201400" cy="292608"/>
          </a:xfrm>
          <a:prstGeom prst="rect">
            <a:avLst/>
          </a:prstGeom>
          <a:noFill/>
          <a:ln/>
        </p:spPr>
        <p:txBody>
          <a:bodyPr wrap="square" lIns="0" tIns="0" rIns="0" bIns="0" rtlCol="0" anchor="ctr"/>
          <a:lstStyle/>
          <a:p>
            <a:pPr algn="ctr" indent="0" marL="0">
              <a:buNone/>
            </a:pPr>
            <a:r>
              <a:rPr lang="en-US" sz="1000" b="1" dirty="0">
                <a:solidFill>
                  <a:srgbClr val="1A1A2E"/>
                </a:solidFill>
                <a:latin typeface="Arial" pitchFamily="34" charset="0"/>
                <a:ea typeface="Arial" pitchFamily="34" charset="-122"/>
                <a:cs typeface="Arial" pitchFamily="34" charset="-120"/>
              </a:rPr>
              <a:t>Bonus: these are the same controls your cyber-insurance application will require — one build satisfies both.</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sp>
      <p:pic>
        <p:nvPicPr>
          <p:cNvPr id="3" name="Image 0" descr="C:/vscode/tech-branding/tech-brandin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PROOF, NOT PROMISES</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We run technology for medical practices today</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Three real Technijian healthcare engagements — anonymized for confidentiality, references available on request.</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Javier Romero, MD FACS  |  IT Discovery  |  2026-06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8</a:t>
            </a:r>
            <a:endParaRPr lang="en-US" sz="1000" dirty="0"/>
          </a:p>
        </p:txBody>
      </p:sp>
      <p:sp>
        <p:nvSpPr>
          <p:cNvPr id="11" name="Shape 8"/>
          <p:cNvSpPr/>
          <p:nvPr/>
        </p:nvSpPr>
        <p:spPr>
          <a:xfrm>
            <a:off x="502920" y="2103120"/>
            <a:ext cx="3611880" cy="3429000"/>
          </a:xfrm>
          <a:prstGeom prst="roundRect">
            <a:avLst>
              <a:gd name="adj" fmla="val 2133"/>
            </a:avLst>
          </a:prstGeom>
          <a:solidFill>
            <a:srgbClr val="FFFFFF"/>
          </a:solidFill>
          <a:ln w="12700">
            <a:solidFill>
              <a:srgbClr val="D8E0EA"/>
            </a:solidFill>
            <a:prstDash val="solid"/>
          </a:ln>
        </p:spPr>
      </p:sp>
      <p:sp>
        <p:nvSpPr>
          <p:cNvPr id="12" name="Shape 9"/>
          <p:cNvSpPr/>
          <p:nvPr/>
        </p:nvSpPr>
        <p:spPr>
          <a:xfrm>
            <a:off x="502920" y="2103120"/>
            <a:ext cx="361188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86000"/>
            <a:ext cx="3291840"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MULTI-PRACTICE MEDICAL GROUP</a:t>
            </a:r>
            <a:endParaRPr lang="en-US" sz="900" dirty="0"/>
          </a:p>
        </p:txBody>
      </p:sp>
      <p:sp>
        <p:nvSpPr>
          <p:cNvPr id="14" name="Text 11"/>
          <p:cNvSpPr/>
          <p:nvPr/>
        </p:nvSpPr>
        <p:spPr>
          <a:xfrm>
            <a:off x="667512" y="2523744"/>
            <a:ext cx="3291840" cy="502920"/>
          </a:xfrm>
          <a:prstGeom prst="rect">
            <a:avLst/>
          </a:prstGeom>
          <a:noFill/>
          <a:ln/>
        </p:spPr>
        <p:txBody>
          <a:bodyPr wrap="square" lIns="0" tIns="0" rIns="0" bIns="0" rtlCol="0" anchor="t"/>
          <a:lstStyle/>
          <a:p>
            <a:pPr indent="0" marL="0">
              <a:buNone/>
            </a:pPr>
            <a:r>
              <a:rPr lang="en-US" sz="1400" b="1" dirty="0">
                <a:solidFill>
                  <a:srgbClr val="1A1A2E"/>
                </a:solidFill>
                <a:latin typeface="Arial" pitchFamily="34" charset="0"/>
                <a:ea typeface="Arial" pitchFamily="34" charset="-122"/>
                <a:cs typeface="Arial" pitchFamily="34" charset="-120"/>
              </a:rPr>
              <a:t>12 months · zero patient-facing downtime</a:t>
            </a:r>
            <a:endParaRPr lang="en-US" sz="1400" dirty="0"/>
          </a:p>
        </p:txBody>
      </p:sp>
      <p:sp>
        <p:nvSpPr>
          <p:cNvPr id="15" name="Shape 12"/>
          <p:cNvSpPr/>
          <p:nvPr/>
        </p:nvSpPr>
        <p:spPr>
          <a:xfrm>
            <a:off x="667512" y="3090672"/>
            <a:ext cx="3282696" cy="12802"/>
          </a:xfrm>
          <a:prstGeom prst="rect">
            <a:avLst/>
          </a:prstGeom>
          <a:solidFill>
            <a:srgbClr val="006DB6"/>
          </a:solidFill>
          <a:ln w="12700">
            <a:solidFill>
              <a:srgbClr val="006DB6">
                <a:alpha val="0"/>
              </a:srgbClr>
            </a:solidFill>
            <a:prstDash val="solid"/>
          </a:ln>
        </p:spPr>
      </p:sp>
      <p:sp>
        <p:nvSpPr>
          <p:cNvPr id="16" name="Text 13"/>
          <p:cNvSpPr/>
          <p:nvPr/>
        </p:nvSpPr>
        <p:spPr>
          <a:xfrm>
            <a:off x="667512" y="3200400"/>
            <a:ext cx="3291840" cy="457200"/>
          </a:xfrm>
          <a:prstGeom prst="rect">
            <a:avLst/>
          </a:prstGeom>
          <a:noFill/>
          <a:ln/>
        </p:spPr>
        <p:txBody>
          <a:bodyPr wrap="square" lIns="0" tIns="0" rIns="0" bIns="0" rtlCol="0" anchor="t"/>
          <a:lstStyle/>
          <a:p>
            <a:pPr indent="0" marL="0">
              <a:buNone/>
            </a:pPr>
            <a:r>
              <a:rPr lang="en-US" sz="1150" b="1" dirty="0">
                <a:solidFill>
                  <a:srgbClr val="006DB6"/>
                </a:solidFill>
                <a:latin typeface="Arial" pitchFamily="34" charset="0"/>
                <a:ea typeface="Arial" pitchFamily="34" charset="-122"/>
                <a:cs typeface="Arial" pitchFamily="34" charset="-120"/>
              </a:rPr>
              <a:t>Full platform operations</a:t>
            </a:r>
            <a:endParaRPr lang="en-US" sz="1150" dirty="0"/>
          </a:p>
        </p:txBody>
      </p:sp>
      <p:sp>
        <p:nvSpPr>
          <p:cNvPr id="17" name="Text 14"/>
          <p:cNvSpPr/>
          <p:nvPr/>
        </p:nvSpPr>
        <p:spPr>
          <a:xfrm>
            <a:off x="667512" y="3657600"/>
            <a:ext cx="3291840" cy="1783080"/>
          </a:xfrm>
          <a:prstGeom prst="rect">
            <a:avLst/>
          </a:prstGeom>
          <a:noFill/>
          <a:ln/>
        </p:spPr>
        <p:txBody>
          <a:bodyPr wrap="square" lIns="0" tIns="0" rIns="0" bIns="0" rtlCol="0" anchor="t"/>
          <a:lstStyle/>
          <a:p>
            <a:pPr indent="0" marL="0">
              <a:buNone/>
            </a:pPr>
            <a:r>
              <a:rPr lang="en-US" sz="1000" dirty="0">
                <a:solidFill>
                  <a:srgbClr val="334155"/>
                </a:solidFill>
                <a:latin typeface="Arial" pitchFamily="34" charset="0"/>
                <a:ea typeface="Arial" pitchFamily="34" charset="-122"/>
                <a:cs typeface="Arial" pitchFamily="34" charset="-120"/>
              </a:rPr>
              <a:t>VoIP phones, a dozen+ Windows servers, endpoints, and Microsoft 365 for a multi-site, HIPAA-regulated medical group — monthly patch discipline with documented evidence for compliance, and 3CX telephony kept reliable for front-desk and clinical staff.</a:t>
            </a:r>
            <a:endParaRPr lang="en-US" sz="1000" dirty="0"/>
          </a:p>
        </p:txBody>
      </p:sp>
      <p:sp>
        <p:nvSpPr>
          <p:cNvPr id="18" name="Shape 15"/>
          <p:cNvSpPr/>
          <p:nvPr/>
        </p:nvSpPr>
        <p:spPr>
          <a:xfrm>
            <a:off x="4306824" y="2103120"/>
            <a:ext cx="3611880" cy="3429000"/>
          </a:xfrm>
          <a:prstGeom prst="roundRect">
            <a:avLst>
              <a:gd name="adj" fmla="val 2133"/>
            </a:avLst>
          </a:prstGeom>
          <a:solidFill>
            <a:srgbClr val="FFFFFF"/>
          </a:solidFill>
          <a:ln w="12700">
            <a:solidFill>
              <a:srgbClr val="D8E0EA"/>
            </a:solidFill>
            <a:prstDash val="solid"/>
          </a:ln>
        </p:spPr>
      </p:sp>
      <p:sp>
        <p:nvSpPr>
          <p:cNvPr id="19" name="Shape 16"/>
          <p:cNvSpPr/>
          <p:nvPr/>
        </p:nvSpPr>
        <p:spPr>
          <a:xfrm>
            <a:off x="4306824" y="2103120"/>
            <a:ext cx="3611880" cy="91440"/>
          </a:xfrm>
          <a:prstGeom prst="rect">
            <a:avLst/>
          </a:prstGeom>
          <a:solidFill>
            <a:srgbClr val="F67D4B"/>
          </a:solidFill>
          <a:ln w="12700">
            <a:solidFill>
              <a:srgbClr val="F67D4B">
                <a:alpha val="0"/>
              </a:srgbClr>
            </a:solidFill>
            <a:prstDash val="solid"/>
          </a:ln>
        </p:spPr>
      </p:sp>
      <p:sp>
        <p:nvSpPr>
          <p:cNvPr id="20" name="Text 17"/>
          <p:cNvSpPr/>
          <p:nvPr/>
        </p:nvSpPr>
        <p:spPr>
          <a:xfrm>
            <a:off x="4471416" y="2286000"/>
            <a:ext cx="3291840"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HEALTHCARE PRACTICE · 18 ENDPOINTS</a:t>
            </a:r>
            <a:endParaRPr lang="en-US" sz="900" dirty="0"/>
          </a:p>
        </p:txBody>
      </p:sp>
      <p:sp>
        <p:nvSpPr>
          <p:cNvPr id="21" name="Text 18"/>
          <p:cNvSpPr/>
          <p:nvPr/>
        </p:nvSpPr>
        <p:spPr>
          <a:xfrm>
            <a:off x="4471416" y="2523744"/>
            <a:ext cx="3291840" cy="502920"/>
          </a:xfrm>
          <a:prstGeom prst="rect">
            <a:avLst/>
          </a:prstGeom>
          <a:noFill/>
          <a:ln/>
        </p:spPr>
        <p:txBody>
          <a:bodyPr wrap="square" lIns="0" tIns="0" rIns="0" bIns="0" rtlCol="0" anchor="t"/>
          <a:lstStyle/>
          <a:p>
            <a:pPr indent="0" marL="0">
              <a:buNone/>
            </a:pPr>
            <a:r>
              <a:rPr lang="en-US" sz="1400" b="1" dirty="0">
                <a:solidFill>
                  <a:srgbClr val="1A1A2E"/>
                </a:solidFill>
                <a:latin typeface="Arial" pitchFamily="34" charset="0"/>
                <a:ea typeface="Arial" pitchFamily="34" charset="-122"/>
                <a:cs typeface="Arial" pitchFamily="34" charset="-120"/>
              </a:rPr>
              <a:t>One weekend · clinical fleet upgraded</a:t>
            </a:r>
            <a:endParaRPr lang="en-US" sz="1400" dirty="0"/>
          </a:p>
        </p:txBody>
      </p:sp>
      <p:sp>
        <p:nvSpPr>
          <p:cNvPr id="22" name="Shape 19"/>
          <p:cNvSpPr/>
          <p:nvPr/>
        </p:nvSpPr>
        <p:spPr>
          <a:xfrm>
            <a:off x="4471416" y="3090672"/>
            <a:ext cx="3282696" cy="12802"/>
          </a:xfrm>
          <a:prstGeom prst="rect">
            <a:avLst/>
          </a:prstGeom>
          <a:solidFill>
            <a:srgbClr val="F67D4B"/>
          </a:solidFill>
          <a:ln w="12700">
            <a:solidFill>
              <a:srgbClr val="F67D4B">
                <a:alpha val="0"/>
              </a:srgbClr>
            </a:solidFill>
            <a:prstDash val="solid"/>
          </a:ln>
        </p:spPr>
      </p:sp>
      <p:sp>
        <p:nvSpPr>
          <p:cNvPr id="23" name="Text 20"/>
          <p:cNvSpPr/>
          <p:nvPr/>
        </p:nvSpPr>
        <p:spPr>
          <a:xfrm>
            <a:off x="4471416" y="3200400"/>
            <a:ext cx="3291840" cy="457200"/>
          </a:xfrm>
          <a:prstGeom prst="rect">
            <a:avLst/>
          </a:prstGeom>
          <a:noFill/>
          <a:ln/>
        </p:spPr>
        <p:txBody>
          <a:bodyPr wrap="square" lIns="0" tIns="0" rIns="0" bIns="0" rtlCol="0" anchor="t"/>
          <a:lstStyle/>
          <a:p>
            <a:pPr indent="0" marL="0">
              <a:buNone/>
            </a:pPr>
            <a:r>
              <a:rPr lang="en-US" sz="1150" b="1" dirty="0">
                <a:solidFill>
                  <a:srgbClr val="F67D4B"/>
                </a:solidFill>
                <a:latin typeface="Arial" pitchFamily="34" charset="0"/>
                <a:ea typeface="Arial" pitchFamily="34" charset="-122"/>
                <a:cs typeface="Arial" pitchFamily="34" charset="-120"/>
              </a:rPr>
              <a:t>Windows 11 cutover, zero clinic disruption</a:t>
            </a:r>
            <a:endParaRPr lang="en-US" sz="1150" dirty="0"/>
          </a:p>
        </p:txBody>
      </p:sp>
      <p:sp>
        <p:nvSpPr>
          <p:cNvPr id="24" name="Text 21"/>
          <p:cNvSpPr/>
          <p:nvPr/>
        </p:nvSpPr>
        <p:spPr>
          <a:xfrm>
            <a:off x="4471416" y="3657600"/>
            <a:ext cx="3291840" cy="1783080"/>
          </a:xfrm>
          <a:prstGeom prst="rect">
            <a:avLst/>
          </a:prstGeom>
          <a:noFill/>
          <a:ln/>
        </p:spPr>
        <p:txBody>
          <a:bodyPr wrap="square" lIns="0" tIns="0" rIns="0" bIns="0" rtlCol="0" anchor="t"/>
          <a:lstStyle/>
          <a:p>
            <a:pPr indent="0" marL="0">
              <a:buNone/>
            </a:pPr>
            <a:r>
              <a:rPr lang="en-US" sz="1000" dirty="0">
                <a:solidFill>
                  <a:srgbClr val="334155"/>
                </a:solidFill>
                <a:latin typeface="Arial" pitchFamily="34" charset="0"/>
                <a:ea typeface="Arial" pitchFamily="34" charset="-122"/>
                <a:cs typeface="Arial" pitchFamily="34" charset="-120"/>
              </a:rPr>
              <a:t>Rolled 18 clinical-office workstations from Windows 10 to 11 over a single weekend — driven by cyber-insurance requirements, with a structured second pass for stragglers and preconfigured spares on standby. No patient-hours lost.</a:t>
            </a:r>
            <a:endParaRPr lang="en-US" sz="1000" dirty="0"/>
          </a:p>
        </p:txBody>
      </p:sp>
      <p:sp>
        <p:nvSpPr>
          <p:cNvPr id="25" name="Shape 22"/>
          <p:cNvSpPr/>
          <p:nvPr/>
        </p:nvSpPr>
        <p:spPr>
          <a:xfrm>
            <a:off x="8110728" y="2103120"/>
            <a:ext cx="3611880" cy="3429000"/>
          </a:xfrm>
          <a:prstGeom prst="roundRect">
            <a:avLst>
              <a:gd name="adj" fmla="val 2133"/>
            </a:avLst>
          </a:prstGeom>
          <a:solidFill>
            <a:srgbClr val="FFFFFF"/>
          </a:solidFill>
          <a:ln w="12700">
            <a:solidFill>
              <a:srgbClr val="D8E0EA"/>
            </a:solidFill>
            <a:prstDash val="solid"/>
          </a:ln>
        </p:spPr>
      </p:sp>
      <p:sp>
        <p:nvSpPr>
          <p:cNvPr id="26" name="Shape 23"/>
          <p:cNvSpPr/>
          <p:nvPr/>
        </p:nvSpPr>
        <p:spPr>
          <a:xfrm>
            <a:off x="8110728" y="2103120"/>
            <a:ext cx="3611880" cy="91440"/>
          </a:xfrm>
          <a:prstGeom prst="rect">
            <a:avLst/>
          </a:prstGeom>
          <a:solidFill>
            <a:srgbClr val="1EAAC8"/>
          </a:solidFill>
          <a:ln w="12700">
            <a:solidFill>
              <a:srgbClr val="1EAAC8">
                <a:alpha val="0"/>
              </a:srgbClr>
            </a:solidFill>
            <a:prstDash val="solid"/>
          </a:ln>
        </p:spPr>
      </p:sp>
      <p:sp>
        <p:nvSpPr>
          <p:cNvPr id="27" name="Text 24"/>
          <p:cNvSpPr/>
          <p:nvPr/>
        </p:nvSpPr>
        <p:spPr>
          <a:xfrm>
            <a:off x="8275320" y="2286000"/>
            <a:ext cx="3291840"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MEDICAL PRACTICE · SOFTWARE + AI</a:t>
            </a:r>
            <a:endParaRPr lang="en-US" sz="900" dirty="0"/>
          </a:p>
        </p:txBody>
      </p:sp>
      <p:sp>
        <p:nvSpPr>
          <p:cNvPr id="28" name="Text 25"/>
          <p:cNvSpPr/>
          <p:nvPr/>
        </p:nvSpPr>
        <p:spPr>
          <a:xfrm>
            <a:off x="8275320" y="2523744"/>
            <a:ext cx="3291840" cy="502920"/>
          </a:xfrm>
          <a:prstGeom prst="rect">
            <a:avLst/>
          </a:prstGeom>
          <a:noFill/>
          <a:ln/>
        </p:spPr>
        <p:txBody>
          <a:bodyPr wrap="square" lIns="0" tIns="0" rIns="0" bIns="0" rtlCol="0" anchor="t"/>
          <a:lstStyle/>
          <a:p>
            <a:pPr indent="0" marL="0">
              <a:buNone/>
            </a:pPr>
            <a:r>
              <a:rPr lang="en-US" sz="1400" b="1" dirty="0">
                <a:solidFill>
                  <a:srgbClr val="1A1A2E"/>
                </a:solidFill>
                <a:latin typeface="Arial" pitchFamily="34" charset="0"/>
                <a:ea typeface="Arial" pitchFamily="34" charset="-122"/>
                <a:cs typeface="Arial" pitchFamily="34" charset="-120"/>
              </a:rPr>
              <a:t>70+ hrs · HIPAA-aware development</a:t>
            </a:r>
            <a:endParaRPr lang="en-US" sz="1400" dirty="0"/>
          </a:p>
        </p:txBody>
      </p:sp>
      <p:sp>
        <p:nvSpPr>
          <p:cNvPr id="29" name="Shape 26"/>
          <p:cNvSpPr/>
          <p:nvPr/>
        </p:nvSpPr>
        <p:spPr>
          <a:xfrm>
            <a:off x="8275320" y="3090672"/>
            <a:ext cx="3282696" cy="12802"/>
          </a:xfrm>
          <a:prstGeom prst="rect">
            <a:avLst/>
          </a:prstGeom>
          <a:solidFill>
            <a:srgbClr val="1EAAC8"/>
          </a:solidFill>
          <a:ln w="12700">
            <a:solidFill>
              <a:srgbClr val="1EAAC8">
                <a:alpha val="0"/>
              </a:srgbClr>
            </a:solidFill>
            <a:prstDash val="solid"/>
          </a:ln>
        </p:spPr>
      </p:sp>
      <p:sp>
        <p:nvSpPr>
          <p:cNvPr id="30" name="Text 27"/>
          <p:cNvSpPr/>
          <p:nvPr/>
        </p:nvSpPr>
        <p:spPr>
          <a:xfrm>
            <a:off x="8275320" y="3200400"/>
            <a:ext cx="3291840" cy="457200"/>
          </a:xfrm>
          <a:prstGeom prst="rect">
            <a:avLst/>
          </a:prstGeom>
          <a:noFill/>
          <a:ln/>
        </p:spPr>
        <p:txBody>
          <a:bodyPr wrap="square" lIns="0" tIns="0" rIns="0" bIns="0" rtlCol="0" anchor="t"/>
          <a:lstStyle/>
          <a:p>
            <a:pPr indent="0" marL="0">
              <a:buNone/>
            </a:pPr>
            <a:r>
              <a:rPr lang="en-US" sz="1150" b="1" dirty="0">
                <a:solidFill>
                  <a:srgbClr val="1EAAC8"/>
                </a:solidFill>
                <a:latin typeface="Arial" pitchFamily="34" charset="0"/>
                <a:ea typeface="Arial" pitchFamily="34" charset="-122"/>
                <a:cs typeface="Arial" pitchFamily="34" charset="-120"/>
              </a:rPr>
              <a:t>Modernized a live clinical web app</a:t>
            </a:r>
            <a:endParaRPr lang="en-US" sz="1150" dirty="0"/>
          </a:p>
        </p:txBody>
      </p:sp>
      <p:sp>
        <p:nvSpPr>
          <p:cNvPr id="31" name="Text 28"/>
          <p:cNvSpPr/>
          <p:nvPr/>
        </p:nvSpPr>
        <p:spPr>
          <a:xfrm>
            <a:off x="8275320" y="3657600"/>
            <a:ext cx="3291840" cy="1783080"/>
          </a:xfrm>
          <a:prstGeom prst="rect">
            <a:avLst/>
          </a:prstGeom>
          <a:noFill/>
          <a:ln/>
        </p:spPr>
        <p:txBody>
          <a:bodyPr wrap="square" lIns="0" tIns="0" rIns="0" bIns="0" rtlCol="0" anchor="t"/>
          <a:lstStyle/>
          <a:p>
            <a:pPr indent="0" marL="0">
              <a:buNone/>
            </a:pPr>
            <a:r>
              <a:rPr lang="en-US" sz="1000" dirty="0">
                <a:solidFill>
                  <a:srgbClr val="334155"/>
                </a:solidFill>
                <a:latin typeface="Arial" pitchFamily="34" charset="0"/>
                <a:ea typeface="Arial" pitchFamily="34" charset="-122"/>
                <a:cs typeface="Arial" pitchFamily="34" charset="-120"/>
              </a:rPr>
              <a:t>Updated the UI and database of a live healthcare application, stood up a clean data service, and integrated an AI assistant that auto-generates authorization checklists — all inside a HIPAA-aware development cycle. This is the muscle behind your interface workstream.</a:t>
            </a:r>
            <a:endParaRPr lang="en-US" sz="1000" dirty="0"/>
          </a:p>
        </p:txBody>
      </p:sp>
      <p:sp>
        <p:nvSpPr>
          <p:cNvPr id="32" name="Text 29"/>
          <p:cNvSpPr/>
          <p:nvPr/>
        </p:nvSpPr>
        <p:spPr>
          <a:xfrm>
            <a:off x="502920" y="5806440"/>
            <a:ext cx="11201400" cy="365760"/>
          </a:xfrm>
          <a:prstGeom prst="rect">
            <a:avLst/>
          </a:prstGeom>
          <a:noFill/>
          <a:ln/>
        </p:spPr>
        <p:txBody>
          <a:bodyPr wrap="square" lIns="0" tIns="0" rIns="0" bIns="0" rtlCol="0" anchor="ctr"/>
          <a:lstStyle/>
          <a:p>
            <a:pPr algn="ctr" indent="0" marL="0">
              <a:buNone/>
            </a:pPr>
            <a:r>
              <a:rPr lang="en-US" sz="1100" b="1" i="1" dirty="0">
                <a:solidFill>
                  <a:srgbClr val="334155"/>
                </a:solidFill>
                <a:latin typeface="Arial" pitchFamily="34" charset="0"/>
                <a:ea typeface="Arial" pitchFamily="34" charset="-122"/>
                <a:cs typeface="Arial" pitchFamily="34" charset="-120"/>
              </a:rPr>
              <a:t>Every environment we manage, we either built or rebuilt. A greenfield clinic is the cleaner version of work we do every week.</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67D4B"/>
          </a:solidFill>
          <a:ln w="12700">
            <a:solidFill>
              <a:srgbClr val="F67D4B">
                <a:alpha val="0"/>
              </a:srgbClr>
            </a:solidFill>
            <a:prstDash val="solid"/>
          </a:ln>
        </p:spPr>
      </p:sp>
      <p:pic>
        <p:nvPicPr>
          <p:cNvPr id="3" name="Image 0" descr="C:/vscode/tech-branding/tech-brandin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THE TECHNIJIAN STACK</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One partner, five doors — your build starts with three</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Each service stands on its own. For a new clinic: the build project plus managed IT and security as the ongoing foundation.</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Javier Romero, MD FACS  |  IT Discovery  |  2026-06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9</a:t>
            </a:r>
            <a:endParaRPr lang="en-US" sz="1000" dirty="0"/>
          </a:p>
        </p:txBody>
      </p:sp>
      <p:sp>
        <p:nvSpPr>
          <p:cNvPr id="11" name="Shape 8"/>
          <p:cNvSpPr/>
          <p:nvPr/>
        </p:nvSpPr>
        <p:spPr>
          <a:xfrm>
            <a:off x="502920" y="2103120"/>
            <a:ext cx="3611880" cy="2057400"/>
          </a:xfrm>
          <a:prstGeom prst="roundRect">
            <a:avLst>
              <a:gd name="adj" fmla="val 3556"/>
            </a:avLst>
          </a:prstGeom>
          <a:solidFill>
            <a:srgbClr val="FFFFFF"/>
          </a:solidFill>
          <a:ln w="12700">
            <a:solidFill>
              <a:srgbClr val="D8E0EA"/>
            </a:solidFill>
            <a:prstDash val="solid"/>
          </a:ln>
        </p:spPr>
      </p:sp>
      <p:sp>
        <p:nvSpPr>
          <p:cNvPr id="12" name="Shape 9"/>
          <p:cNvSpPr/>
          <p:nvPr/>
        </p:nvSpPr>
        <p:spPr>
          <a:xfrm>
            <a:off x="502920" y="2103120"/>
            <a:ext cx="361188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86000"/>
            <a:ext cx="328269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MANAGED HELP DESK &amp; MONITORING</a:t>
            </a:r>
            <a:endParaRPr lang="en-US" sz="900" dirty="0"/>
          </a:p>
        </p:txBody>
      </p:sp>
      <p:sp>
        <p:nvSpPr>
          <p:cNvPr id="14" name="Text 11"/>
          <p:cNvSpPr/>
          <p:nvPr/>
        </p:nvSpPr>
        <p:spPr>
          <a:xfrm>
            <a:off x="667512" y="2505456"/>
            <a:ext cx="328269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My IT</a:t>
            </a:r>
            <a:endParaRPr lang="en-US" sz="1600" dirty="0"/>
          </a:p>
        </p:txBody>
      </p:sp>
      <p:sp>
        <p:nvSpPr>
          <p:cNvPr id="15" name="Text 12"/>
          <p:cNvSpPr/>
          <p:nvPr/>
        </p:nvSpPr>
        <p:spPr>
          <a:xfrm>
            <a:off x="667512" y="2889504"/>
            <a:ext cx="3282696" cy="85953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Help desk + monitoring + patching for every workstation, the network, and Microsoft 365 — one number your staff calls, with guaranteed response.</a:t>
            </a:r>
            <a:endParaRPr lang="en-US" sz="1050" dirty="0"/>
          </a:p>
        </p:txBody>
      </p:sp>
      <p:sp>
        <p:nvSpPr>
          <p:cNvPr id="16" name="Text 13"/>
          <p:cNvSpPr/>
          <p:nvPr/>
        </p:nvSpPr>
        <p:spPr>
          <a:xfrm>
            <a:off x="667512" y="3813048"/>
            <a:ext cx="3282696" cy="256032"/>
          </a:xfrm>
          <a:prstGeom prst="rect">
            <a:avLst/>
          </a:prstGeom>
          <a:noFill/>
          <a:ln/>
        </p:spPr>
        <p:txBody>
          <a:bodyPr wrap="square" lIns="0" tIns="0" rIns="0" bIns="0" rtlCol="0" anchor="ctr"/>
          <a:lstStyle/>
          <a:p>
            <a:pPr indent="0" marL="0">
              <a:buNone/>
            </a:pPr>
            <a:r>
              <a:rPr lang="en-US" sz="900" b="1" i="1" dirty="0">
                <a:solidFill>
                  <a:srgbClr val="006DB6"/>
                </a:solidFill>
                <a:latin typeface="Arial" pitchFamily="34" charset="0"/>
                <a:ea typeface="Arial" pitchFamily="34" charset="-122"/>
                <a:cs typeface="Arial" pitchFamily="34" charset="-120"/>
              </a:rPr>
              <a:t>Start here.</a:t>
            </a:r>
            <a:endParaRPr lang="en-US" sz="900" dirty="0"/>
          </a:p>
        </p:txBody>
      </p:sp>
      <p:sp>
        <p:nvSpPr>
          <p:cNvPr id="17" name="Shape 14"/>
          <p:cNvSpPr/>
          <p:nvPr/>
        </p:nvSpPr>
        <p:spPr>
          <a:xfrm>
            <a:off x="4306824" y="2103120"/>
            <a:ext cx="3611880" cy="2057400"/>
          </a:xfrm>
          <a:prstGeom prst="roundRect">
            <a:avLst>
              <a:gd name="adj" fmla="val 3556"/>
            </a:avLst>
          </a:prstGeom>
          <a:solidFill>
            <a:srgbClr val="FFFFFF"/>
          </a:solidFill>
          <a:ln w="12700">
            <a:solidFill>
              <a:srgbClr val="D8E0EA"/>
            </a:solidFill>
            <a:prstDash val="solid"/>
          </a:ln>
        </p:spPr>
      </p:sp>
      <p:sp>
        <p:nvSpPr>
          <p:cNvPr id="18" name="Shape 15"/>
          <p:cNvSpPr/>
          <p:nvPr/>
        </p:nvSpPr>
        <p:spPr>
          <a:xfrm>
            <a:off x="4306824" y="2103120"/>
            <a:ext cx="3611880" cy="91440"/>
          </a:xfrm>
          <a:prstGeom prst="rect">
            <a:avLst/>
          </a:prstGeom>
          <a:solidFill>
            <a:srgbClr val="F67D4B"/>
          </a:solidFill>
          <a:ln w="12700">
            <a:solidFill>
              <a:srgbClr val="F67D4B">
                <a:alpha val="0"/>
              </a:srgbClr>
            </a:solidFill>
            <a:prstDash val="solid"/>
          </a:ln>
        </p:spPr>
      </p:sp>
      <p:sp>
        <p:nvSpPr>
          <p:cNvPr id="19" name="Text 16"/>
          <p:cNvSpPr/>
          <p:nvPr/>
        </p:nvSpPr>
        <p:spPr>
          <a:xfrm>
            <a:off x="4471416" y="2286000"/>
            <a:ext cx="328269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24/7 PROTECTION</a:t>
            </a:r>
            <a:endParaRPr lang="en-US" sz="900" dirty="0"/>
          </a:p>
        </p:txBody>
      </p:sp>
      <p:sp>
        <p:nvSpPr>
          <p:cNvPr id="20" name="Text 17"/>
          <p:cNvSpPr/>
          <p:nvPr/>
        </p:nvSpPr>
        <p:spPr>
          <a:xfrm>
            <a:off x="4471416" y="2505456"/>
            <a:ext cx="328269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My Security</a:t>
            </a:r>
            <a:endParaRPr lang="en-US" sz="1600" dirty="0"/>
          </a:p>
        </p:txBody>
      </p:sp>
      <p:sp>
        <p:nvSpPr>
          <p:cNvPr id="21" name="Text 18"/>
          <p:cNvSpPr/>
          <p:nvPr/>
        </p:nvSpPr>
        <p:spPr>
          <a:xfrm>
            <a:off x="4471416" y="2889504"/>
            <a:ext cx="3282696" cy="85953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EDR + threat detection on every device, email security, MFA everywhere, and 24/7 monitoring — the HIPAA technical-safeguard layer, managed.</a:t>
            </a:r>
            <a:endParaRPr lang="en-US" sz="1050" dirty="0"/>
          </a:p>
        </p:txBody>
      </p:sp>
      <p:sp>
        <p:nvSpPr>
          <p:cNvPr id="22" name="Text 19"/>
          <p:cNvSpPr/>
          <p:nvPr/>
        </p:nvSpPr>
        <p:spPr>
          <a:xfrm>
            <a:off x="4471416" y="3813048"/>
            <a:ext cx="3282696" cy="256032"/>
          </a:xfrm>
          <a:prstGeom prst="rect">
            <a:avLst/>
          </a:prstGeom>
          <a:noFill/>
          <a:ln/>
        </p:spPr>
        <p:txBody>
          <a:bodyPr wrap="square" lIns="0" tIns="0" rIns="0" bIns="0" rtlCol="0" anchor="ctr"/>
          <a:lstStyle/>
          <a:p>
            <a:pPr indent="0" marL="0">
              <a:buNone/>
            </a:pPr>
            <a:r>
              <a:rPr lang="en-US" sz="900" b="1" i="1" dirty="0">
                <a:solidFill>
                  <a:srgbClr val="F67D4B"/>
                </a:solidFill>
                <a:latin typeface="Arial" pitchFamily="34" charset="0"/>
                <a:ea typeface="Arial" pitchFamily="34" charset="-122"/>
                <a:cs typeface="Arial" pitchFamily="34" charset="-120"/>
              </a:rPr>
              <a:t>Start here.</a:t>
            </a:r>
            <a:endParaRPr lang="en-US" sz="900" dirty="0"/>
          </a:p>
        </p:txBody>
      </p:sp>
      <p:sp>
        <p:nvSpPr>
          <p:cNvPr id="23" name="Shape 20"/>
          <p:cNvSpPr/>
          <p:nvPr/>
        </p:nvSpPr>
        <p:spPr>
          <a:xfrm>
            <a:off x="8110728" y="2103120"/>
            <a:ext cx="3611880" cy="2057400"/>
          </a:xfrm>
          <a:prstGeom prst="roundRect">
            <a:avLst>
              <a:gd name="adj" fmla="val 3556"/>
            </a:avLst>
          </a:prstGeom>
          <a:solidFill>
            <a:srgbClr val="FFFFFF"/>
          </a:solidFill>
          <a:ln w="12700">
            <a:solidFill>
              <a:srgbClr val="D8E0EA"/>
            </a:solidFill>
            <a:prstDash val="solid"/>
          </a:ln>
        </p:spPr>
      </p:sp>
      <p:sp>
        <p:nvSpPr>
          <p:cNvPr id="24" name="Shape 21"/>
          <p:cNvSpPr/>
          <p:nvPr/>
        </p:nvSpPr>
        <p:spPr>
          <a:xfrm>
            <a:off x="8110728" y="2103120"/>
            <a:ext cx="3611880" cy="91440"/>
          </a:xfrm>
          <a:prstGeom prst="rect">
            <a:avLst/>
          </a:prstGeom>
          <a:solidFill>
            <a:srgbClr val="1EAAC8"/>
          </a:solidFill>
          <a:ln w="12700">
            <a:solidFill>
              <a:srgbClr val="1EAAC8">
                <a:alpha val="0"/>
              </a:srgbClr>
            </a:solidFill>
            <a:prstDash val="solid"/>
          </a:ln>
        </p:spPr>
      </p:sp>
      <p:sp>
        <p:nvSpPr>
          <p:cNvPr id="25" name="Text 22"/>
          <p:cNvSpPr/>
          <p:nvPr/>
        </p:nvSpPr>
        <p:spPr>
          <a:xfrm>
            <a:off x="8275320" y="2286000"/>
            <a:ext cx="328269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INTERFACES &amp; CUSTOM SOFTWARE</a:t>
            </a:r>
            <a:endParaRPr lang="en-US" sz="900" dirty="0"/>
          </a:p>
        </p:txBody>
      </p:sp>
      <p:sp>
        <p:nvSpPr>
          <p:cNvPr id="26" name="Text 23"/>
          <p:cNvSpPr/>
          <p:nvPr/>
        </p:nvSpPr>
        <p:spPr>
          <a:xfrm>
            <a:off x="8275320" y="2505456"/>
            <a:ext cx="328269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My Dev</a:t>
            </a:r>
            <a:endParaRPr lang="en-US" sz="1600" dirty="0"/>
          </a:p>
        </p:txBody>
      </p:sp>
      <p:sp>
        <p:nvSpPr>
          <p:cNvPr id="27" name="Text 24"/>
          <p:cNvSpPr/>
          <p:nvPr/>
        </p:nvSpPr>
        <p:spPr>
          <a:xfrm>
            <a:off x="8275320" y="2889504"/>
            <a:ext cx="3282696" cy="85953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Hospital portal access engineering, HL7 / FHIR interfaces, and custom software in a HIPAA-aware development cycle — your interface workstream lives here.</a:t>
            </a:r>
            <a:endParaRPr lang="en-US" sz="1050" dirty="0"/>
          </a:p>
        </p:txBody>
      </p:sp>
      <p:sp>
        <p:nvSpPr>
          <p:cNvPr id="28" name="Text 25"/>
          <p:cNvSpPr/>
          <p:nvPr/>
        </p:nvSpPr>
        <p:spPr>
          <a:xfrm>
            <a:off x="8275320" y="3813048"/>
            <a:ext cx="3282696" cy="256032"/>
          </a:xfrm>
          <a:prstGeom prst="rect">
            <a:avLst/>
          </a:prstGeom>
          <a:noFill/>
          <a:ln/>
        </p:spPr>
        <p:txBody>
          <a:bodyPr wrap="square" lIns="0" tIns="0" rIns="0" bIns="0" rtlCol="0" anchor="ctr"/>
          <a:lstStyle/>
          <a:p>
            <a:pPr indent="0" marL="0">
              <a:buNone/>
            </a:pPr>
            <a:r>
              <a:rPr lang="en-US" sz="900" b="1" i="1" dirty="0">
                <a:solidFill>
                  <a:srgbClr val="1EAAC8"/>
                </a:solidFill>
                <a:latin typeface="Arial" pitchFamily="34" charset="0"/>
                <a:ea typeface="Arial" pitchFamily="34" charset="-122"/>
                <a:cs typeface="Arial" pitchFamily="34" charset="-120"/>
              </a:rPr>
              <a:t>Your build project.</a:t>
            </a:r>
            <a:endParaRPr lang="en-US" sz="900" dirty="0"/>
          </a:p>
        </p:txBody>
      </p:sp>
      <p:sp>
        <p:nvSpPr>
          <p:cNvPr id="29" name="Shape 26"/>
          <p:cNvSpPr/>
          <p:nvPr/>
        </p:nvSpPr>
        <p:spPr>
          <a:xfrm>
            <a:off x="502920" y="4343400"/>
            <a:ext cx="3611880" cy="2057400"/>
          </a:xfrm>
          <a:prstGeom prst="roundRect">
            <a:avLst>
              <a:gd name="adj" fmla="val 3556"/>
            </a:avLst>
          </a:prstGeom>
          <a:solidFill>
            <a:srgbClr val="FFFFFF"/>
          </a:solidFill>
          <a:ln w="12700">
            <a:solidFill>
              <a:srgbClr val="D8E0EA"/>
            </a:solidFill>
            <a:prstDash val="solid"/>
          </a:ln>
        </p:spPr>
      </p:sp>
      <p:sp>
        <p:nvSpPr>
          <p:cNvPr id="30" name="Shape 27"/>
          <p:cNvSpPr/>
          <p:nvPr/>
        </p:nvSpPr>
        <p:spPr>
          <a:xfrm>
            <a:off x="502920" y="4343400"/>
            <a:ext cx="3611880" cy="91440"/>
          </a:xfrm>
          <a:prstGeom prst="rect">
            <a:avLst/>
          </a:prstGeom>
          <a:solidFill>
            <a:srgbClr val="CBDB2D"/>
          </a:solidFill>
          <a:ln w="12700">
            <a:solidFill>
              <a:srgbClr val="CBDB2D">
                <a:alpha val="0"/>
              </a:srgbClr>
            </a:solidFill>
            <a:prstDash val="solid"/>
          </a:ln>
        </p:spPr>
      </p:sp>
      <p:sp>
        <p:nvSpPr>
          <p:cNvPr id="31" name="Text 28"/>
          <p:cNvSpPr/>
          <p:nvPr/>
        </p:nvSpPr>
        <p:spPr>
          <a:xfrm>
            <a:off x="667512" y="4526280"/>
            <a:ext cx="3282696" cy="201168"/>
          </a:xfrm>
          <a:prstGeom prst="rect">
            <a:avLst/>
          </a:prstGeom>
          <a:noFill/>
          <a:ln/>
        </p:spPr>
        <p:txBody>
          <a:bodyPr wrap="square" lIns="0" tIns="0" rIns="0" bIns="0" rtlCol="0" anchor="ctr"/>
          <a:lstStyle/>
          <a:p>
            <a:pPr indent="0" marL="0">
              <a:buNone/>
            </a:pPr>
            <a:r>
              <a:rPr lang="en-US" sz="900" b="1" dirty="0">
                <a:solidFill>
                  <a:srgbClr val="CBDB2D"/>
                </a:solidFill>
                <a:latin typeface="Arial" pitchFamily="34" charset="0"/>
                <a:ea typeface="Arial" pitchFamily="34" charset="-122"/>
                <a:cs typeface="Arial" pitchFamily="34" charset="-120"/>
              </a:rPr>
              <a:t>THE HIPAA PROGRAM</a:t>
            </a:r>
            <a:endParaRPr lang="en-US" sz="900" dirty="0"/>
          </a:p>
        </p:txBody>
      </p:sp>
      <p:sp>
        <p:nvSpPr>
          <p:cNvPr id="32" name="Text 29"/>
          <p:cNvSpPr/>
          <p:nvPr/>
        </p:nvSpPr>
        <p:spPr>
          <a:xfrm>
            <a:off x="667512" y="4745736"/>
            <a:ext cx="328269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My Compliance</a:t>
            </a:r>
            <a:endParaRPr lang="en-US" sz="1600" dirty="0"/>
          </a:p>
        </p:txBody>
      </p:sp>
      <p:sp>
        <p:nvSpPr>
          <p:cNvPr id="33" name="Text 30"/>
          <p:cNvSpPr/>
          <p:nvPr/>
        </p:nvSpPr>
        <p:spPr>
          <a:xfrm>
            <a:off x="667512" y="5129784"/>
            <a:ext cx="3282696" cy="113385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Security Risk Analysis, BAA inventory, policies, training, and audit-ready evidence — kept current as you hire and grow.</a:t>
            </a:r>
            <a:endParaRPr lang="en-US" sz="1050" dirty="0"/>
          </a:p>
        </p:txBody>
      </p:sp>
      <p:sp>
        <p:nvSpPr>
          <p:cNvPr id="34" name="Shape 31"/>
          <p:cNvSpPr/>
          <p:nvPr/>
        </p:nvSpPr>
        <p:spPr>
          <a:xfrm>
            <a:off x="4306824" y="4343400"/>
            <a:ext cx="3611880" cy="2057400"/>
          </a:xfrm>
          <a:prstGeom prst="roundRect">
            <a:avLst>
              <a:gd name="adj" fmla="val 3556"/>
            </a:avLst>
          </a:prstGeom>
          <a:solidFill>
            <a:srgbClr val="FFFFFF"/>
          </a:solidFill>
          <a:ln w="12700">
            <a:solidFill>
              <a:srgbClr val="D8E0EA"/>
            </a:solidFill>
            <a:prstDash val="solid"/>
          </a:ln>
        </p:spPr>
      </p:sp>
      <p:sp>
        <p:nvSpPr>
          <p:cNvPr id="35" name="Shape 32"/>
          <p:cNvSpPr/>
          <p:nvPr/>
        </p:nvSpPr>
        <p:spPr>
          <a:xfrm>
            <a:off x="4306824" y="4343400"/>
            <a:ext cx="3611880" cy="91440"/>
          </a:xfrm>
          <a:prstGeom prst="rect">
            <a:avLst/>
          </a:prstGeom>
          <a:solidFill>
            <a:srgbClr val="1A1A2E"/>
          </a:solidFill>
          <a:ln w="12700">
            <a:solidFill>
              <a:srgbClr val="1A1A2E">
                <a:alpha val="0"/>
              </a:srgbClr>
            </a:solidFill>
            <a:prstDash val="solid"/>
          </a:ln>
        </p:spPr>
      </p:sp>
      <p:sp>
        <p:nvSpPr>
          <p:cNvPr id="36" name="Text 33"/>
          <p:cNvSpPr/>
          <p:nvPr/>
        </p:nvSpPr>
        <p:spPr>
          <a:xfrm>
            <a:off x="4471416" y="4526280"/>
            <a:ext cx="3282696" cy="201168"/>
          </a:xfrm>
          <a:prstGeom prst="rect">
            <a:avLst/>
          </a:prstGeom>
          <a:noFill/>
          <a:ln/>
        </p:spPr>
        <p:txBody>
          <a:bodyPr wrap="square" lIns="0" tIns="0" rIns="0" bIns="0" rtlCol="0" anchor="ctr"/>
          <a:lstStyle/>
          <a:p>
            <a:pPr indent="0" marL="0">
              <a:buNone/>
            </a:pPr>
            <a:r>
              <a:rPr lang="en-US" sz="900" b="1" dirty="0">
                <a:solidFill>
                  <a:srgbClr val="1A1A2E"/>
                </a:solidFill>
                <a:latin typeface="Arial" pitchFamily="34" charset="0"/>
                <a:ea typeface="Arial" pitchFamily="34" charset="-122"/>
                <a:cs typeface="Arial" pitchFamily="34" charset="-120"/>
              </a:rPr>
              <a:t>PLAIN-LANGUAGE REPORTING</a:t>
            </a:r>
            <a:endParaRPr lang="en-US" sz="900" dirty="0"/>
          </a:p>
        </p:txBody>
      </p:sp>
      <p:sp>
        <p:nvSpPr>
          <p:cNvPr id="37" name="Text 34"/>
          <p:cNvSpPr/>
          <p:nvPr/>
        </p:nvSpPr>
        <p:spPr>
          <a:xfrm>
            <a:off x="4471416" y="4745736"/>
            <a:ext cx="328269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My Jian</a:t>
            </a:r>
            <a:endParaRPr lang="en-US" sz="1600" dirty="0"/>
          </a:p>
        </p:txBody>
      </p:sp>
      <p:sp>
        <p:nvSpPr>
          <p:cNvPr id="38" name="Text 35"/>
          <p:cNvSpPr/>
          <p:nvPr/>
        </p:nvSpPr>
        <p:spPr>
          <a:xfrm>
            <a:off x="4471416" y="5129784"/>
            <a:ext cx="3282696" cy="113385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Technijian-built monitoring that watches across your stack and produces a plain monthly report — so you always know it's working.</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sp>
      <p:pic>
        <p:nvPicPr>
          <p:cNvPr id="3" name="Image 0" descr="C:/vscode/tech-branding/tech-brandin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HOW PRICING WORKS</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Transparent building blocks — no surprises</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Real list prices from our standard small-practice packages. Your monthly = your headcount × the stack; the one-time build-out is a fixed-scope quote after the free site walk.</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Javier Romero, MD FACS  |  IT Discovery  |  2026-06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10</a:t>
            </a:r>
            <a:endParaRPr lang="en-US" sz="1000" dirty="0"/>
          </a:p>
        </p:txBody>
      </p:sp>
      <p:sp>
        <p:nvSpPr>
          <p:cNvPr id="11" name="Shape 8"/>
          <p:cNvSpPr/>
          <p:nvPr/>
        </p:nvSpPr>
        <p:spPr>
          <a:xfrm>
            <a:off x="502920" y="2103120"/>
            <a:ext cx="6858000" cy="3703320"/>
          </a:xfrm>
          <a:prstGeom prst="roundRect">
            <a:avLst>
              <a:gd name="adj" fmla="val 1975"/>
            </a:avLst>
          </a:prstGeom>
          <a:solidFill>
            <a:srgbClr val="FFFFFF"/>
          </a:solidFill>
          <a:ln w="12700">
            <a:solidFill>
              <a:srgbClr val="D8E0EA"/>
            </a:solidFill>
            <a:prstDash val="solid"/>
          </a:ln>
        </p:spPr>
      </p:sp>
      <p:sp>
        <p:nvSpPr>
          <p:cNvPr id="12" name="Shape 9"/>
          <p:cNvSpPr/>
          <p:nvPr/>
        </p:nvSpPr>
        <p:spPr>
          <a:xfrm>
            <a:off x="502920" y="2103120"/>
            <a:ext cx="6858000" cy="91440"/>
          </a:xfrm>
          <a:prstGeom prst="rect">
            <a:avLst/>
          </a:prstGeom>
          <a:solidFill>
            <a:srgbClr val="006DB6"/>
          </a:solidFill>
          <a:ln w="12700">
            <a:solidFill>
              <a:srgbClr val="006DB6">
                <a:alpha val="0"/>
              </a:srgbClr>
            </a:solidFill>
            <a:prstDash val="solid"/>
          </a:ln>
        </p:spPr>
      </p:sp>
      <p:sp>
        <p:nvSpPr>
          <p:cNvPr id="13" name="Text 10"/>
          <p:cNvSpPr/>
          <p:nvPr/>
        </p:nvSpPr>
        <p:spPr>
          <a:xfrm>
            <a:off x="713232" y="2304288"/>
            <a:ext cx="649224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WHAT PROTECTS EACH PERSON  ·  PER MONTH</a:t>
            </a:r>
            <a:endParaRPr lang="en-US" sz="1000" dirty="0"/>
          </a:p>
        </p:txBody>
      </p:sp>
      <p:sp>
        <p:nvSpPr>
          <p:cNvPr id="14" name="Text 11"/>
          <p:cNvSpPr/>
          <p:nvPr/>
        </p:nvSpPr>
        <p:spPr>
          <a:xfrm>
            <a:off x="713232" y="2615184"/>
            <a:ext cx="5577840" cy="402336"/>
          </a:xfrm>
          <a:prstGeom prst="rect">
            <a:avLst/>
          </a:prstGeom>
          <a:noFill/>
          <a:ln/>
        </p:spPr>
        <p:txBody>
          <a:bodyPr wrap="square" lIns="0" tIns="0" rIns="0" bIns="0" rtlCol="0" anchor="ctr"/>
          <a:lstStyle/>
          <a:p>
            <a:pPr indent="0" marL="0">
              <a:buNone/>
            </a:pPr>
            <a:r>
              <a:rPr lang="en-US" sz="1050" dirty="0">
                <a:solidFill>
                  <a:srgbClr val="334155"/>
                </a:solidFill>
                <a:latin typeface="Arial" pitchFamily="34" charset="0"/>
                <a:ea typeface="Arial" pitchFamily="34" charset="-122"/>
                <a:cs typeface="Arial" pitchFamily="34" charset="-120"/>
              </a:rPr>
              <a:t>Endpoint security — EDR + threat detection + DNS filtering + patching + remote support</a:t>
            </a:r>
            <a:endParaRPr lang="en-US" sz="1050" dirty="0"/>
          </a:p>
        </p:txBody>
      </p:sp>
      <p:sp>
        <p:nvSpPr>
          <p:cNvPr id="15" name="Text 12"/>
          <p:cNvSpPr/>
          <p:nvPr/>
        </p:nvSpPr>
        <p:spPr>
          <a:xfrm>
            <a:off x="6355080" y="2615184"/>
            <a:ext cx="914400" cy="402336"/>
          </a:xfrm>
          <a:prstGeom prst="rect">
            <a:avLst/>
          </a:prstGeom>
          <a:noFill/>
          <a:ln/>
        </p:spPr>
        <p:txBody>
          <a:bodyPr wrap="square" lIns="0" tIns="0" rIns="0" bIns="0" rtlCol="0" anchor="ctr"/>
          <a:lstStyle/>
          <a:p>
            <a:pPr algn="r" indent="0" marL="0">
              <a:buNone/>
            </a:pPr>
            <a:r>
              <a:rPr lang="en-US" sz="1200" b="1" dirty="0">
                <a:solidFill>
                  <a:srgbClr val="1A1A2E"/>
                </a:solidFill>
                <a:latin typeface="Arial" pitchFamily="34" charset="0"/>
                <a:ea typeface="Arial" pitchFamily="34" charset="-122"/>
                <a:cs typeface="Arial" pitchFamily="34" charset="-120"/>
              </a:rPr>
              <a:t>$26.50</a:t>
            </a:r>
            <a:endParaRPr lang="en-US" sz="1200" dirty="0"/>
          </a:p>
        </p:txBody>
      </p:sp>
      <p:sp>
        <p:nvSpPr>
          <p:cNvPr id="16" name="Shape 13"/>
          <p:cNvSpPr/>
          <p:nvPr/>
        </p:nvSpPr>
        <p:spPr>
          <a:xfrm>
            <a:off x="713232" y="3017520"/>
            <a:ext cx="6446520" cy="7315"/>
          </a:xfrm>
          <a:prstGeom prst="rect">
            <a:avLst/>
          </a:prstGeom>
          <a:solidFill>
            <a:srgbClr val="D8E0EA"/>
          </a:solidFill>
          <a:ln w="12700">
            <a:solidFill>
              <a:srgbClr val="D8E0EA">
                <a:alpha val="0"/>
              </a:srgbClr>
            </a:solidFill>
            <a:prstDash val="solid"/>
          </a:ln>
        </p:spPr>
      </p:sp>
      <p:sp>
        <p:nvSpPr>
          <p:cNvPr id="17" name="Text 14"/>
          <p:cNvSpPr/>
          <p:nvPr/>
        </p:nvSpPr>
        <p:spPr>
          <a:xfrm>
            <a:off x="713232" y="3035808"/>
            <a:ext cx="5577840" cy="402336"/>
          </a:xfrm>
          <a:prstGeom prst="rect">
            <a:avLst/>
          </a:prstGeom>
          <a:noFill/>
          <a:ln/>
        </p:spPr>
        <p:txBody>
          <a:bodyPr wrap="square" lIns="0" tIns="0" rIns="0" bIns="0" rtlCol="0" anchor="ctr"/>
          <a:lstStyle/>
          <a:p>
            <a:pPr indent="0" marL="0">
              <a:buNone/>
            </a:pPr>
            <a:r>
              <a:rPr lang="en-US" sz="1050" dirty="0">
                <a:solidFill>
                  <a:srgbClr val="334155"/>
                </a:solidFill>
                <a:latin typeface="Arial" pitchFamily="34" charset="0"/>
                <a:ea typeface="Arial" pitchFamily="34" charset="-122"/>
                <a:cs typeface="Arial" pitchFamily="34" charset="-120"/>
              </a:rPr>
              <a:t>Email security &amp; anti-phishing (HIPAA-suitable)</a:t>
            </a:r>
            <a:endParaRPr lang="en-US" sz="1050" dirty="0"/>
          </a:p>
        </p:txBody>
      </p:sp>
      <p:sp>
        <p:nvSpPr>
          <p:cNvPr id="18" name="Text 15"/>
          <p:cNvSpPr/>
          <p:nvPr/>
        </p:nvSpPr>
        <p:spPr>
          <a:xfrm>
            <a:off x="6355080" y="3035808"/>
            <a:ext cx="914400" cy="402336"/>
          </a:xfrm>
          <a:prstGeom prst="rect">
            <a:avLst/>
          </a:prstGeom>
          <a:noFill/>
          <a:ln/>
        </p:spPr>
        <p:txBody>
          <a:bodyPr wrap="square" lIns="0" tIns="0" rIns="0" bIns="0" rtlCol="0" anchor="ctr"/>
          <a:lstStyle/>
          <a:p>
            <a:pPr algn="r" indent="0" marL="0">
              <a:buNone/>
            </a:pPr>
            <a:r>
              <a:rPr lang="en-US" sz="1200" b="1" dirty="0">
                <a:solidFill>
                  <a:srgbClr val="1A1A2E"/>
                </a:solidFill>
                <a:latin typeface="Arial" pitchFamily="34" charset="0"/>
                <a:ea typeface="Arial" pitchFamily="34" charset="-122"/>
                <a:cs typeface="Arial" pitchFamily="34" charset="-120"/>
              </a:rPr>
              <a:t>$4.75</a:t>
            </a:r>
            <a:endParaRPr lang="en-US" sz="1200" dirty="0"/>
          </a:p>
        </p:txBody>
      </p:sp>
      <p:sp>
        <p:nvSpPr>
          <p:cNvPr id="19" name="Shape 16"/>
          <p:cNvSpPr/>
          <p:nvPr/>
        </p:nvSpPr>
        <p:spPr>
          <a:xfrm>
            <a:off x="713232" y="3438144"/>
            <a:ext cx="6446520" cy="7315"/>
          </a:xfrm>
          <a:prstGeom prst="rect">
            <a:avLst/>
          </a:prstGeom>
          <a:solidFill>
            <a:srgbClr val="D8E0EA"/>
          </a:solidFill>
          <a:ln w="12700">
            <a:solidFill>
              <a:srgbClr val="D8E0EA">
                <a:alpha val="0"/>
              </a:srgbClr>
            </a:solidFill>
            <a:prstDash val="solid"/>
          </a:ln>
        </p:spPr>
      </p:sp>
      <p:sp>
        <p:nvSpPr>
          <p:cNvPr id="20" name="Text 17"/>
          <p:cNvSpPr/>
          <p:nvPr/>
        </p:nvSpPr>
        <p:spPr>
          <a:xfrm>
            <a:off x="713232" y="3456432"/>
            <a:ext cx="5577840" cy="402336"/>
          </a:xfrm>
          <a:prstGeom prst="rect">
            <a:avLst/>
          </a:prstGeom>
          <a:noFill/>
          <a:ln/>
        </p:spPr>
        <p:txBody>
          <a:bodyPr wrap="square" lIns="0" tIns="0" rIns="0" bIns="0" rtlCol="0" anchor="ctr"/>
          <a:lstStyle/>
          <a:p>
            <a:pPr indent="0" marL="0">
              <a:buNone/>
            </a:pPr>
            <a:r>
              <a:rPr lang="en-US" sz="1050" dirty="0">
                <a:solidFill>
                  <a:srgbClr val="334155"/>
                </a:solidFill>
                <a:latin typeface="Arial" pitchFamily="34" charset="0"/>
                <a:ea typeface="Arial" pitchFamily="34" charset="-122"/>
                <a:cs typeface="Arial" pitchFamily="34" charset="-120"/>
              </a:rPr>
              <a:t>Microsoft 365 cloud backup</a:t>
            </a:r>
            <a:endParaRPr lang="en-US" sz="1050" dirty="0"/>
          </a:p>
        </p:txBody>
      </p:sp>
      <p:sp>
        <p:nvSpPr>
          <p:cNvPr id="21" name="Text 18"/>
          <p:cNvSpPr/>
          <p:nvPr/>
        </p:nvSpPr>
        <p:spPr>
          <a:xfrm>
            <a:off x="6355080" y="3456432"/>
            <a:ext cx="914400" cy="402336"/>
          </a:xfrm>
          <a:prstGeom prst="rect">
            <a:avLst/>
          </a:prstGeom>
          <a:noFill/>
          <a:ln/>
        </p:spPr>
        <p:txBody>
          <a:bodyPr wrap="square" lIns="0" tIns="0" rIns="0" bIns="0" rtlCol="0" anchor="ctr"/>
          <a:lstStyle/>
          <a:p>
            <a:pPr algn="r" indent="0" marL="0">
              <a:buNone/>
            </a:pPr>
            <a:r>
              <a:rPr lang="en-US" sz="1200" b="1" dirty="0">
                <a:solidFill>
                  <a:srgbClr val="1A1A2E"/>
                </a:solidFill>
                <a:latin typeface="Arial" pitchFamily="34" charset="0"/>
                <a:ea typeface="Arial" pitchFamily="34" charset="-122"/>
                <a:cs typeface="Arial" pitchFamily="34" charset="-120"/>
              </a:rPr>
              <a:t>$4.00</a:t>
            </a:r>
            <a:endParaRPr lang="en-US" sz="1200" dirty="0"/>
          </a:p>
        </p:txBody>
      </p:sp>
      <p:sp>
        <p:nvSpPr>
          <p:cNvPr id="22" name="Shape 19"/>
          <p:cNvSpPr/>
          <p:nvPr/>
        </p:nvSpPr>
        <p:spPr>
          <a:xfrm>
            <a:off x="713232" y="3858768"/>
            <a:ext cx="6446520" cy="7315"/>
          </a:xfrm>
          <a:prstGeom prst="rect">
            <a:avLst/>
          </a:prstGeom>
          <a:solidFill>
            <a:srgbClr val="D8E0EA"/>
          </a:solidFill>
          <a:ln w="12700">
            <a:solidFill>
              <a:srgbClr val="D8E0EA">
                <a:alpha val="0"/>
              </a:srgbClr>
            </a:solidFill>
            <a:prstDash val="solid"/>
          </a:ln>
        </p:spPr>
      </p:sp>
      <p:sp>
        <p:nvSpPr>
          <p:cNvPr id="23" name="Text 20"/>
          <p:cNvSpPr/>
          <p:nvPr/>
        </p:nvSpPr>
        <p:spPr>
          <a:xfrm>
            <a:off x="713232" y="3877056"/>
            <a:ext cx="5577840" cy="402336"/>
          </a:xfrm>
          <a:prstGeom prst="rect">
            <a:avLst/>
          </a:prstGeom>
          <a:noFill/>
          <a:ln/>
        </p:spPr>
        <p:txBody>
          <a:bodyPr wrap="square" lIns="0" tIns="0" rIns="0" bIns="0" rtlCol="0" anchor="ctr"/>
          <a:lstStyle/>
          <a:p>
            <a:pPr indent="0" marL="0">
              <a:buNone/>
            </a:pPr>
            <a:r>
              <a:rPr lang="en-US" sz="1050" dirty="0">
                <a:solidFill>
                  <a:srgbClr val="334155"/>
                </a:solidFill>
                <a:latin typeface="Arial" pitchFamily="34" charset="0"/>
                <a:ea typeface="Arial" pitchFamily="34" charset="-122"/>
                <a:cs typeface="Arial" pitchFamily="34" charset="-120"/>
              </a:rPr>
              <a:t>Security-awareness training (simulated phishing)</a:t>
            </a:r>
            <a:endParaRPr lang="en-US" sz="1050" dirty="0"/>
          </a:p>
        </p:txBody>
      </p:sp>
      <p:sp>
        <p:nvSpPr>
          <p:cNvPr id="24" name="Text 21"/>
          <p:cNvSpPr/>
          <p:nvPr/>
        </p:nvSpPr>
        <p:spPr>
          <a:xfrm>
            <a:off x="6355080" y="3877056"/>
            <a:ext cx="914400" cy="402336"/>
          </a:xfrm>
          <a:prstGeom prst="rect">
            <a:avLst/>
          </a:prstGeom>
          <a:noFill/>
          <a:ln/>
        </p:spPr>
        <p:txBody>
          <a:bodyPr wrap="square" lIns="0" tIns="0" rIns="0" bIns="0" rtlCol="0" anchor="ctr"/>
          <a:lstStyle/>
          <a:p>
            <a:pPr algn="r" indent="0" marL="0">
              <a:buNone/>
            </a:pPr>
            <a:r>
              <a:rPr lang="en-US" sz="1200" b="1" dirty="0">
                <a:solidFill>
                  <a:srgbClr val="1A1A2E"/>
                </a:solidFill>
                <a:latin typeface="Arial" pitchFamily="34" charset="0"/>
                <a:ea typeface="Arial" pitchFamily="34" charset="-122"/>
                <a:cs typeface="Arial" pitchFamily="34" charset="-120"/>
              </a:rPr>
              <a:t>$6.00</a:t>
            </a:r>
            <a:endParaRPr lang="en-US" sz="1200" dirty="0"/>
          </a:p>
        </p:txBody>
      </p:sp>
      <p:sp>
        <p:nvSpPr>
          <p:cNvPr id="25" name="Shape 22"/>
          <p:cNvSpPr/>
          <p:nvPr/>
        </p:nvSpPr>
        <p:spPr>
          <a:xfrm>
            <a:off x="713232" y="4279392"/>
            <a:ext cx="6446520" cy="7315"/>
          </a:xfrm>
          <a:prstGeom prst="rect">
            <a:avLst/>
          </a:prstGeom>
          <a:solidFill>
            <a:srgbClr val="D8E0EA"/>
          </a:solidFill>
          <a:ln w="12700">
            <a:solidFill>
              <a:srgbClr val="D8E0EA">
                <a:alpha val="0"/>
              </a:srgbClr>
            </a:solidFill>
            <a:prstDash val="solid"/>
          </a:ln>
        </p:spPr>
      </p:sp>
      <p:sp>
        <p:nvSpPr>
          <p:cNvPr id="26" name="Text 23"/>
          <p:cNvSpPr/>
          <p:nvPr/>
        </p:nvSpPr>
        <p:spPr>
          <a:xfrm>
            <a:off x="713232" y="4297680"/>
            <a:ext cx="5577840" cy="402336"/>
          </a:xfrm>
          <a:prstGeom prst="rect">
            <a:avLst/>
          </a:prstGeom>
          <a:noFill/>
          <a:ln/>
        </p:spPr>
        <p:txBody>
          <a:bodyPr wrap="square" lIns="0" tIns="0" rIns="0" bIns="0" rtlCol="0" anchor="ctr"/>
          <a:lstStyle/>
          <a:p>
            <a:pPr indent="0" marL="0">
              <a:buNone/>
            </a:pPr>
            <a:r>
              <a:rPr lang="en-US" sz="1050" dirty="0">
                <a:solidFill>
                  <a:srgbClr val="334155"/>
                </a:solidFill>
                <a:latin typeface="Arial" pitchFamily="34" charset="0"/>
                <a:ea typeface="Arial" pitchFamily="34" charset="-122"/>
                <a:cs typeface="Arial" pitchFamily="34" charset="-120"/>
              </a:rPr>
              <a:t>Managed help desk &amp; 24/7 monitoring</a:t>
            </a:r>
            <a:endParaRPr lang="en-US" sz="1050" dirty="0"/>
          </a:p>
        </p:txBody>
      </p:sp>
      <p:sp>
        <p:nvSpPr>
          <p:cNvPr id="27" name="Text 24"/>
          <p:cNvSpPr/>
          <p:nvPr/>
        </p:nvSpPr>
        <p:spPr>
          <a:xfrm>
            <a:off x="6355080" y="4297680"/>
            <a:ext cx="914400" cy="402336"/>
          </a:xfrm>
          <a:prstGeom prst="rect">
            <a:avLst/>
          </a:prstGeom>
          <a:noFill/>
          <a:ln/>
        </p:spPr>
        <p:txBody>
          <a:bodyPr wrap="square" lIns="0" tIns="0" rIns="0" bIns="0" rtlCol="0" anchor="ctr"/>
          <a:lstStyle/>
          <a:p>
            <a:pPr algn="r" indent="0" marL="0">
              <a:buNone/>
            </a:pPr>
            <a:r>
              <a:rPr lang="en-US" sz="1200" b="1" dirty="0">
                <a:solidFill>
                  <a:srgbClr val="1A1A2E"/>
                </a:solidFill>
                <a:latin typeface="Arial" pitchFamily="34" charset="0"/>
                <a:ea typeface="Arial" pitchFamily="34" charset="-122"/>
                <a:cs typeface="Arial" pitchFamily="34" charset="-120"/>
              </a:rPr>
              <a:t>~$46</a:t>
            </a:r>
            <a:endParaRPr lang="en-US" sz="1200" dirty="0"/>
          </a:p>
        </p:txBody>
      </p:sp>
      <p:sp>
        <p:nvSpPr>
          <p:cNvPr id="28" name="Shape 25"/>
          <p:cNvSpPr/>
          <p:nvPr/>
        </p:nvSpPr>
        <p:spPr>
          <a:xfrm>
            <a:off x="713232" y="4700016"/>
            <a:ext cx="6446520" cy="7315"/>
          </a:xfrm>
          <a:prstGeom prst="rect">
            <a:avLst/>
          </a:prstGeom>
          <a:solidFill>
            <a:srgbClr val="D8E0EA"/>
          </a:solidFill>
          <a:ln w="12700">
            <a:solidFill>
              <a:srgbClr val="D8E0EA">
                <a:alpha val="0"/>
              </a:srgbClr>
            </a:solidFill>
            <a:prstDash val="solid"/>
          </a:ln>
        </p:spPr>
      </p:sp>
      <p:sp>
        <p:nvSpPr>
          <p:cNvPr id="29" name="Text 26"/>
          <p:cNvSpPr/>
          <p:nvPr/>
        </p:nvSpPr>
        <p:spPr>
          <a:xfrm>
            <a:off x="713232" y="4754880"/>
            <a:ext cx="4572000" cy="329184"/>
          </a:xfrm>
          <a:prstGeom prst="rect">
            <a:avLst/>
          </a:prstGeom>
          <a:noFill/>
          <a:ln/>
        </p:spPr>
        <p:txBody>
          <a:bodyPr wrap="square" lIns="0" tIns="0" rIns="0" bIns="0" rtlCol="0" anchor="ctr"/>
          <a:lstStyle/>
          <a:p>
            <a:pPr indent="0" marL="0">
              <a:buNone/>
            </a:pPr>
            <a:r>
              <a:rPr lang="en-US" sz="1200" b="1" dirty="0">
                <a:solidFill>
                  <a:srgbClr val="006DB6"/>
                </a:solidFill>
                <a:latin typeface="Arial" pitchFamily="34" charset="0"/>
                <a:ea typeface="Arial" pitchFamily="34" charset="-122"/>
                <a:cs typeface="Arial" pitchFamily="34" charset="-120"/>
              </a:rPr>
              <a:t>Per person</a:t>
            </a:r>
            <a:endParaRPr lang="en-US" sz="1200" dirty="0"/>
          </a:p>
        </p:txBody>
      </p:sp>
      <p:sp>
        <p:nvSpPr>
          <p:cNvPr id="30" name="Text 27"/>
          <p:cNvSpPr/>
          <p:nvPr/>
        </p:nvSpPr>
        <p:spPr>
          <a:xfrm>
            <a:off x="5029200" y="4754880"/>
            <a:ext cx="2240280" cy="329184"/>
          </a:xfrm>
          <a:prstGeom prst="rect">
            <a:avLst/>
          </a:prstGeom>
          <a:noFill/>
          <a:ln/>
        </p:spPr>
        <p:txBody>
          <a:bodyPr wrap="square" lIns="0" tIns="0" rIns="0" bIns="0" rtlCol="0" anchor="ctr"/>
          <a:lstStyle/>
          <a:p>
            <a:pPr algn="r" indent="0" marL="0">
              <a:buNone/>
            </a:pPr>
            <a:r>
              <a:rPr lang="en-US" sz="1400" b="1" dirty="0">
                <a:solidFill>
                  <a:srgbClr val="006DB6"/>
                </a:solidFill>
                <a:latin typeface="Arial" pitchFamily="34" charset="0"/>
                <a:ea typeface="Arial" pitchFamily="34" charset="-122"/>
                <a:cs typeface="Arial" pitchFamily="34" charset="-120"/>
              </a:rPr>
              <a:t>≈ $87 / mo</a:t>
            </a:r>
            <a:endParaRPr lang="en-US" sz="1400" dirty="0"/>
          </a:p>
        </p:txBody>
      </p:sp>
      <p:sp>
        <p:nvSpPr>
          <p:cNvPr id="31" name="Text 28"/>
          <p:cNvSpPr/>
          <p:nvPr/>
        </p:nvSpPr>
        <p:spPr>
          <a:xfrm>
            <a:off x="713232" y="5138928"/>
            <a:ext cx="5577840" cy="310896"/>
          </a:xfrm>
          <a:prstGeom prst="rect">
            <a:avLst/>
          </a:prstGeom>
          <a:noFill/>
          <a:ln/>
        </p:spPr>
        <p:txBody>
          <a:bodyPr wrap="square" lIns="0" tIns="0" rIns="0" bIns="0" rtlCol="0" anchor="ctr"/>
          <a:lstStyle/>
          <a:p>
            <a:pPr indent="0" marL="0">
              <a:buNone/>
            </a:pPr>
            <a:r>
              <a:rPr lang="en-US" sz="1000" i="1" dirty="0">
                <a:solidFill>
                  <a:srgbClr val="64748B"/>
                </a:solidFill>
                <a:latin typeface="Arial" pitchFamily="34" charset="0"/>
                <a:ea typeface="Arial" pitchFamily="34" charset="-122"/>
                <a:cs typeface="Arial" pitchFamily="34" charset="-120"/>
              </a:rPr>
              <a:t>+ Email-domain (DMARC/DKIM) protection — whole practice</a:t>
            </a:r>
            <a:endParaRPr lang="en-US" sz="1000" dirty="0"/>
          </a:p>
        </p:txBody>
      </p:sp>
      <p:sp>
        <p:nvSpPr>
          <p:cNvPr id="32" name="Text 29"/>
          <p:cNvSpPr/>
          <p:nvPr/>
        </p:nvSpPr>
        <p:spPr>
          <a:xfrm>
            <a:off x="6355080" y="5138928"/>
            <a:ext cx="914400" cy="310896"/>
          </a:xfrm>
          <a:prstGeom prst="rect">
            <a:avLst/>
          </a:prstGeom>
          <a:noFill/>
          <a:ln/>
        </p:spPr>
        <p:txBody>
          <a:bodyPr wrap="square" lIns="0" tIns="0" rIns="0" bIns="0" rtlCol="0" anchor="ctr"/>
          <a:lstStyle/>
          <a:p>
            <a:pPr algn="r" indent="0" marL="0">
              <a:buNone/>
            </a:pPr>
            <a:r>
              <a:rPr lang="en-US" sz="1050" b="1" i="1" dirty="0">
                <a:solidFill>
                  <a:srgbClr val="64748B"/>
                </a:solidFill>
                <a:latin typeface="Arial" pitchFamily="34" charset="0"/>
                <a:ea typeface="Arial" pitchFamily="34" charset="-122"/>
                <a:cs typeface="Arial" pitchFamily="34" charset="-120"/>
              </a:rPr>
              <a:t>$20 / mo</a:t>
            </a:r>
            <a:endParaRPr lang="en-US" sz="1050" dirty="0"/>
          </a:p>
        </p:txBody>
      </p:sp>
      <p:sp>
        <p:nvSpPr>
          <p:cNvPr id="33" name="Text 30"/>
          <p:cNvSpPr/>
          <p:nvPr/>
        </p:nvSpPr>
        <p:spPr>
          <a:xfrm>
            <a:off x="713232" y="5468112"/>
            <a:ext cx="6492240" cy="292608"/>
          </a:xfrm>
          <a:prstGeom prst="rect">
            <a:avLst/>
          </a:prstGeom>
          <a:noFill/>
          <a:ln/>
        </p:spPr>
        <p:txBody>
          <a:bodyPr wrap="square" lIns="0" tIns="0" rIns="0" bIns="0" rtlCol="0" anchor="t"/>
          <a:lstStyle/>
          <a:p>
            <a:pPr indent="0" marL="0">
              <a:buNone/>
            </a:pPr>
            <a:r>
              <a:rPr lang="en-US" sz="950" i="1" dirty="0">
                <a:solidFill>
                  <a:srgbClr val="64748B"/>
                </a:solidFill>
                <a:latin typeface="Arial" pitchFamily="34" charset="0"/>
                <a:ea typeface="Arial" pitchFamily="34" charset="-122"/>
                <a:cs typeface="Arial" pitchFamily="34" charset="-120"/>
              </a:rPr>
              <a:t>Optional as compliance needs grow: encrypted email, single sign-on, activity monitoring &amp; data-loss prevention.</a:t>
            </a:r>
            <a:endParaRPr lang="en-US" sz="950" dirty="0"/>
          </a:p>
        </p:txBody>
      </p:sp>
      <p:sp>
        <p:nvSpPr>
          <p:cNvPr id="34" name="Shape 31"/>
          <p:cNvSpPr/>
          <p:nvPr/>
        </p:nvSpPr>
        <p:spPr>
          <a:xfrm>
            <a:off x="7543800" y="2103120"/>
            <a:ext cx="4160520" cy="3703320"/>
          </a:xfrm>
          <a:prstGeom prst="roundRect">
            <a:avLst>
              <a:gd name="adj" fmla="val 1975"/>
            </a:avLst>
          </a:prstGeom>
          <a:solidFill>
            <a:srgbClr val="1A1A2E"/>
          </a:solidFill>
          <a:ln w="12700">
            <a:solidFill>
              <a:srgbClr val="1A1A2E">
                <a:alpha val="0"/>
              </a:srgbClr>
            </a:solidFill>
            <a:prstDash val="solid"/>
          </a:ln>
        </p:spPr>
      </p:sp>
      <p:sp>
        <p:nvSpPr>
          <p:cNvPr id="35" name="Shape 32"/>
          <p:cNvSpPr/>
          <p:nvPr/>
        </p:nvSpPr>
        <p:spPr>
          <a:xfrm>
            <a:off x="7543800" y="2103120"/>
            <a:ext cx="4160520" cy="91440"/>
          </a:xfrm>
          <a:prstGeom prst="rect">
            <a:avLst/>
          </a:prstGeom>
          <a:solidFill>
            <a:srgbClr val="F67D4B"/>
          </a:solidFill>
          <a:ln w="12700">
            <a:solidFill>
              <a:srgbClr val="F67D4B">
                <a:alpha val="0"/>
              </a:srgbClr>
            </a:solidFill>
            <a:prstDash val="solid"/>
          </a:ln>
        </p:spPr>
      </p:sp>
      <p:sp>
        <p:nvSpPr>
          <p:cNvPr id="36" name="Text 33"/>
          <p:cNvSpPr/>
          <p:nvPr/>
        </p:nvSpPr>
        <p:spPr>
          <a:xfrm>
            <a:off x="7754112" y="2304288"/>
            <a:ext cx="3749040" cy="256032"/>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HOW YOUR NUMBER GETS BUILT</a:t>
            </a:r>
            <a:endParaRPr lang="en-US" sz="1000" dirty="0"/>
          </a:p>
        </p:txBody>
      </p:sp>
      <p:sp>
        <p:nvSpPr>
          <p:cNvPr id="37" name="Text 34"/>
          <p:cNvSpPr/>
          <p:nvPr/>
        </p:nvSpPr>
        <p:spPr>
          <a:xfrm>
            <a:off x="7754112" y="2578608"/>
            <a:ext cx="3749040" cy="64008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 $87</a:t>
            </a:r>
            <a:endParaRPr lang="en-US" sz="4400" dirty="0"/>
          </a:p>
        </p:txBody>
      </p:sp>
      <p:sp>
        <p:nvSpPr>
          <p:cNvPr id="38" name="Text 35"/>
          <p:cNvSpPr/>
          <p:nvPr/>
        </p:nvSpPr>
        <p:spPr>
          <a:xfrm>
            <a:off x="7754112" y="3218688"/>
            <a:ext cx="3749040" cy="274320"/>
          </a:xfrm>
          <a:prstGeom prst="rect">
            <a:avLst/>
          </a:prstGeom>
          <a:noFill/>
          <a:ln/>
        </p:spPr>
        <p:txBody>
          <a:bodyPr wrap="square" lIns="0" tIns="0" rIns="0" bIns="0" rtlCol="0" anchor="ctr"/>
          <a:lstStyle/>
          <a:p>
            <a:pPr indent="0" marL="0">
              <a:buNone/>
            </a:pPr>
            <a:r>
              <a:rPr lang="en-US" sz="1200" b="1" dirty="0">
                <a:solidFill>
                  <a:srgbClr val="1EAAC8"/>
                </a:solidFill>
                <a:latin typeface="Arial" pitchFamily="34" charset="0"/>
                <a:ea typeface="Arial" pitchFamily="34" charset="-122"/>
                <a:cs typeface="Arial" pitchFamily="34" charset="-120"/>
              </a:rPr>
              <a:t>per person / month — the managed stack</a:t>
            </a:r>
            <a:endParaRPr lang="en-US" sz="1200" dirty="0"/>
          </a:p>
        </p:txBody>
      </p:sp>
      <p:sp>
        <p:nvSpPr>
          <p:cNvPr id="39" name="Text 36"/>
          <p:cNvSpPr/>
          <p:nvPr/>
        </p:nvSpPr>
        <p:spPr>
          <a:xfrm>
            <a:off x="7754112" y="3529584"/>
            <a:ext cx="3703320" cy="548640"/>
          </a:xfrm>
          <a:prstGeom prst="rect">
            <a:avLst/>
          </a:prstGeom>
          <a:noFill/>
          <a:ln/>
        </p:spPr>
        <p:txBody>
          <a:bodyPr wrap="square" lIns="0" tIns="0" rIns="0" bIns="0" rtlCol="0" anchor="t"/>
          <a:lstStyle/>
          <a:p>
            <a:pPr indent="0" marL="0">
              <a:buNone/>
            </a:pPr>
            <a:r>
              <a:rPr lang="en-US" sz="1050" dirty="0">
                <a:solidFill>
                  <a:srgbClr val="FFFFFF">
                    <a:alpha val="85000"/>
                  </a:srgbClr>
                </a:solidFill>
                <a:latin typeface="Arial" pitchFamily="34" charset="0"/>
                <a:ea typeface="Arial" pitchFamily="34" charset="-122"/>
                <a:cs typeface="Arial" pitchFamily="34" charset="-120"/>
              </a:rPr>
              <a:t>Illustration only: a 10-person clinic ≈ $890/mo. Swap in your real headcount and that's your monthly.</a:t>
            </a:r>
            <a:endParaRPr lang="en-US" sz="1050" dirty="0"/>
          </a:p>
        </p:txBody>
      </p:sp>
      <p:sp>
        <p:nvSpPr>
          <p:cNvPr id="40" name="Shape 37"/>
          <p:cNvSpPr/>
          <p:nvPr/>
        </p:nvSpPr>
        <p:spPr>
          <a:xfrm>
            <a:off x="7754112" y="4114800"/>
            <a:ext cx="3703320" cy="9144"/>
          </a:xfrm>
          <a:prstGeom prst="rect">
            <a:avLst/>
          </a:prstGeom>
          <a:solidFill>
            <a:srgbClr val="1EAAC8"/>
          </a:solidFill>
          <a:ln w="12700">
            <a:solidFill>
              <a:srgbClr val="1EAAC8">
                <a:alpha val="0"/>
              </a:srgbClr>
            </a:solidFill>
            <a:prstDash val="solid"/>
          </a:ln>
        </p:spPr>
      </p:sp>
      <p:sp>
        <p:nvSpPr>
          <p:cNvPr id="41" name="Shape 38"/>
          <p:cNvSpPr/>
          <p:nvPr/>
        </p:nvSpPr>
        <p:spPr>
          <a:xfrm>
            <a:off x="7754112" y="4297680"/>
            <a:ext cx="91440" cy="91440"/>
          </a:xfrm>
          <a:prstGeom prst="ellipse">
            <a:avLst/>
          </a:prstGeom>
          <a:solidFill>
            <a:srgbClr val="1EAAC8"/>
          </a:solidFill>
          <a:ln w="12700">
            <a:solidFill>
              <a:srgbClr val="1EAAC8">
                <a:alpha val="0"/>
              </a:srgbClr>
            </a:solidFill>
            <a:prstDash val="solid"/>
          </a:ln>
        </p:spPr>
      </p:sp>
      <p:sp>
        <p:nvSpPr>
          <p:cNvPr id="42" name="Text 39"/>
          <p:cNvSpPr/>
          <p:nvPr/>
        </p:nvSpPr>
        <p:spPr>
          <a:xfrm>
            <a:off x="7918704" y="4242816"/>
            <a:ext cx="3611880" cy="493776"/>
          </a:xfrm>
          <a:prstGeom prst="rect">
            <a:avLst/>
          </a:prstGeom>
          <a:noFill/>
          <a:ln/>
        </p:spPr>
        <p:txBody>
          <a:bodyPr wrap="square" lIns="0" tIns="0" rIns="0" bIns="0" rtlCol="0" anchor="t"/>
          <a:lstStyle/>
          <a:p>
            <a:pPr indent="0" marL="0">
              <a:buNone/>
            </a:pPr>
            <a:r>
              <a:rPr lang="en-US" sz="1000" dirty="0">
                <a:solidFill>
                  <a:srgbClr val="FFFFFF">
                    <a:alpha val="90000"/>
                  </a:srgbClr>
                </a:solidFill>
                <a:latin typeface="Arial" pitchFamily="34" charset="0"/>
                <a:ea typeface="Arial" pitchFamily="34" charset="-122"/>
                <a:cs typeface="Arial" pitchFamily="34" charset="-120"/>
              </a:rPr>
              <a:t>Flat, predictable monthly — billed per person, every line shown.</a:t>
            </a:r>
            <a:endParaRPr lang="en-US" sz="1000" dirty="0"/>
          </a:p>
        </p:txBody>
      </p:sp>
      <p:sp>
        <p:nvSpPr>
          <p:cNvPr id="43" name="Shape 40"/>
          <p:cNvSpPr/>
          <p:nvPr/>
        </p:nvSpPr>
        <p:spPr>
          <a:xfrm>
            <a:off x="7754112" y="4809744"/>
            <a:ext cx="91440" cy="91440"/>
          </a:xfrm>
          <a:prstGeom prst="ellipse">
            <a:avLst/>
          </a:prstGeom>
          <a:solidFill>
            <a:srgbClr val="1EAAC8"/>
          </a:solidFill>
          <a:ln w="12700">
            <a:solidFill>
              <a:srgbClr val="1EAAC8">
                <a:alpha val="0"/>
              </a:srgbClr>
            </a:solidFill>
            <a:prstDash val="solid"/>
          </a:ln>
        </p:spPr>
      </p:sp>
      <p:sp>
        <p:nvSpPr>
          <p:cNvPr id="44" name="Text 41"/>
          <p:cNvSpPr/>
          <p:nvPr/>
        </p:nvSpPr>
        <p:spPr>
          <a:xfrm>
            <a:off x="7918704" y="4754880"/>
            <a:ext cx="3611880" cy="493776"/>
          </a:xfrm>
          <a:prstGeom prst="rect">
            <a:avLst/>
          </a:prstGeom>
          <a:noFill/>
          <a:ln/>
        </p:spPr>
        <p:txBody>
          <a:bodyPr wrap="square" lIns="0" tIns="0" rIns="0" bIns="0" rtlCol="0" anchor="t"/>
          <a:lstStyle/>
          <a:p>
            <a:pPr indent="0" marL="0">
              <a:buNone/>
            </a:pPr>
            <a:r>
              <a:rPr lang="en-US" sz="1000" dirty="0">
                <a:solidFill>
                  <a:srgbClr val="FFFFFF">
                    <a:alpha val="90000"/>
                  </a:srgbClr>
                </a:solidFill>
                <a:latin typeface="Arial" pitchFamily="34" charset="0"/>
                <a:ea typeface="Arial" pitchFamily="34" charset="-122"/>
                <a:cs typeface="Arial" pitchFamily="34" charset="-120"/>
              </a:rPr>
              <a:t>One-time build-out (network, cabling, devices, interfaces): fixed-scope quote after the free site walk.</a:t>
            </a:r>
            <a:endParaRPr lang="en-US" sz="1000" dirty="0"/>
          </a:p>
        </p:txBody>
      </p:sp>
      <p:sp>
        <p:nvSpPr>
          <p:cNvPr id="45" name="Shape 42"/>
          <p:cNvSpPr/>
          <p:nvPr/>
        </p:nvSpPr>
        <p:spPr>
          <a:xfrm>
            <a:off x="7754112" y="5321808"/>
            <a:ext cx="91440" cy="91440"/>
          </a:xfrm>
          <a:prstGeom prst="ellipse">
            <a:avLst/>
          </a:prstGeom>
          <a:solidFill>
            <a:srgbClr val="1EAAC8"/>
          </a:solidFill>
          <a:ln w="12700">
            <a:solidFill>
              <a:srgbClr val="1EAAC8">
                <a:alpha val="0"/>
              </a:srgbClr>
            </a:solidFill>
            <a:prstDash val="solid"/>
          </a:ln>
        </p:spPr>
      </p:sp>
      <p:sp>
        <p:nvSpPr>
          <p:cNvPr id="46" name="Text 43"/>
          <p:cNvSpPr/>
          <p:nvPr/>
        </p:nvSpPr>
        <p:spPr>
          <a:xfrm>
            <a:off x="7918704" y="5266944"/>
            <a:ext cx="3611880" cy="493776"/>
          </a:xfrm>
          <a:prstGeom prst="rect">
            <a:avLst/>
          </a:prstGeom>
          <a:noFill/>
          <a:ln/>
        </p:spPr>
        <p:txBody>
          <a:bodyPr wrap="square" lIns="0" tIns="0" rIns="0" bIns="0" rtlCol="0" anchor="t"/>
          <a:lstStyle/>
          <a:p>
            <a:pPr indent="0" marL="0">
              <a:buNone/>
            </a:pPr>
            <a:r>
              <a:rPr lang="en-US" sz="1000" dirty="0">
                <a:solidFill>
                  <a:srgbClr val="FFFFFF">
                    <a:alpha val="90000"/>
                  </a:srgbClr>
                </a:solidFill>
                <a:latin typeface="Arial" pitchFamily="34" charset="0"/>
                <a:ea typeface="Arial" pitchFamily="34" charset="-122"/>
                <a:cs typeface="Arial" pitchFamily="34" charset="-120"/>
              </a:rPr>
              <a:t>Hardware at the configuration you approve — you see and own everything.</a:t>
            </a:r>
            <a:endParaRPr lang="en-US" sz="1000" dirty="0"/>
          </a:p>
        </p:txBody>
      </p:sp>
      <p:sp>
        <p:nvSpPr>
          <p:cNvPr id="47" name="Text 44"/>
          <p:cNvSpPr/>
          <p:nvPr/>
        </p:nvSpPr>
        <p:spPr>
          <a:xfrm>
            <a:off x="502920" y="5943600"/>
            <a:ext cx="11201400" cy="365760"/>
          </a:xfrm>
          <a:prstGeom prst="rect">
            <a:avLst/>
          </a:prstGeom>
          <a:noFill/>
          <a:ln/>
        </p:spPr>
        <p:txBody>
          <a:bodyPr wrap="square" lIns="0" tIns="0" rIns="0" bIns="0" rtlCol="0" anchor="ctr"/>
          <a:lstStyle/>
          <a:p>
            <a:pPr algn="ctr" indent="0" marL="0">
              <a:buNone/>
            </a:pPr>
            <a:r>
              <a:rPr lang="en-US" sz="950" i="1" dirty="0">
                <a:solidFill>
                  <a:srgbClr val="64748B"/>
                </a:solidFill>
                <a:latin typeface="Arial" pitchFamily="34" charset="0"/>
                <a:ea typeface="Arial" pitchFamily="34" charset="-122"/>
                <a:cs typeface="Arial" pitchFamily="34" charset="-120"/>
              </a:rPr>
              <a:t>Real Technijian list prices from our standard small-practice packages; the 10-person figure is illustrative only. Your fixed monthly and one-time build-out quote follow the free site assessment.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pic>
        <p:nvPicPr>
          <p:cNvPr id="3" name="Image 0" descr="C:/vscode/tech-branding/tech-brandin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HOW WE'D ENGAGE</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Discovery first. A blueprint before a dollar. Then we build.</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Every step is gated — you see the plan and the fixed quote before committing to anything.</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Javier Romero, MD FACS  |  IT Discovery  |  2026-06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11</a:t>
            </a:r>
            <a:endParaRPr lang="en-US" sz="1000" dirty="0"/>
          </a:p>
        </p:txBody>
      </p:sp>
      <p:sp>
        <p:nvSpPr>
          <p:cNvPr id="11" name="Shape 8"/>
          <p:cNvSpPr/>
          <p:nvPr/>
        </p:nvSpPr>
        <p:spPr>
          <a:xfrm>
            <a:off x="685800" y="2194560"/>
            <a:ext cx="868680" cy="868680"/>
          </a:xfrm>
          <a:prstGeom prst="roundRect">
            <a:avLst>
              <a:gd name="adj" fmla="val 10526"/>
            </a:avLst>
          </a:prstGeom>
          <a:solidFill>
            <a:srgbClr val="F67D4B"/>
          </a:solidFill>
          <a:ln w="12700">
            <a:solidFill>
              <a:srgbClr val="F67D4B">
                <a:alpha val="0"/>
              </a:srgbClr>
            </a:solidFill>
            <a:prstDash val="solid"/>
          </a:ln>
        </p:spPr>
      </p:sp>
      <p:sp>
        <p:nvSpPr>
          <p:cNvPr id="12" name="Text 9"/>
          <p:cNvSpPr/>
          <p:nvPr/>
        </p:nvSpPr>
        <p:spPr>
          <a:xfrm>
            <a:off x="685800" y="2194560"/>
            <a:ext cx="86868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01</a:t>
            </a:r>
            <a:endParaRPr lang="en-US" sz="2600" dirty="0"/>
          </a:p>
        </p:txBody>
      </p:sp>
      <p:sp>
        <p:nvSpPr>
          <p:cNvPr id="13" name="Shape 10"/>
          <p:cNvSpPr/>
          <p:nvPr/>
        </p:nvSpPr>
        <p:spPr>
          <a:xfrm>
            <a:off x="502920" y="3291840"/>
            <a:ext cx="2670048" cy="2697480"/>
          </a:xfrm>
          <a:prstGeom prst="roundRect">
            <a:avLst>
              <a:gd name="adj" fmla="val 2740"/>
            </a:avLst>
          </a:prstGeom>
          <a:solidFill>
            <a:srgbClr val="FFFFFF"/>
          </a:solidFill>
          <a:ln w="12700">
            <a:solidFill>
              <a:srgbClr val="D8E0EA"/>
            </a:solidFill>
            <a:prstDash val="solid"/>
          </a:ln>
        </p:spPr>
      </p:sp>
      <p:sp>
        <p:nvSpPr>
          <p:cNvPr id="14" name="Shape 11"/>
          <p:cNvSpPr/>
          <p:nvPr/>
        </p:nvSpPr>
        <p:spPr>
          <a:xfrm>
            <a:off x="502920" y="3291840"/>
            <a:ext cx="2670048" cy="54864"/>
          </a:xfrm>
          <a:prstGeom prst="rect">
            <a:avLst/>
          </a:prstGeom>
          <a:solidFill>
            <a:srgbClr val="F67D4B"/>
          </a:solidFill>
          <a:ln w="12700">
            <a:solidFill>
              <a:srgbClr val="F67D4B">
                <a:alpha val="0"/>
              </a:srgbClr>
            </a:solidFill>
            <a:prstDash val="solid"/>
          </a:ln>
        </p:spPr>
      </p:sp>
      <p:sp>
        <p:nvSpPr>
          <p:cNvPr id="15" name="Text 12"/>
          <p:cNvSpPr/>
          <p:nvPr/>
        </p:nvSpPr>
        <p:spPr>
          <a:xfrm>
            <a:off x="667512" y="3474720"/>
            <a:ext cx="2340864" cy="594360"/>
          </a:xfrm>
          <a:prstGeom prst="rect">
            <a:avLst/>
          </a:prstGeom>
          <a:noFill/>
          <a:ln/>
        </p:spPr>
        <p:txBody>
          <a:bodyPr wrap="square" lIns="0" tIns="0" rIns="0" bIns="0" rtlCol="0" anchor="t"/>
          <a:lstStyle/>
          <a:p>
            <a:pPr indent="0" marL="0">
              <a:buNone/>
            </a:pPr>
            <a:r>
              <a:rPr lang="en-US" sz="1450" b="1" dirty="0">
                <a:solidFill>
                  <a:srgbClr val="1A1A2E"/>
                </a:solidFill>
                <a:latin typeface="Arial" pitchFamily="34" charset="0"/>
                <a:ea typeface="Arial" pitchFamily="34" charset="-122"/>
                <a:cs typeface="Arial" pitchFamily="34" charset="-120"/>
              </a:rPr>
              <a:t>Discovery</a:t>
            </a:r>
            <a:endParaRPr lang="en-US" sz="1450" dirty="0"/>
          </a:p>
        </p:txBody>
      </p:sp>
      <p:sp>
        <p:nvSpPr>
          <p:cNvPr id="16" name="Text 13"/>
          <p:cNvSpPr/>
          <p:nvPr/>
        </p:nvSpPr>
        <p:spPr>
          <a:xfrm>
            <a:off x="667512" y="4069080"/>
            <a:ext cx="2340864" cy="182880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Today's conversation. Specialty, location, opening date, headcount, and how you want to work across Cerner, Epic, and Kaiser. No commitment.</a:t>
            </a:r>
            <a:endParaRPr lang="en-US" sz="1050" dirty="0"/>
          </a:p>
        </p:txBody>
      </p:sp>
      <p:sp>
        <p:nvSpPr>
          <p:cNvPr id="17" name="Text 14"/>
          <p:cNvSpPr/>
          <p:nvPr/>
        </p:nvSpPr>
        <p:spPr>
          <a:xfrm>
            <a:off x="2971800" y="2423160"/>
            <a:ext cx="502920" cy="502920"/>
          </a:xfrm>
          <a:prstGeom prst="rect">
            <a:avLst/>
          </a:prstGeom>
          <a:noFill/>
          <a:ln/>
        </p:spPr>
        <p:txBody>
          <a:bodyPr wrap="square" lIns="0" tIns="0" rIns="0" bIns="0" rtlCol="0" anchor="ctr"/>
          <a:lstStyle/>
          <a:p>
            <a:pPr algn="ctr" indent="0" marL="0">
              <a:buNone/>
            </a:pPr>
            <a:r>
              <a:rPr lang="en-US" sz="2800" b="1" dirty="0">
                <a:solidFill>
                  <a:srgbClr val="D8E0EA"/>
                </a:solidFill>
                <a:latin typeface="Arial" pitchFamily="34" charset="0"/>
                <a:ea typeface="Arial" pitchFamily="34" charset="-122"/>
                <a:cs typeface="Arial" pitchFamily="34" charset="-120"/>
              </a:rPr>
              <a:t>→</a:t>
            </a:r>
            <a:endParaRPr lang="en-US" sz="2800" dirty="0"/>
          </a:p>
        </p:txBody>
      </p:sp>
      <p:sp>
        <p:nvSpPr>
          <p:cNvPr id="18" name="Shape 15"/>
          <p:cNvSpPr/>
          <p:nvPr/>
        </p:nvSpPr>
        <p:spPr>
          <a:xfrm>
            <a:off x="3538728" y="2194560"/>
            <a:ext cx="868680" cy="868680"/>
          </a:xfrm>
          <a:prstGeom prst="roundRect">
            <a:avLst>
              <a:gd name="adj" fmla="val 10526"/>
            </a:avLst>
          </a:prstGeom>
          <a:solidFill>
            <a:srgbClr val="006DB6"/>
          </a:solidFill>
          <a:ln w="12700">
            <a:solidFill>
              <a:srgbClr val="006DB6">
                <a:alpha val="0"/>
              </a:srgbClr>
            </a:solidFill>
            <a:prstDash val="solid"/>
          </a:ln>
        </p:spPr>
      </p:sp>
      <p:sp>
        <p:nvSpPr>
          <p:cNvPr id="19" name="Text 16"/>
          <p:cNvSpPr/>
          <p:nvPr/>
        </p:nvSpPr>
        <p:spPr>
          <a:xfrm>
            <a:off x="3538728" y="2194560"/>
            <a:ext cx="86868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02</a:t>
            </a:r>
            <a:endParaRPr lang="en-US" sz="2600" dirty="0"/>
          </a:p>
        </p:txBody>
      </p:sp>
      <p:sp>
        <p:nvSpPr>
          <p:cNvPr id="20" name="Shape 17"/>
          <p:cNvSpPr/>
          <p:nvPr/>
        </p:nvSpPr>
        <p:spPr>
          <a:xfrm>
            <a:off x="3355848" y="3291840"/>
            <a:ext cx="2670048" cy="2697480"/>
          </a:xfrm>
          <a:prstGeom prst="roundRect">
            <a:avLst>
              <a:gd name="adj" fmla="val 2740"/>
            </a:avLst>
          </a:prstGeom>
          <a:solidFill>
            <a:srgbClr val="FFFFFF"/>
          </a:solidFill>
          <a:ln w="12700">
            <a:solidFill>
              <a:srgbClr val="D8E0EA"/>
            </a:solidFill>
            <a:prstDash val="solid"/>
          </a:ln>
        </p:spPr>
      </p:sp>
      <p:sp>
        <p:nvSpPr>
          <p:cNvPr id="21" name="Shape 18"/>
          <p:cNvSpPr/>
          <p:nvPr/>
        </p:nvSpPr>
        <p:spPr>
          <a:xfrm>
            <a:off x="3355848" y="3291840"/>
            <a:ext cx="2670048" cy="54864"/>
          </a:xfrm>
          <a:prstGeom prst="rect">
            <a:avLst/>
          </a:prstGeom>
          <a:solidFill>
            <a:srgbClr val="006DB6"/>
          </a:solidFill>
          <a:ln w="12700">
            <a:solidFill>
              <a:srgbClr val="006DB6">
                <a:alpha val="0"/>
              </a:srgbClr>
            </a:solidFill>
            <a:prstDash val="solid"/>
          </a:ln>
        </p:spPr>
      </p:sp>
      <p:sp>
        <p:nvSpPr>
          <p:cNvPr id="22" name="Text 19"/>
          <p:cNvSpPr/>
          <p:nvPr/>
        </p:nvSpPr>
        <p:spPr>
          <a:xfrm>
            <a:off x="3520440" y="3474720"/>
            <a:ext cx="2340864" cy="594360"/>
          </a:xfrm>
          <a:prstGeom prst="rect">
            <a:avLst/>
          </a:prstGeom>
          <a:noFill/>
          <a:ln/>
        </p:spPr>
        <p:txBody>
          <a:bodyPr wrap="square" lIns="0" tIns="0" rIns="0" bIns="0" rtlCol="0" anchor="t"/>
          <a:lstStyle/>
          <a:p>
            <a:pPr indent="0" marL="0">
              <a:buNone/>
            </a:pPr>
            <a:r>
              <a:rPr lang="en-US" sz="1450" b="1" dirty="0">
                <a:solidFill>
                  <a:srgbClr val="1A1A2E"/>
                </a:solidFill>
                <a:latin typeface="Arial" pitchFamily="34" charset="0"/>
                <a:ea typeface="Arial" pitchFamily="34" charset="-122"/>
                <a:cs typeface="Arial" pitchFamily="34" charset="-120"/>
              </a:rPr>
              <a:t>Free site walk &amp; assessment</a:t>
            </a:r>
            <a:endParaRPr lang="en-US" sz="1450" dirty="0"/>
          </a:p>
        </p:txBody>
      </p:sp>
      <p:sp>
        <p:nvSpPr>
          <p:cNvPr id="23" name="Text 20"/>
          <p:cNvSpPr/>
          <p:nvPr/>
        </p:nvSpPr>
        <p:spPr>
          <a:xfrm>
            <a:off x="3520440" y="4069080"/>
            <a:ext cx="2340864" cy="182880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We walk the space (or plans), map the EMR-access strategy with each health system, and inventory every build need — circuits to exam rooms.</a:t>
            </a:r>
            <a:endParaRPr lang="en-US" sz="1050" dirty="0"/>
          </a:p>
        </p:txBody>
      </p:sp>
      <p:sp>
        <p:nvSpPr>
          <p:cNvPr id="24" name="Text 21"/>
          <p:cNvSpPr/>
          <p:nvPr/>
        </p:nvSpPr>
        <p:spPr>
          <a:xfrm>
            <a:off x="5824728" y="2423160"/>
            <a:ext cx="502920" cy="502920"/>
          </a:xfrm>
          <a:prstGeom prst="rect">
            <a:avLst/>
          </a:prstGeom>
          <a:noFill/>
          <a:ln/>
        </p:spPr>
        <p:txBody>
          <a:bodyPr wrap="square" lIns="0" tIns="0" rIns="0" bIns="0" rtlCol="0" anchor="ctr"/>
          <a:lstStyle/>
          <a:p>
            <a:pPr algn="ctr" indent="0" marL="0">
              <a:buNone/>
            </a:pPr>
            <a:r>
              <a:rPr lang="en-US" sz="2800" b="1" dirty="0">
                <a:solidFill>
                  <a:srgbClr val="D8E0EA"/>
                </a:solidFill>
                <a:latin typeface="Arial" pitchFamily="34" charset="0"/>
                <a:ea typeface="Arial" pitchFamily="34" charset="-122"/>
                <a:cs typeface="Arial" pitchFamily="34" charset="-120"/>
              </a:rPr>
              <a:t>→</a:t>
            </a:r>
            <a:endParaRPr lang="en-US" sz="2800" dirty="0"/>
          </a:p>
        </p:txBody>
      </p:sp>
      <p:sp>
        <p:nvSpPr>
          <p:cNvPr id="25" name="Shape 22"/>
          <p:cNvSpPr/>
          <p:nvPr/>
        </p:nvSpPr>
        <p:spPr>
          <a:xfrm>
            <a:off x="6391656" y="2194560"/>
            <a:ext cx="868680" cy="868680"/>
          </a:xfrm>
          <a:prstGeom prst="roundRect">
            <a:avLst>
              <a:gd name="adj" fmla="val 10526"/>
            </a:avLst>
          </a:prstGeom>
          <a:solidFill>
            <a:srgbClr val="1EAAC8"/>
          </a:solidFill>
          <a:ln w="12700">
            <a:solidFill>
              <a:srgbClr val="1EAAC8">
                <a:alpha val="0"/>
              </a:srgbClr>
            </a:solidFill>
            <a:prstDash val="solid"/>
          </a:ln>
        </p:spPr>
      </p:sp>
      <p:sp>
        <p:nvSpPr>
          <p:cNvPr id="26" name="Text 23"/>
          <p:cNvSpPr/>
          <p:nvPr/>
        </p:nvSpPr>
        <p:spPr>
          <a:xfrm>
            <a:off x="6391656" y="2194560"/>
            <a:ext cx="86868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03</a:t>
            </a:r>
            <a:endParaRPr lang="en-US" sz="2600" dirty="0"/>
          </a:p>
        </p:txBody>
      </p:sp>
      <p:sp>
        <p:nvSpPr>
          <p:cNvPr id="27" name="Shape 24"/>
          <p:cNvSpPr/>
          <p:nvPr/>
        </p:nvSpPr>
        <p:spPr>
          <a:xfrm>
            <a:off x="6208776" y="3291840"/>
            <a:ext cx="2670048" cy="2697480"/>
          </a:xfrm>
          <a:prstGeom prst="roundRect">
            <a:avLst>
              <a:gd name="adj" fmla="val 2740"/>
            </a:avLst>
          </a:prstGeom>
          <a:solidFill>
            <a:srgbClr val="FFFFFF"/>
          </a:solidFill>
          <a:ln w="12700">
            <a:solidFill>
              <a:srgbClr val="D8E0EA"/>
            </a:solidFill>
            <a:prstDash val="solid"/>
          </a:ln>
        </p:spPr>
      </p:sp>
      <p:sp>
        <p:nvSpPr>
          <p:cNvPr id="28" name="Shape 25"/>
          <p:cNvSpPr/>
          <p:nvPr/>
        </p:nvSpPr>
        <p:spPr>
          <a:xfrm>
            <a:off x="6208776" y="3291840"/>
            <a:ext cx="2670048" cy="54864"/>
          </a:xfrm>
          <a:prstGeom prst="rect">
            <a:avLst/>
          </a:prstGeom>
          <a:solidFill>
            <a:srgbClr val="1EAAC8"/>
          </a:solidFill>
          <a:ln w="12700">
            <a:solidFill>
              <a:srgbClr val="1EAAC8">
                <a:alpha val="0"/>
              </a:srgbClr>
            </a:solidFill>
            <a:prstDash val="solid"/>
          </a:ln>
        </p:spPr>
      </p:sp>
      <p:sp>
        <p:nvSpPr>
          <p:cNvPr id="29" name="Text 26"/>
          <p:cNvSpPr/>
          <p:nvPr/>
        </p:nvSpPr>
        <p:spPr>
          <a:xfrm>
            <a:off x="6373368" y="3474720"/>
            <a:ext cx="2340864" cy="594360"/>
          </a:xfrm>
          <a:prstGeom prst="rect">
            <a:avLst/>
          </a:prstGeom>
          <a:noFill/>
          <a:ln/>
        </p:spPr>
        <p:txBody>
          <a:bodyPr wrap="square" lIns="0" tIns="0" rIns="0" bIns="0" rtlCol="0" anchor="t"/>
          <a:lstStyle/>
          <a:p>
            <a:pPr indent="0" marL="0">
              <a:buNone/>
            </a:pPr>
            <a:r>
              <a:rPr lang="en-US" sz="1450" b="1" dirty="0">
                <a:solidFill>
                  <a:srgbClr val="1A1A2E"/>
                </a:solidFill>
                <a:latin typeface="Arial" pitchFamily="34" charset="0"/>
                <a:ea typeface="Arial" pitchFamily="34" charset="-122"/>
                <a:cs typeface="Arial" pitchFamily="34" charset="-120"/>
              </a:rPr>
              <a:t>Blueprint &amp; fixed quote</a:t>
            </a:r>
            <a:endParaRPr lang="en-US" sz="1450" dirty="0"/>
          </a:p>
        </p:txBody>
      </p:sp>
      <p:sp>
        <p:nvSpPr>
          <p:cNvPr id="30" name="Text 27"/>
          <p:cNvSpPr/>
          <p:nvPr/>
        </p:nvSpPr>
        <p:spPr>
          <a:xfrm>
            <a:off x="6373368" y="4069080"/>
            <a:ext cx="2340864" cy="182880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One document: the clinic technology blueprint, the build timeline scheduled backward from opening day, and a fixed one-time + monthly quote.</a:t>
            </a:r>
            <a:endParaRPr lang="en-US" sz="1050" dirty="0"/>
          </a:p>
        </p:txBody>
      </p:sp>
      <p:sp>
        <p:nvSpPr>
          <p:cNvPr id="31" name="Text 28"/>
          <p:cNvSpPr/>
          <p:nvPr/>
        </p:nvSpPr>
        <p:spPr>
          <a:xfrm>
            <a:off x="8677656" y="2423160"/>
            <a:ext cx="502920" cy="502920"/>
          </a:xfrm>
          <a:prstGeom prst="rect">
            <a:avLst/>
          </a:prstGeom>
          <a:noFill/>
          <a:ln/>
        </p:spPr>
        <p:txBody>
          <a:bodyPr wrap="square" lIns="0" tIns="0" rIns="0" bIns="0" rtlCol="0" anchor="ctr"/>
          <a:lstStyle/>
          <a:p>
            <a:pPr algn="ctr" indent="0" marL="0">
              <a:buNone/>
            </a:pPr>
            <a:r>
              <a:rPr lang="en-US" sz="2800" b="1" dirty="0">
                <a:solidFill>
                  <a:srgbClr val="D8E0EA"/>
                </a:solidFill>
                <a:latin typeface="Arial" pitchFamily="34" charset="0"/>
                <a:ea typeface="Arial" pitchFamily="34" charset="-122"/>
                <a:cs typeface="Arial" pitchFamily="34" charset="-120"/>
              </a:rPr>
              <a:t>→</a:t>
            </a:r>
            <a:endParaRPr lang="en-US" sz="2800" dirty="0"/>
          </a:p>
        </p:txBody>
      </p:sp>
      <p:sp>
        <p:nvSpPr>
          <p:cNvPr id="32" name="Shape 29"/>
          <p:cNvSpPr/>
          <p:nvPr/>
        </p:nvSpPr>
        <p:spPr>
          <a:xfrm>
            <a:off x="9244584" y="2194560"/>
            <a:ext cx="868680" cy="868680"/>
          </a:xfrm>
          <a:prstGeom prst="roundRect">
            <a:avLst>
              <a:gd name="adj" fmla="val 10526"/>
            </a:avLst>
          </a:prstGeom>
          <a:solidFill>
            <a:srgbClr val="CBDB2D"/>
          </a:solidFill>
          <a:ln w="12700">
            <a:solidFill>
              <a:srgbClr val="CBDB2D">
                <a:alpha val="0"/>
              </a:srgbClr>
            </a:solidFill>
            <a:prstDash val="solid"/>
          </a:ln>
        </p:spPr>
      </p:sp>
      <p:sp>
        <p:nvSpPr>
          <p:cNvPr id="33" name="Text 30"/>
          <p:cNvSpPr/>
          <p:nvPr/>
        </p:nvSpPr>
        <p:spPr>
          <a:xfrm>
            <a:off x="9244584" y="2194560"/>
            <a:ext cx="86868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04</a:t>
            </a:r>
            <a:endParaRPr lang="en-US" sz="2600" dirty="0"/>
          </a:p>
        </p:txBody>
      </p:sp>
      <p:sp>
        <p:nvSpPr>
          <p:cNvPr id="34" name="Shape 31"/>
          <p:cNvSpPr/>
          <p:nvPr/>
        </p:nvSpPr>
        <p:spPr>
          <a:xfrm>
            <a:off x="9061704" y="3291840"/>
            <a:ext cx="2670048" cy="2697480"/>
          </a:xfrm>
          <a:prstGeom prst="roundRect">
            <a:avLst>
              <a:gd name="adj" fmla="val 2740"/>
            </a:avLst>
          </a:prstGeom>
          <a:solidFill>
            <a:srgbClr val="FFFFFF"/>
          </a:solidFill>
          <a:ln w="12700">
            <a:solidFill>
              <a:srgbClr val="D8E0EA"/>
            </a:solidFill>
            <a:prstDash val="solid"/>
          </a:ln>
        </p:spPr>
      </p:sp>
      <p:sp>
        <p:nvSpPr>
          <p:cNvPr id="35" name="Shape 32"/>
          <p:cNvSpPr/>
          <p:nvPr/>
        </p:nvSpPr>
        <p:spPr>
          <a:xfrm>
            <a:off x="9061704" y="3291840"/>
            <a:ext cx="2670048" cy="54864"/>
          </a:xfrm>
          <a:prstGeom prst="rect">
            <a:avLst/>
          </a:prstGeom>
          <a:solidFill>
            <a:srgbClr val="CBDB2D"/>
          </a:solidFill>
          <a:ln w="12700">
            <a:solidFill>
              <a:srgbClr val="CBDB2D">
                <a:alpha val="0"/>
              </a:srgbClr>
            </a:solidFill>
            <a:prstDash val="solid"/>
          </a:ln>
        </p:spPr>
      </p:sp>
      <p:sp>
        <p:nvSpPr>
          <p:cNvPr id="36" name="Text 33"/>
          <p:cNvSpPr/>
          <p:nvPr/>
        </p:nvSpPr>
        <p:spPr>
          <a:xfrm>
            <a:off x="9226296" y="3474720"/>
            <a:ext cx="2340864" cy="594360"/>
          </a:xfrm>
          <a:prstGeom prst="rect">
            <a:avLst/>
          </a:prstGeom>
          <a:noFill/>
          <a:ln/>
        </p:spPr>
        <p:txBody>
          <a:bodyPr wrap="square" lIns="0" tIns="0" rIns="0" bIns="0" rtlCol="0" anchor="t"/>
          <a:lstStyle/>
          <a:p>
            <a:pPr indent="0" marL="0">
              <a:buNone/>
            </a:pPr>
            <a:r>
              <a:rPr lang="en-US" sz="1450" b="1" dirty="0">
                <a:solidFill>
                  <a:srgbClr val="1A1A2E"/>
                </a:solidFill>
                <a:latin typeface="Arial" pitchFamily="34" charset="0"/>
                <a:ea typeface="Arial" pitchFamily="34" charset="-122"/>
                <a:cs typeface="Arial" pitchFamily="34" charset="-120"/>
              </a:rPr>
              <a:t>Build · test · train · open</a:t>
            </a:r>
            <a:endParaRPr lang="en-US" sz="1450" dirty="0"/>
          </a:p>
        </p:txBody>
      </p:sp>
      <p:sp>
        <p:nvSpPr>
          <p:cNvPr id="37" name="Text 34"/>
          <p:cNvSpPr/>
          <p:nvPr/>
        </p:nvSpPr>
        <p:spPr>
          <a:xfrm>
            <a:off x="9226296" y="4069080"/>
            <a:ext cx="2340864" cy="182880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Circuits ordered first, network and workstations built, hospital access certified, staff trained — then we run it 24/7 as your managed IT partner.</a:t>
            </a:r>
            <a:endParaRPr lang="en-US" sz="1050" dirty="0"/>
          </a:p>
        </p:txBody>
      </p:sp>
      <p:sp>
        <p:nvSpPr>
          <p:cNvPr id="38" name="Shape 35"/>
          <p:cNvSpPr/>
          <p:nvPr/>
        </p:nvSpPr>
        <p:spPr>
          <a:xfrm>
            <a:off x="502920" y="6108192"/>
            <a:ext cx="11201400" cy="292608"/>
          </a:xfrm>
          <a:prstGeom prst="roundRect">
            <a:avLst>
              <a:gd name="adj" fmla="val 15625"/>
            </a:avLst>
          </a:prstGeom>
          <a:solidFill>
            <a:srgbClr val="EAF4FB"/>
          </a:solidFill>
          <a:ln w="12700">
            <a:solidFill>
              <a:srgbClr val="006DB6"/>
            </a:solidFill>
            <a:prstDash val="solid"/>
          </a:ln>
        </p:spPr>
      </p:sp>
      <p:sp>
        <p:nvSpPr>
          <p:cNvPr id="39" name="Text 36"/>
          <p:cNvSpPr/>
          <p:nvPr/>
        </p:nvSpPr>
        <p:spPr>
          <a:xfrm>
            <a:off x="502920" y="6108192"/>
            <a:ext cx="11201400" cy="292608"/>
          </a:xfrm>
          <a:prstGeom prst="rect">
            <a:avLst/>
          </a:prstGeom>
          <a:noFill/>
          <a:ln/>
        </p:spPr>
        <p:txBody>
          <a:bodyPr wrap="square" lIns="0" tIns="0" rIns="0" bIns="0" rtlCol="0" anchor="ctr"/>
          <a:lstStyle/>
          <a:p>
            <a:pPr algn="ctr" indent="0" marL="0">
              <a:buNone/>
            </a:pPr>
            <a:r>
              <a:rPr lang="en-US" sz="950" b="1" dirty="0">
                <a:solidFill>
                  <a:srgbClr val="006DB6"/>
                </a:solidFill>
                <a:latin typeface="Arial" pitchFamily="34" charset="0"/>
                <a:ea typeface="Arial" pitchFamily="34" charset="-122"/>
                <a:cs typeface="Arial" pitchFamily="34" charset="-120"/>
              </a:rPr>
              <a:t>Timing note: internet circuits and hospital IT access processes are the long poles — engaging 90+ days before opening keeps everything off the critical path.</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6DB6"/>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1A2E">
              <a:alpha val="30000"/>
            </a:srgbClr>
          </a:solidFill>
          <a:ln w="12700">
            <a:solidFill>
              <a:srgbClr val="1A1A2E">
                <a:alpha val="0"/>
              </a:srgbClr>
            </a:solidFill>
            <a:prstDash val="solid"/>
          </a:ln>
        </p:spPr>
      </p:sp>
      <p:sp>
        <p:nvSpPr>
          <p:cNvPr id="3" name="Shape 1"/>
          <p:cNvSpPr/>
          <p:nvPr/>
        </p:nvSpPr>
        <p:spPr>
          <a:xfrm>
            <a:off x="8686800" y="-914400"/>
            <a:ext cx="4572000" cy="4572000"/>
          </a:xfrm>
          <a:prstGeom prst="ellipse">
            <a:avLst/>
          </a:prstGeom>
          <a:solidFill>
            <a:srgbClr val="1EAAC8">
              <a:alpha val="12000"/>
            </a:srgbClr>
          </a:solidFill>
          <a:ln w="12700">
            <a:solidFill>
              <a:srgbClr val="1EAAC8">
                <a:alpha val="0"/>
              </a:srgbClr>
            </a:solidFill>
            <a:prstDash val="solid"/>
          </a:ln>
        </p:spPr>
      </p:sp>
      <p:sp>
        <p:nvSpPr>
          <p:cNvPr id="4" name="Shape 2"/>
          <p:cNvSpPr/>
          <p:nvPr/>
        </p:nvSpPr>
        <p:spPr>
          <a:xfrm>
            <a:off x="0" y="0"/>
            <a:ext cx="12188952" cy="164592"/>
          </a:xfrm>
          <a:prstGeom prst="rect">
            <a:avLst/>
          </a:prstGeom>
          <a:solidFill>
            <a:srgbClr val="F67D4B"/>
          </a:solidFill>
          <a:ln w="12700">
            <a:solidFill>
              <a:srgbClr val="F67D4B">
                <a:alpha val="0"/>
              </a:srgbClr>
            </a:solidFill>
            <a:prstDash val="solid"/>
          </a:ln>
        </p:spPr>
      </p:sp>
      <p:pic>
        <p:nvPicPr>
          <p:cNvPr id="5" name="Image 0" descr="C:/vscode/tech-branding/tech-branding/assets/Technijian Logo - white text.png">    </p:cNvPr>
          <p:cNvPicPr>
            <a:picLocks noChangeAspect="1"/>
          </p:cNvPicPr>
          <p:nvPr/>
        </p:nvPicPr>
        <p:blipFill>
          <a:blip r:embed="rId1"/>
          <a:stretch>
            <a:fillRect/>
          </a:stretch>
        </p:blipFill>
        <p:spPr>
          <a:xfrm>
            <a:off x="502920" y="365760"/>
            <a:ext cx="2011680" cy="420854"/>
          </a:xfrm>
          <a:prstGeom prst="rect">
            <a:avLst/>
          </a:prstGeom>
        </p:spPr>
      </p:pic>
      <p:sp>
        <p:nvSpPr>
          <p:cNvPr id="6" name="Text 3"/>
          <p:cNvSpPr/>
          <p:nvPr/>
        </p:nvSpPr>
        <p:spPr>
          <a:xfrm>
            <a:off x="502920" y="960120"/>
            <a:ext cx="5486400" cy="274320"/>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NEXT STEP</a:t>
            </a:r>
            <a:endParaRPr lang="en-US" sz="1000" dirty="0"/>
          </a:p>
        </p:txBody>
      </p:sp>
      <p:sp>
        <p:nvSpPr>
          <p:cNvPr id="7" name="Text 4"/>
          <p:cNvSpPr/>
          <p:nvPr/>
        </p:nvSpPr>
        <p:spPr>
          <a:xfrm>
            <a:off x="502920" y="1234440"/>
            <a:ext cx="10972800"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One next step. </a:t>
            </a:r>
            <a:pPr indent="0" marL="0">
              <a:buNone/>
            </a:pPr>
            <a:r>
              <a:rPr lang="en-US" sz="3400" b="1" dirty="0">
                <a:solidFill>
                  <a:srgbClr val="F67D4B"/>
                </a:solidFill>
                <a:latin typeface="Arial" pitchFamily="34" charset="0"/>
                <a:ea typeface="Arial" pitchFamily="34" charset="-122"/>
                <a:cs typeface="Arial" pitchFamily="34" charset="-120"/>
              </a:rPr>
              <a:t>No commitment.</a:t>
            </a:r>
            <a:endParaRPr lang="en-US" sz="3400" dirty="0"/>
          </a:p>
        </p:txBody>
      </p:sp>
      <p:sp>
        <p:nvSpPr>
          <p:cNvPr id="8" name="Shape 5"/>
          <p:cNvSpPr/>
          <p:nvPr/>
        </p:nvSpPr>
        <p:spPr>
          <a:xfrm>
            <a:off x="502920" y="2331720"/>
            <a:ext cx="5577840" cy="2560320"/>
          </a:xfrm>
          <a:prstGeom prst="roundRect">
            <a:avLst>
              <a:gd name="adj" fmla="val 2857"/>
            </a:avLst>
          </a:prstGeom>
          <a:solidFill>
            <a:srgbClr val="FFFFFF">
              <a:alpha val="12000"/>
            </a:srgbClr>
          </a:solidFill>
          <a:ln w="12700">
            <a:solidFill>
              <a:srgbClr val="1EAAC8"/>
            </a:solidFill>
            <a:prstDash val="solid"/>
          </a:ln>
        </p:spPr>
      </p:sp>
      <p:sp>
        <p:nvSpPr>
          <p:cNvPr id="9" name="Text 6"/>
          <p:cNvSpPr/>
          <p:nvPr/>
        </p:nvSpPr>
        <p:spPr>
          <a:xfrm>
            <a:off x="731520" y="2468880"/>
            <a:ext cx="5120640" cy="228600"/>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RECOMMENDED</a:t>
            </a:r>
            <a:endParaRPr lang="en-US" sz="1000" dirty="0"/>
          </a:p>
        </p:txBody>
      </p:sp>
      <p:sp>
        <p:nvSpPr>
          <p:cNvPr id="10" name="Text 7"/>
          <p:cNvSpPr/>
          <p:nvPr/>
        </p:nvSpPr>
        <p:spPr>
          <a:xfrm>
            <a:off x="731520" y="2697480"/>
            <a:ext cx="5120640" cy="68580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Free site walk &amp; clinic technology assessment</a:t>
            </a:r>
            <a:endParaRPr lang="en-US" sz="1700" dirty="0"/>
          </a:p>
        </p:txBody>
      </p:sp>
      <p:sp>
        <p:nvSpPr>
          <p:cNvPr id="11" name="Text 8"/>
          <p:cNvSpPr/>
          <p:nvPr/>
        </p:nvSpPr>
        <p:spPr>
          <a:xfrm>
            <a:off x="731520" y="3401568"/>
            <a:ext cx="5120640" cy="1417320"/>
          </a:xfrm>
          <a:prstGeom prst="rect">
            <a:avLst/>
          </a:prstGeom>
          <a:noFill/>
          <a:ln/>
        </p:spPr>
        <p:txBody>
          <a:bodyPr wrap="square" lIns="0" tIns="0" rIns="0" bIns="0" rtlCol="0" anchor="t"/>
          <a:lstStyle/>
          <a:p>
            <a:pPr indent="0" marL="0">
              <a:buNone/>
            </a:pPr>
            <a:r>
              <a:rPr lang="en-US" sz="1150" dirty="0">
                <a:solidFill>
                  <a:srgbClr val="FFFFFF">
                    <a:alpha val="86000"/>
                  </a:srgbClr>
                </a:solidFill>
                <a:latin typeface="Arial" pitchFamily="34" charset="0"/>
                <a:ea typeface="Arial" pitchFamily="34" charset="-122"/>
                <a:cs typeface="Arial" pitchFamily="34" charset="-120"/>
              </a:rPr>
              <a:t>We walk your space or plans, map the access strategy with Cerner, Epic, and Kaiser, and come back with the clinic technology blueprint and a fixed quote — one-time build plus monthly. You decide from there.</a:t>
            </a:r>
            <a:endParaRPr lang="en-US" sz="1150" dirty="0"/>
          </a:p>
        </p:txBody>
      </p:sp>
      <p:sp>
        <p:nvSpPr>
          <p:cNvPr id="12" name="Shape 9"/>
          <p:cNvSpPr/>
          <p:nvPr/>
        </p:nvSpPr>
        <p:spPr>
          <a:xfrm>
            <a:off x="6355080" y="2331720"/>
            <a:ext cx="5577840" cy="2560320"/>
          </a:xfrm>
          <a:prstGeom prst="roundRect">
            <a:avLst>
              <a:gd name="adj" fmla="val 2857"/>
            </a:avLst>
          </a:prstGeom>
          <a:solidFill>
            <a:srgbClr val="FFFFFF">
              <a:alpha val="12000"/>
            </a:srgbClr>
          </a:solidFill>
          <a:ln w="12700">
            <a:solidFill>
              <a:srgbClr val="F67D4B"/>
            </a:solidFill>
            <a:prstDash val="solid"/>
          </a:ln>
        </p:spPr>
      </p:sp>
      <p:sp>
        <p:nvSpPr>
          <p:cNvPr id="13" name="Text 10"/>
          <p:cNvSpPr/>
          <p:nvPr/>
        </p:nvSpPr>
        <p:spPr>
          <a:xfrm>
            <a:off x="6583680" y="2468880"/>
            <a:ext cx="5120640" cy="228600"/>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YOU KEEP THIS EITHER WAY</a:t>
            </a:r>
            <a:endParaRPr lang="en-US" sz="1000" dirty="0"/>
          </a:p>
        </p:txBody>
      </p:sp>
      <p:sp>
        <p:nvSpPr>
          <p:cNvPr id="14" name="Text 11"/>
          <p:cNvSpPr/>
          <p:nvPr/>
        </p:nvSpPr>
        <p:spPr>
          <a:xfrm>
            <a:off x="6583680" y="2697480"/>
            <a:ext cx="5120640" cy="68580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The New Clinic IT Checklist (1 page)</a:t>
            </a:r>
            <a:endParaRPr lang="en-US" sz="1700" dirty="0"/>
          </a:p>
        </p:txBody>
      </p:sp>
      <p:sp>
        <p:nvSpPr>
          <p:cNvPr id="15" name="Text 12"/>
          <p:cNvSpPr/>
          <p:nvPr/>
        </p:nvSpPr>
        <p:spPr>
          <a:xfrm>
            <a:off x="6583680" y="3401568"/>
            <a:ext cx="5120640" cy="1417320"/>
          </a:xfrm>
          <a:prstGeom prst="rect">
            <a:avLst/>
          </a:prstGeom>
          <a:noFill/>
          <a:ln/>
        </p:spPr>
        <p:txBody>
          <a:bodyPr wrap="square" lIns="0" tIns="0" rIns="0" bIns="0" rtlCol="0" anchor="t"/>
          <a:lstStyle/>
          <a:p>
            <a:pPr indent="0" marL="0">
              <a:buNone/>
            </a:pPr>
            <a:r>
              <a:rPr lang="en-US" sz="1150" dirty="0">
                <a:solidFill>
                  <a:srgbClr val="FFFFFF">
                    <a:alpha val="86000"/>
                  </a:srgbClr>
                </a:solidFill>
                <a:latin typeface="Arial" pitchFamily="34" charset="0"/>
                <a:ea typeface="Arial" pitchFamily="34" charset="-122"/>
                <a:cs typeface="Arial" pitchFamily="34" charset="-120"/>
              </a:rPr>
              <a:t>A plain-language checklist of everything a new practice needs — circuits, devices, HIPAA items, and the lead times for each — yours to keep and act on, whether or not we work together.</a:t>
            </a:r>
            <a:endParaRPr lang="en-US" sz="1150" dirty="0"/>
          </a:p>
        </p:txBody>
      </p:sp>
      <p:sp>
        <p:nvSpPr>
          <p:cNvPr id="16" name="Shape 13"/>
          <p:cNvSpPr/>
          <p:nvPr/>
        </p:nvSpPr>
        <p:spPr>
          <a:xfrm>
            <a:off x="502920" y="5212080"/>
            <a:ext cx="11155680" cy="777240"/>
          </a:xfrm>
          <a:prstGeom prst="roundRect">
            <a:avLst>
              <a:gd name="adj" fmla="val 47059"/>
            </a:avLst>
          </a:prstGeom>
          <a:solidFill>
            <a:srgbClr val="F67D4B"/>
          </a:solidFill>
          <a:ln w="12700">
            <a:solidFill>
              <a:srgbClr val="F67D4B">
                <a:alpha val="0"/>
              </a:srgbClr>
            </a:solidFill>
            <a:prstDash val="solid"/>
          </a:ln>
        </p:spPr>
      </p:sp>
      <p:sp>
        <p:nvSpPr>
          <p:cNvPr id="17" name="Text 14"/>
          <p:cNvSpPr/>
          <p:nvPr/>
        </p:nvSpPr>
        <p:spPr>
          <a:xfrm>
            <a:off x="502920" y="5212080"/>
            <a:ext cx="11155680" cy="777240"/>
          </a:xfrm>
          <a:prstGeom prst="rect">
            <a:avLst/>
          </a:prstGeom>
          <a:noFill/>
          <a:ln/>
        </p:spPr>
        <p:txBody>
          <a:bodyPr wrap="square" lIns="0" tIns="0" rIns="0" bIns="0" rtlCol="0" anchor="ctr"/>
          <a:lstStyle/>
          <a:p>
            <a:pPr algn="ctr" indent="0" marL="0">
              <a:buNone/>
            </a:pPr>
            <a:r>
              <a:rPr lang="en-US" sz="1600" b="1" dirty="0">
                <a:solidFill>
                  <a:srgbClr val="FFFFFF"/>
                </a:solidFill>
              </a:rPr>
              <a:t>Book your site walk   ·   </a:t>
            </a:r>
            <a:pPr algn="ctr" indent="0" marL="0">
              <a:buNone/>
            </a:pPr>
            <a:r>
              <a:rPr lang="en-US" sz="1400" dirty="0">
                <a:solidFill>
                  <a:srgbClr val="FFFFFF">
                    <a:alpha val="90000"/>
                  </a:srgbClr>
                </a:solidFill>
              </a:rPr>
              <a:t>rjain@technijian.com   ·   949.379.8499   ·   technijian.com</a:t>
            </a:r>
            <a:endParaRPr lang="en-US" sz="1600" dirty="0"/>
          </a:p>
        </p:txBody>
      </p:sp>
      <p:sp>
        <p:nvSpPr>
          <p:cNvPr id="18" name="Text 15"/>
          <p:cNvSpPr/>
          <p:nvPr/>
        </p:nvSpPr>
        <p:spPr>
          <a:xfrm>
            <a:off x="502920" y="6172200"/>
            <a:ext cx="11155680" cy="274320"/>
          </a:xfrm>
          <a:prstGeom prst="rect">
            <a:avLst/>
          </a:prstGeom>
          <a:noFill/>
          <a:ln/>
        </p:spPr>
        <p:txBody>
          <a:bodyPr wrap="square" lIns="0" tIns="0" rIns="0" bIns="0" rtlCol="0" anchor="ctr"/>
          <a:lstStyle/>
          <a:p>
            <a:pPr algn="ctr" indent="0" marL="0">
              <a:buNone/>
            </a:pPr>
            <a:r>
              <a:rPr lang="en-US" sz="1100" dirty="0">
                <a:solidFill>
                  <a:srgbClr val="FFFFFF">
                    <a:alpha val="65000"/>
                  </a:srgbClr>
                </a:solidFill>
                <a:latin typeface="Arial" pitchFamily="34" charset="0"/>
                <a:ea typeface="Arial" pitchFamily="34" charset="-122"/>
                <a:cs typeface="Arial" pitchFamily="34" charset="-120"/>
              </a:rPr>
              <a:t>18 Technology Dr. Ste 141, Irvine CA 92618  ·  On-site across Southern California  ·  Congratulations on the new practice.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Technijian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Technijian for Javier Romero, MD FACS</dc:title>
  <dc:subject>Technijian for Javier Romero, MD FACS — IT Discovery for a New Surgical Sub-Specialty Clinic</dc:subject>
  <dc:creator>Technijian</dc:creator>
  <cp:lastModifiedBy>Technijian</cp:lastModifiedBy>
  <cp:revision>1</cp:revision>
  <dcterms:created xsi:type="dcterms:W3CDTF">2026-06-11T16:12:32Z</dcterms:created>
  <dcterms:modified xsi:type="dcterms:W3CDTF">2026-06-11T16:12:32Z</dcterms:modified>
</cp:coreProperties>
</file>