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 FRAME (60–90 sec). Thank them for the time. Set the tone: this is a working blueprint, not a hard sell — a practical roadmap for where AI moves the needle for SC Fuels.</a:t>
            </a:r>
          </a:p>
          <a:p/>
          <a:p>
            <a:r>
              <a:t>Three things to land up front:</a:t>
            </a:r>
          </a:p>
          <a:p>
            <a:r>
              <a:t>1) We see SC Fuels as the MARKET LEADER — the West Coast commercial arm of Pilot Company (Berkshire-backed since Nov 2021), and the active consolidator (Downs Energy Oct 2025, Lutz Petroleum Dec 2025). We are NOT pitching you as a scrappy underdog.</a:t>
            </a:r>
          </a:p>
          <a:p>
            <a:r>
              <a:t>2) Every number in here is ESTIMATED and conservative until discovery — we'll be explicit about that.</a:t>
            </a:r>
          </a:p>
          <a:p>
            <a:r>
              <a:t>3) AI SUPPORTS your field reps and Pilot's supply scale — it does not replace the relationship-driven sales motion. That boundary is a trust signal; say it out loud.</a:t>
            </a:r>
          </a:p>
          <a:p/>
          <a:p>
            <a:r>
              <a:t>DO NOT cite a revenue figure (aggregator data is unreliable for a Pilot subsidiary). Use gallons/scale instead. Only CEO Steven Greinke is a verified name — keep other leadership names out.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AGENDA (30 sec). Quick roadmap of the next ~30–40 minutes. This is meant to be interactive — please interrupt with questions and corrections; half the value today is you telling us where our estimates are wrong.</a:t>
            </a:r>
          </a:p>
          <a:p/>
          <a:p>
            <a:r>
              <a:t>We'll end on QUICK WINS you can start this week with zero commitment, and the handful of numbers we need from you to firm up the ROI.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REFRAME — most important strategic slide (2–3 min).</a:t>
            </a:r>
          </a:p>
          <a:p/>
          <a:p>
            <a:r>
              <a:t>The headline: SC Fuels is the West's market-leading fuel &amp; lubricant distributor, and since November 2021 it's been the West Coast commercial arm of PILOT COMPANY, majority-owned by BERKSHIRE HATHAWAY. It's also the consolidator — it acquired Downs Energy (Oct 2025) and Lutz Petroleum (Dec 2025). So the balance sheet, supply infrastructure, and CFN/cardlock network behind SC Fuels are top-tier.</a:t>
            </a:r>
          </a:p>
          <a:p/>
          <a:p>
            <a:r>
              <a:t>Why this matters for the plan: the digital presence today reads like a small regional independent — that mismatch IS the opportunity. We're not trying to make you bigger; we're making the digital + AI presence finally match the operation.</a:t>
            </a:r>
          </a:p>
          <a:p/>
          <a:p>
            <a:r>
              <a:t>GUARDRAILS: Do NOT cite revenue (aggregators conflict $394M vs $650M — unreliable for a Pilot subsidiary). The 'third-generation family-owned' copy still on the website is stale/legacy — we'll flag it later as a liability to fix. The ~1.4B gallon figure is a pre-2021 number; say 'more than a billion gallons.' Numbers are scale anchors, not guarantees.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STRATEGIC FRAME (2 min). For a market leader, AI does three jobs — defend, integrate, out-modernize. Walk each card briefly.</a:t>
            </a:r>
          </a:p>
          <a:p/>
          <a:p>
            <a:r>
              <a:t>DEFEND: ~14% of fleet fuel spend is lost to fraud/theft industry-wide; declining-gallon accounts are an early churn signal a model can flag for rep outreach.</a:t>
            </a:r>
          </a:p>
          <a:p>
            <a:r>
              <a:t>INTEGRATE: you're actively buying companies — every acquired customer book is either clean cross-sell or messy churn. AI account-intelligence + a knowledge graph makes it the former.</a:t>
            </a:r>
          </a:p>
          <a:p>
            <a:r>
              <a:t>OUT-MODERNIZE: Booster is the digital-native benchmark — app-first mobile fueling with a named 'Kasparov' AI routing engine. The play is to adopt the good UX without the startup cash burn, backed by Pilot's supply.</a:t>
            </a:r>
          </a:p>
          <a:p/>
          <a:p>
            <a:r>
              <a:t>Close on the BOUNDARY line at the bottom — this is the single most important trust signal in the whole deck. We are not promising to replace your sales force; we make them faster and better-armed.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MODEL (1.5 min). Quick orientation so everyone shares the same map. Supply (refiners, Chevron-branded, renewable) flows IN to SC Fuels, out through FOUR channels — bulk/bobtail delivery, mobile on-site (wet) fueling, cardlock/fleet cards, and unbranded wholesale + lubricants/DEF/renewables — to SIX verticals: construction, ag, manufacturing, food manufacturing, municipal/government, waste.</a:t>
            </a:r>
          </a:p>
          <a:p/>
          <a:p>
            <a:r>
              <a:t>Key point: this is a thin-margin, distributor-in-the-middle business — so growth and retention both matter, and small efficiency gains compound. The 'AI acceleration' band shows where we add leverage.</a:t>
            </a:r>
          </a:p>
          <a:p/>
          <a:p>
            <a:r>
              <a:t>CARDLOCK NUANCE: SC Fuels doesn't own a national cardlock brand — it runs proprietary sites and rides the CFN and Pacific Pride (Corpay) networks, same as rivals. So 'we have cardlock' differentiates nobody — the differentiation is service, data, portal UX, and supply. Don't oversell cardlock as a moat.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LANDSCAPE (2 min). Two halves: the market forces (left) and the regulatory burden (right).</a:t>
            </a:r>
          </a:p>
          <a:p/>
          <a:p>
            <a:r>
              <a:t>Market forces — consolidation (you're the acquirer, good position), margin/energy-transition pressure (efficiency + medium-duty EV nibble at demand), renewable diesel as the margin OFFSET (you already sell R99 — room to lead), and telematics/fraud convergence.</a:t>
            </a:r>
          </a:p>
          <a:p/>
          <a:p>
            <a:r>
              <a:t>The right side is the AI thesis's fastest proof: LCFS + RIN + IFTA are heavy, recurring, error-prone, and CARB/LCFS is UNIQUELY WESTERN — so your 15-state footprint makes it especially acute. IFTA alone is ~88 hours/year per fleet of manual work. These are bounded, painful, and clear — the perfect Tier-3 'prove value fast' wedge.</a:t>
            </a:r>
          </a:p>
          <a:p/>
          <a:p>
            <a:r>
              <a:t>DISCOVERY ASK: we need your actual hours and cost spent on LCFS, RIN, and IFTA today — that's what anchors the compliance-automation ROI. Flag that you'll come back to it on the questions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GROWTH LIVES (2 min) — the honesty slide.</a:t>
            </a:r>
          </a:p>
          <a:p/>
          <a:p>
            <a:r>
              <a:t>This is a HYBRID engine leaning account-based — exactly right for a B2B field-sales business. Four pools: (1) searchable demand you under-harvest, (2) named high-value accounts for your reps, (3) municipal RFPs where speed wins, (4) renewable/ESG where margin lives.</a:t>
            </a:r>
          </a:p>
          <a:p/>
          <a:p>
            <a:r>
              <a:t>Do NOT say 'fill your funnel' or 'shotgun marketing' — that would be the wrong pitch and they'd know it. The honesty IS the differentiator.</a:t>
            </a:r>
          </a:p>
          <a:p/>
          <a:p>
            <a:r>
              <a:t>THE ONE STRUCTURAL DISADVANTAGE to name proactively: SC Fuels lacks the MBE/WBE diversity-spend status that Pinnacle (woman-owned) and Ramos (Hispanic-owned) use to win municipal set-aside contracts. We do NOT pretend to fix that — we counter it with bid-response SPEED (RFP automation), service depth, and Pilot scale. Naming the weakness honestly builds trust.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CUSTOMER (1.5 min). Four PRIMARY buyer personas — Fleet Operations Director (trucking/logistics), Construction Equipment/Ops Manager, Agricultural Ops Manager, and Municipal Fleet &amp; Procurement Officer — plus two EMERGING ones: the Sustainability/ESG fleet buyer and the Lubricants &amp; DEF industrial buyer.</a:t>
            </a:r>
          </a:p>
          <a:p/>
          <a:p>
            <a:r>
              <a:t>Plotted on Account Fuel Volume (x) vs Margin / Strategic Value (y). Notice the emerging personas (ESG renewable, lubricants/DEF) sit higher on margin — they deserve disproportionate attention even at lower volume. Municipal is low-margin but HIGH strategic value (sticky, multi-year, but bid-driven and diversity-weighted).</a:t>
            </a:r>
          </a:p>
          <a:p/>
          <a:p>
            <a:r>
              <a:t>These are research-derived candidates — ask them to validate or correct in discovery. If they tell us their best accounts look different, we re-plot.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COMPETITIVE WHITE SPACE (2 min) — the 'why now' slide.</a:t>
            </a:r>
          </a:p>
          <a:p/>
          <a:p>
            <a:r>
              <a:t>Eight named competitors. The digital leaders are World Kinect/Flyers and Mansfield (content + fuel-data portals); Booster is the digital-native (app + named 'Kasparov' AI). The dated regionals — Hunt &amp; Sons (Phillips 66-owned, fragmented domains), Ramos — you already out-class digitally.</a:t>
            </a:r>
          </a:p>
          <a:p/>
          <a:p>
            <a:r>
              <a:t>The white space (right panel): the SCALE + AI corner is uncontested in the West. Nobody in your backyard has claimed the AI / answer-engine / compliance-automation narrative. First mover compounds — AI answer engines and Google reward the authority that publishes first.</a:t>
            </a:r>
          </a:p>
          <a:p/>
          <a:p>
            <a:r>
              <a:t>Proof point to mention: Star Oilco (tiny Portland distributor) has best-in-class content/SEO for its size — proof that content works even in this 'boring' category. If a small shop can rank, a Pilot-backed leader can dominate.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DIGITAL AUDIT (1.5–2 min). The on-ramp: the quality and scale of the operation is FAR ahead of how it presents online and in AI answers. This isn't criticism — it's unclaimed upside.</a:t>
            </a:r>
          </a:p>
          <a:p/>
          <a:p>
            <a:r>
              <a:t>Hit the two red items hardest:</a:t>
            </a:r>
          </a:p>
          <a:p>
            <a:r>
              <a:t>- 'Family-owned' copy is ACTIVELY costing you: it's a credibility/SEO liability AND it leaves the Pilot-scale selling point on the table. Fixing it is a same-day quick win.</a:t>
            </a:r>
          </a:p>
          <a:p>
            <a:r>
              <a:t>- No location pages = the single biggest missed-capture opportunity for a 15-branch operation. Real people are googling 'bulk diesel delivery [city]' and not finding you.</a:t>
            </a:r>
          </a:p>
          <a:p/>
          <a:p>
            <a:r>
              <a:t>End positive (the green item): you already have a real self-serve portal. We EXTEND it toward the Booster UX bar — we don't rip and replace. That lowers cost and risk.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CAPABILITY PROOF (2 min). These are real, productized Technijian builds — mapped to your situation.</a:t>
            </a:r>
          </a:p>
          <a:p/>
          <a:p>
            <a:r>
              <a:t>LANGUAGE DISCIPLINE (important): present these as PROVEN CAPABILITIES and productized services we're mapping to SC Fuels — not as 'we already built this exact thing for a fuel distributor.' We have NOT built an AI engine for a fuel distributor before; say so plainly if asked. Honesty here protects credibility on every other number.</a:t>
            </a:r>
          </a:p>
          <a:p/>
          <a:p>
            <a:r>
              <a:t>The one to emphasize for THEIR pain: AI Document Intelligence for RFPs — it's the speed answer to the diversity-spend disadvantage. And the custom app is PHASED — discovery first, not a big-bang build.</a:t>
            </a:r>
          </a:p>
          <a:p/>
          <a:p>
            <a:r>
              <a:t>If Derek's original question was about SEO specifically, anchor on builds #1 and #5 — that's the warm entry point.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 GROWTH ENGINE (2 min). Three columns: GET FOUND (SEO / AEO / local + location pages), ACCOUNT INTELLIGENCE &amp; OUTBOUND (lead gen + RFP automation + rep dossiers), and INTERNAL AUTOMATION (compliance + predictive tank monitoring + demand/route forecasting).</a:t>
            </a:r>
          </a:p>
          <a:p/>
          <a:p>
            <a:r>
              <a:t>SEQUENCING is the message: lead with Tier 1 top-line GROWTH (exploits the AI-blank gap, gets you found and arms the reps), prove value FAST with Tier 3 COMPLIANCE (bounded, painful, measurable — LCFS/IFTA), then Tier 2 retains and expands (forecasting, tank monitoring, churn).</a:t>
            </a:r>
          </a:p>
          <a:p/>
          <a:p>
            <a:r>
              <a:t>The boundary stays on screen the whole time: every box SUPPORTS a person — the rep, the compliance manager, the dispatcher. AI is the force-multiplier, not the replacement.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INVESTMENT (3 min) — truthful framing. Lead with the honesty: today we show the PUBLISHED Technijian list rates where they apply, and we do NOT put a number on anything we'd have to guess.</a:t>
            </a:r>
          </a:p>
          <a:p/>
          <a:p>
            <a:r>
              <a:t>What's real on this slide: My SEO published tiers run $500–$1,500/mo (Tier 1 Website/Hosting up to Tier 5 Topical Viral Videos, each tier includes everything below it). My AI Lead Gen is $1,499 Starter / $3,499 Professional / $6,999 Enterprise per month, plus one-time setup ($2,500 / $5,000 / $15,000). Which SEO tier and which Lead Gen tier SC Fuels needs is a SCOPE decision we make together in discovery — so it's a range here, not a pinned number.</a:t>
            </a:r>
          </a:p>
          <a:p/>
          <a:p>
            <a:r>
              <a:t>What's TBD: the Fractional AI Advisor rate, the custom build (portal + chatbot + LCFS/IFTA), managed app services, and the workshop — we do not have a defensible number for these until we scope SC Fuels' actual systems, gallons, account count, and compliance hours. The Year-1 total is therefore TBD by design. Say that plainly — it signals we quote what we can stand behind.</a:t>
            </a:r>
          </a:p>
          <a:p/>
          <a:p>
            <a:r>
              <a:t>ROI: we do NOT promise a multiple. We show the METHOD — gross profit per new account + retained/expanded volume, minus investment — and we set the targets from THEIR baseline (GP/account, new-accounts/mo, churn) in discovery. If asked 'what's the return,' answer: 'That's exactly what discovery sizes — we won't hand you a number we can't back.'</a:t>
            </a:r>
          </a:p>
          <a:p/>
          <a:p>
            <a:r>
              <a:t>LAND-AND-EXPAND still applies: start small (a published-rate SEO tier + a location-page pilot + the workshop), prove value, then scope the build. The ask today is the first step, not a total.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ROADMAP (1.5 min). Enterprise, regulated, multi-stakeholder, multi-state — so the pace is deliberate, not rushed.</a:t>
            </a:r>
          </a:p>
          <a:p/>
          <a:p>
            <a:r>
              <a:t>90 DAYS — Foundation: Executive AI Workshop, SEO/AEO + the first location pages, Google Business Profiles, ONE compliance wedge (LCFS or IFTA) to prove value fast, and the first account-target lists.</a:t>
            </a:r>
          </a:p>
          <a:p>
            <a:r>
              <a:t>180 DAYS — Scale: RFP automation live, portal/chatbot, outbound at volume, churn/at-risk model on the cardlock base.</a:t>
            </a:r>
          </a:p>
          <a:p>
            <a:r>
              <a:t>365 DAYS — Optimize: full compliance suite, predictive tank monitoring, demand/route forecasting, and an acquisition-integration playbook for the next Downs/Lutz.</a:t>
            </a:r>
          </a:p>
          <a:p/>
          <a:p>
            <a:r>
              <a:t>The message: you see value inside 90 days (the compliance wedge + location pages), but the big bets are sequenced so nothing is bet-the-farm.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WINS (1.5 min) — the most important slide for momentum.</a:t>
            </a:r>
          </a:p>
          <a:p/>
          <a:p>
            <a:r>
              <a:t>These are deliberately ZERO-COMMITMENT, low-risk proofs. They let us demonstrate value BEFORE any meaningful spend — which de-risks the whole engagement for them.</a:t>
            </a:r>
          </a:p>
          <a:p/>
          <a:p>
            <a:r>
              <a:t>The ask: pick ONE or TWO today and we'll just do them. The fastest visible combo is #1 + #2 (a location page + Google Business Profiles) — it produces real local-search movement in weeks. #4 (ownership-copy refresh) is almost free and removes an active liability.</a:t>
            </a:r>
          </a:p>
          <a:p/>
          <a:p>
            <a:r>
              <a:t>Don't leave this slide without a concrete 'which one should we start with?' — that converts a presentation into an engagement.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DISCOVERY (1.5 min) — signals rigor and respect. Frame it as: 'every number you saw is an estimate until we fill these in together.'</a:t>
            </a:r>
          </a:p>
          <a:p/>
          <a:p>
            <a:r>
              <a:t>If there's time, capture answers LIVE — even partial answers sharpen the next version of the plan.</a:t>
            </a:r>
          </a:p>
          <a:p/>
          <a:p>
            <a:r>
              <a:t>The LAST question (highlighted) matters most: is the buyer SC Fuels' own marketing/sales leadership, or is this routed through Pilot's central marketing? That single answer changes the entire sales motion, the budget authority, and who else needs to be in the room. If you only get one answer today, get that one.</a:t>
            </a:r>
          </a:p>
          <a:p/>
          <a:p>
            <a:r>
              <a:t>Secondary priorities: LCFS/RIN/IFTA hours (anchors compliance ROI) and GP-per-account (anchors growth ROI).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(1 min) — on momentum, not pressure.</a:t>
            </a:r>
          </a:p>
          <a:p/>
          <a:p>
            <a:r>
              <a:t>The ask is small and concrete: pick a quick win and book the 60-minute discovery. The Executive AI Workshop is the natural first paid step (priced once we scope it in discovery) — low-risk, high-alignment, and it gets leadership in one room to shape the roadmap.</a:t>
            </a:r>
          </a:p>
          <a:p/>
          <a:p>
            <a:r>
              <a:t>Reiterate the core message one last time: we're here to help the MARKET LEADER extend its lead. AI supports your people and Pilot's scale — it doesn't replace them. We move at your pace, every number gets validated in discovery, and you can start this week with zero commitment.</a:t>
            </a:r>
          </a:p>
          <a:p/>
          <a:p>
            <a:r>
              <a:t>Then stop talking and ask: 'Which quick win do you want us to start with?' Let them answer.</a:t>
            </a:r>
          </a:p>
          <a:p/>
          <a:p>
            <a:r>
              <a:t>Logistics reminder: this engagement is being run for Bryan Burkhart; Derek Bettencourt opened the door asking about SEO. If Derek is in the room, anchor the warm entry on the SEO/AEO + location-page story (slides 11 #1/#5 and quick wins #1/#2).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714500"/>
          </a:xfrm>
          <a:prstGeom prst="rect">
            <a:avLst/>
          </a:prstGeom>
          <a:solidFill>
            <a:srgbClr val="006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714500"/>
            <a:ext cx="201168" cy="1714500"/>
          </a:xfrm>
          <a:prstGeom prst="rect">
            <a:avLst/>
          </a:prstGeom>
          <a:solidFill>
            <a:srgbClr val="1EA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3429000"/>
            <a:ext cx="201168" cy="1714500"/>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143500"/>
            <a:ext cx="201168" cy="1714500"/>
          </a:xfrm>
          <a:prstGeom prst="rect">
            <a:avLst/>
          </a:prstGeom>
          <a:solidFill>
            <a:srgbClr val="CBD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5074920"/>
            <a:ext cx="12191695" cy="18288"/>
          </a:xfrm>
          <a:prstGeom prst="rect">
            <a:avLst/>
          </a:prstGeom>
          <a:solidFill>
            <a:srgbClr val="333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echnijian Logo - white text.png"/>
          <p:cNvPicPr>
            <a:picLocks noChangeAspect="1"/>
          </p:cNvPicPr>
          <p:nvPr/>
        </p:nvPicPr>
        <p:blipFill>
          <a:blip r:embed="rId2"/>
          <a:stretch>
            <a:fillRect/>
          </a:stretch>
        </p:blipFill>
        <p:spPr>
          <a:xfrm>
            <a:off x="868680" y="868680"/>
            <a:ext cx="3657600" cy="765408"/>
          </a:xfrm>
          <a:prstGeom prst="rect">
            <a:avLst/>
          </a:prstGeom>
        </p:spPr>
      </p:pic>
      <p:sp>
        <p:nvSpPr>
          <p:cNvPr id="9" name="TextBox 8"/>
          <p:cNvSpPr txBox="1"/>
          <p:nvPr/>
        </p:nvSpPr>
        <p:spPr>
          <a:xfrm>
            <a:off x="914400" y="2514600"/>
            <a:ext cx="10424160" cy="365760"/>
          </a:xfrm>
          <a:prstGeom prst="rect">
            <a:avLst/>
          </a:prstGeom>
          <a:noFill/>
        </p:spPr>
        <p:txBody>
          <a:bodyPr wrap="square" anchor="t" lIns="0" rIns="0" tIns="0" bIns="0">
            <a:spAutoFit/>
          </a:bodyPr>
          <a:lstStyle/>
          <a:p>
            <a:pPr algn="l">
              <a:spcBef>
                <a:spcPts val="0"/>
              </a:spcBef>
            </a:pPr>
            <a:r>
              <a:rPr sz="1500" b="1" i="0">
                <a:solidFill>
                  <a:srgbClr val="1EAAC8"/>
                </a:solidFill>
                <a:latin typeface="Open Sans"/>
              </a:rPr>
              <a:t>AI-DRIVEN GROWTH BLUEPRINT</a:t>
            </a:r>
          </a:p>
        </p:txBody>
      </p:sp>
      <p:sp>
        <p:nvSpPr>
          <p:cNvPr id="10" name="TextBox 9"/>
          <p:cNvSpPr txBox="1"/>
          <p:nvPr/>
        </p:nvSpPr>
        <p:spPr>
          <a:xfrm>
            <a:off x="896112" y="2926080"/>
            <a:ext cx="10607040" cy="1371600"/>
          </a:xfrm>
          <a:prstGeom prst="rect">
            <a:avLst/>
          </a:prstGeom>
          <a:noFill/>
        </p:spPr>
        <p:txBody>
          <a:bodyPr wrap="square" anchor="t" lIns="0" rIns="0" tIns="0" bIns="0">
            <a:spAutoFit/>
          </a:bodyPr>
          <a:lstStyle/>
          <a:p>
            <a:pPr algn="l">
              <a:lnSpc>
                <a:spcPct val="104000"/>
              </a:lnSpc>
              <a:spcBef>
                <a:spcPts val="0"/>
              </a:spcBef>
            </a:pPr>
            <a:r>
              <a:rPr sz="4000" b="1" i="0">
                <a:solidFill>
                  <a:srgbClr val="FFFFFF"/>
                </a:solidFill>
                <a:latin typeface="Open Sans"/>
              </a:rPr>
              <a:t>Defend share. Integrate acquisitions.</a:t>
            </a:r>
          </a:p>
          <a:p>
            <a:pPr algn="l">
              <a:lnSpc>
                <a:spcPct val="104000"/>
              </a:lnSpc>
              <a:spcBef>
                <a:spcPts val="0"/>
              </a:spcBef>
            </a:pPr>
            <a:r>
              <a:rPr sz="4000" b="1" i="0">
                <a:solidFill>
                  <a:srgbClr val="FFFFFF"/>
                </a:solidFill>
                <a:latin typeface="Open Sans"/>
              </a:rPr>
              <a:t>Out-modernize the West's fuel market.</a:t>
            </a:r>
          </a:p>
        </p:txBody>
      </p:sp>
      <p:sp>
        <p:nvSpPr>
          <p:cNvPr id="11" name="TextBox 10"/>
          <p:cNvSpPr txBox="1"/>
          <p:nvPr/>
        </p:nvSpPr>
        <p:spPr>
          <a:xfrm>
            <a:off x="914400" y="4572000"/>
            <a:ext cx="10058400" cy="457200"/>
          </a:xfrm>
          <a:prstGeom prst="rect">
            <a:avLst/>
          </a:prstGeom>
          <a:noFill/>
        </p:spPr>
        <p:txBody>
          <a:bodyPr wrap="square" anchor="t" lIns="0" rIns="0" tIns="0" bIns="0">
            <a:spAutoFit/>
          </a:bodyPr>
          <a:lstStyle/>
          <a:p>
            <a:pPr algn="l">
              <a:spcBef>
                <a:spcPts val="0"/>
              </a:spcBef>
            </a:pPr>
            <a:r>
              <a:rPr sz="1500" b="0" i="1">
                <a:solidFill>
                  <a:srgbClr val="C9CBD6"/>
                </a:solidFill>
                <a:latin typeface="Open Sans"/>
              </a:rPr>
              <a:t>A practical roadmap to grow SC Fuels with AI — built on Pilot's scale, not against your field team.</a:t>
            </a:r>
          </a:p>
        </p:txBody>
      </p:sp>
      <p:sp>
        <p:nvSpPr>
          <p:cNvPr id="12" name="TextBox 11"/>
          <p:cNvSpPr txBox="1"/>
          <p:nvPr/>
        </p:nvSpPr>
        <p:spPr>
          <a:xfrm>
            <a:off x="914400" y="5440680"/>
            <a:ext cx="10424160" cy="365760"/>
          </a:xfrm>
          <a:prstGeom prst="rect">
            <a:avLst/>
          </a:prstGeom>
          <a:noFill/>
        </p:spPr>
        <p:txBody>
          <a:bodyPr wrap="square" anchor="t" lIns="0" rIns="0" tIns="0" bIns="0">
            <a:spAutoFit/>
          </a:bodyPr>
          <a:lstStyle/>
          <a:p>
            <a:pPr algn="l">
              <a:spcBef>
                <a:spcPts val="0"/>
              </a:spcBef>
            </a:pPr>
            <a:r>
              <a:rPr sz="1300" b="1" i="0">
                <a:solidFill>
                  <a:srgbClr val="FFFFFF"/>
                </a:solidFill>
                <a:latin typeface="Open Sans"/>
              </a:rPr>
              <a:t>Prepared for SC Fuels Leadership</a:t>
            </a:r>
            <a:r>
              <a:rPr sz="1300" b="0" i="0">
                <a:solidFill>
                  <a:srgbClr val="9A9AB0"/>
                </a:solidFill>
                <a:latin typeface="Open Sans"/>
              </a:rPr>
              <a:t>      |      June 1, 2026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6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8016"/>
            <a:ext cx="12191695" cy="36576"/>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chnijian Logo 2.png"/>
          <p:cNvPicPr>
            <a:picLocks noChangeAspect="1"/>
          </p:cNvPicPr>
          <p:nvPr/>
        </p:nvPicPr>
        <p:blipFill>
          <a:blip r:embed="rId2"/>
          <a:stretch>
            <a:fillRect/>
          </a:stretch>
        </p:blipFill>
        <p:spPr>
          <a:xfrm>
            <a:off x="10362895" y="420624"/>
            <a:ext cx="1463040" cy="306170"/>
          </a:xfrm>
          <a:prstGeom prst="rect">
            <a:avLst/>
          </a:prstGeom>
        </p:spPr>
      </p:pic>
      <p:sp>
        <p:nvSpPr>
          <p:cNvPr id="6" name="TextBox 5"/>
          <p:cNvSpPr txBox="1"/>
          <p:nvPr/>
        </p:nvSpPr>
        <p:spPr>
          <a:xfrm>
            <a:off x="640080" y="475488"/>
            <a:ext cx="8686800" cy="274320"/>
          </a:xfrm>
          <a:prstGeom prst="rect">
            <a:avLst/>
          </a:prstGeom>
          <a:noFill/>
        </p:spPr>
        <p:txBody>
          <a:bodyPr wrap="square" anchor="t" lIns="0" rIns="0" tIns="0" bIns="0">
            <a:spAutoFit/>
          </a:bodyPr>
          <a:lstStyle/>
          <a:p>
            <a:pPr algn="l">
              <a:spcBef>
                <a:spcPts val="0"/>
              </a:spcBef>
            </a:pPr>
            <a:r>
              <a:rPr sz="1200" b="1" i="0">
                <a:solidFill>
                  <a:srgbClr val="F67D4B"/>
                </a:solidFill>
                <a:latin typeface="Open Sans"/>
              </a:rPr>
              <a:t>TODAY'S CONVERSATION</a:t>
            </a:r>
          </a:p>
        </p:txBody>
      </p:sp>
      <p:sp>
        <p:nvSpPr>
          <p:cNvPr id="7" name="TextBox 6"/>
          <p:cNvSpPr txBox="1"/>
          <p:nvPr/>
        </p:nvSpPr>
        <p:spPr>
          <a:xfrm>
            <a:off x="640080" y="768096"/>
            <a:ext cx="9418320" cy="566928"/>
          </a:xfrm>
          <a:prstGeom prst="rect">
            <a:avLst/>
          </a:prstGeom>
          <a:noFill/>
        </p:spPr>
        <p:txBody>
          <a:bodyPr wrap="square" anchor="t" lIns="0" rIns="0" tIns="0" bIns="0">
            <a:spAutoFit/>
          </a:bodyPr>
          <a:lstStyle/>
          <a:p>
            <a:pPr algn="l">
              <a:spcBef>
                <a:spcPts val="0"/>
              </a:spcBef>
            </a:pPr>
            <a:r>
              <a:rPr sz="2600" b="1" i="0">
                <a:solidFill>
                  <a:srgbClr val="006DB6"/>
                </a:solidFill>
                <a:latin typeface="Open Sans"/>
              </a:rPr>
              <a:t>What we'll cover</a:t>
            </a:r>
          </a:p>
        </p:txBody>
      </p:sp>
      <p:sp>
        <p:nvSpPr>
          <p:cNvPr id="8" name="Rectangle 7"/>
          <p:cNvSpPr/>
          <p:nvPr/>
        </p:nvSpPr>
        <p:spPr>
          <a:xfrm>
            <a:off x="658368" y="1481328"/>
            <a:ext cx="1371600" cy="41148"/>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0080" y="1783080"/>
            <a:ext cx="566928" cy="566928"/>
          </a:xfrm>
          <a:prstGeom prst="roundRect">
            <a:avLst>
              <a:gd name="adj" fmla="val 18000"/>
            </a:avLst>
          </a:prstGeom>
          <a:solidFill>
            <a:srgbClr val="006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783080"/>
            <a:ext cx="566928" cy="566928"/>
          </a:xfrm>
          <a:prstGeom prst="rect">
            <a:avLst/>
          </a:prstGeom>
          <a:noFill/>
        </p:spPr>
        <p:txBody>
          <a:bodyPr wrap="square" anchor="ctr" lIns="0" rIns="0" tIns="0" bIns="0">
            <a:spAutoFit/>
          </a:bodyPr>
          <a:lstStyle/>
          <a:p>
            <a:pPr algn="ctr">
              <a:spcBef>
                <a:spcPts val="0"/>
              </a:spcBef>
            </a:pPr>
            <a:r>
              <a:rPr sz="1700" b="1" i="0">
                <a:solidFill>
                  <a:srgbClr val="FFFFFF"/>
                </a:solidFill>
                <a:latin typeface="Open Sans"/>
              </a:rPr>
              <a:t>01</a:t>
            </a:r>
          </a:p>
        </p:txBody>
      </p:sp>
      <p:sp>
        <p:nvSpPr>
          <p:cNvPr id="11" name="TextBox 10"/>
          <p:cNvSpPr txBox="1"/>
          <p:nvPr/>
        </p:nvSpPr>
        <p:spPr>
          <a:xfrm>
            <a:off x="1371600" y="1801368"/>
            <a:ext cx="9875520" cy="365760"/>
          </a:xfrm>
          <a:prstGeom prst="rect">
            <a:avLst/>
          </a:prstGeom>
          <a:noFill/>
        </p:spPr>
        <p:txBody>
          <a:bodyPr wrap="square" anchor="t" lIns="0" rIns="0" tIns="0" bIns="0">
            <a:spAutoFit/>
          </a:bodyPr>
          <a:lstStyle/>
          <a:p>
            <a:pPr algn="l">
              <a:spcBef>
                <a:spcPts val="0"/>
              </a:spcBef>
            </a:pPr>
            <a:r>
              <a:rPr sz="1650" b="1" i="0">
                <a:solidFill>
                  <a:srgbClr val="2D2D2D"/>
                </a:solidFill>
                <a:latin typeface="Open Sans"/>
              </a:rPr>
              <a:t>Where SC Fuels stands today</a:t>
            </a:r>
          </a:p>
        </p:txBody>
      </p:sp>
      <p:sp>
        <p:nvSpPr>
          <p:cNvPr id="12" name="TextBox 11"/>
          <p:cNvSpPr txBox="1"/>
          <p:nvPr/>
        </p:nvSpPr>
        <p:spPr>
          <a:xfrm>
            <a:off x="1371600" y="2112264"/>
            <a:ext cx="9875520" cy="274320"/>
          </a:xfrm>
          <a:prstGeom prst="rect">
            <a:avLst/>
          </a:prstGeom>
          <a:noFill/>
        </p:spPr>
        <p:txBody>
          <a:bodyPr wrap="square" anchor="t" lIns="0" rIns="0" tIns="0" bIns="0">
            <a:spAutoFit/>
          </a:bodyPr>
          <a:lstStyle/>
          <a:p>
            <a:pPr algn="l">
              <a:spcBef>
                <a:spcPts val="0"/>
              </a:spcBef>
            </a:pPr>
            <a:r>
              <a:rPr sz="1200" b="0" i="0">
                <a:solidFill>
                  <a:srgbClr val="59595B"/>
                </a:solidFill>
                <a:latin typeface="Open Sans"/>
              </a:rPr>
              <a:t>Market leader, Pilot-backed — and under-represented online</a:t>
            </a:r>
          </a:p>
        </p:txBody>
      </p:sp>
      <p:sp>
        <p:nvSpPr>
          <p:cNvPr id="13" name="Rounded Rectangle 12"/>
          <p:cNvSpPr/>
          <p:nvPr/>
        </p:nvSpPr>
        <p:spPr>
          <a:xfrm>
            <a:off x="640080" y="2523744"/>
            <a:ext cx="566928" cy="566928"/>
          </a:xfrm>
          <a:prstGeom prst="roundRect">
            <a:avLst>
              <a:gd name="adj" fmla="val 18000"/>
            </a:avLst>
          </a:prstGeom>
          <a:solidFill>
            <a:srgbClr val="1EA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523744"/>
            <a:ext cx="566928" cy="566928"/>
          </a:xfrm>
          <a:prstGeom prst="rect">
            <a:avLst/>
          </a:prstGeom>
          <a:noFill/>
        </p:spPr>
        <p:txBody>
          <a:bodyPr wrap="square" anchor="ctr" lIns="0" rIns="0" tIns="0" bIns="0">
            <a:spAutoFit/>
          </a:bodyPr>
          <a:lstStyle/>
          <a:p>
            <a:pPr algn="ctr">
              <a:spcBef>
                <a:spcPts val="0"/>
              </a:spcBef>
            </a:pPr>
            <a:r>
              <a:rPr sz="1700" b="1" i="0">
                <a:solidFill>
                  <a:srgbClr val="FFFFFF"/>
                </a:solidFill>
                <a:latin typeface="Open Sans"/>
              </a:rPr>
              <a:t>02</a:t>
            </a:r>
          </a:p>
        </p:txBody>
      </p:sp>
      <p:sp>
        <p:nvSpPr>
          <p:cNvPr id="15" name="TextBox 14"/>
          <p:cNvSpPr txBox="1"/>
          <p:nvPr/>
        </p:nvSpPr>
        <p:spPr>
          <a:xfrm>
            <a:off x="1371600" y="2542032"/>
            <a:ext cx="9875520" cy="365760"/>
          </a:xfrm>
          <a:prstGeom prst="rect">
            <a:avLst/>
          </a:prstGeom>
          <a:noFill/>
        </p:spPr>
        <p:txBody>
          <a:bodyPr wrap="square" anchor="t" lIns="0" rIns="0" tIns="0" bIns="0">
            <a:spAutoFit/>
          </a:bodyPr>
          <a:lstStyle/>
          <a:p>
            <a:pPr algn="l">
              <a:spcBef>
                <a:spcPts val="0"/>
              </a:spcBef>
            </a:pPr>
            <a:r>
              <a:rPr sz="1650" b="1" i="0">
                <a:solidFill>
                  <a:srgbClr val="2D2D2D"/>
                </a:solidFill>
                <a:latin typeface="Open Sans"/>
              </a:rPr>
              <a:t>The market &amp; regulatory landscape</a:t>
            </a:r>
          </a:p>
        </p:txBody>
      </p:sp>
      <p:sp>
        <p:nvSpPr>
          <p:cNvPr id="16" name="TextBox 15"/>
          <p:cNvSpPr txBox="1"/>
          <p:nvPr/>
        </p:nvSpPr>
        <p:spPr>
          <a:xfrm>
            <a:off x="1371600" y="2852927"/>
            <a:ext cx="9875520" cy="274320"/>
          </a:xfrm>
          <a:prstGeom prst="rect">
            <a:avLst/>
          </a:prstGeom>
          <a:noFill/>
        </p:spPr>
        <p:txBody>
          <a:bodyPr wrap="square" anchor="t" lIns="0" rIns="0" tIns="0" bIns="0">
            <a:spAutoFit/>
          </a:bodyPr>
          <a:lstStyle/>
          <a:p>
            <a:pPr algn="l">
              <a:spcBef>
                <a:spcPts val="0"/>
              </a:spcBef>
            </a:pPr>
            <a:r>
              <a:rPr sz="1200" b="0" i="0">
                <a:solidFill>
                  <a:srgbClr val="59595B"/>
                </a:solidFill>
                <a:latin typeface="Open Sans"/>
              </a:rPr>
              <a:t>Consolidation, energy transition, LCFS / RIN / IFTA burden</a:t>
            </a:r>
          </a:p>
        </p:txBody>
      </p:sp>
      <p:sp>
        <p:nvSpPr>
          <p:cNvPr id="17" name="Rounded Rectangle 16"/>
          <p:cNvSpPr/>
          <p:nvPr/>
        </p:nvSpPr>
        <p:spPr>
          <a:xfrm>
            <a:off x="640080" y="3264408"/>
            <a:ext cx="566928" cy="566928"/>
          </a:xfrm>
          <a:prstGeom prst="roundRect">
            <a:avLst>
              <a:gd name="adj" fmla="val 18000"/>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264408"/>
            <a:ext cx="566928" cy="566928"/>
          </a:xfrm>
          <a:prstGeom prst="rect">
            <a:avLst/>
          </a:prstGeom>
          <a:noFill/>
        </p:spPr>
        <p:txBody>
          <a:bodyPr wrap="square" anchor="ctr" lIns="0" rIns="0" tIns="0" bIns="0">
            <a:spAutoFit/>
          </a:bodyPr>
          <a:lstStyle/>
          <a:p>
            <a:pPr algn="ctr">
              <a:spcBef>
                <a:spcPts val="0"/>
              </a:spcBef>
            </a:pPr>
            <a:r>
              <a:rPr sz="1700" b="1" i="0">
                <a:solidFill>
                  <a:srgbClr val="FFFFFF"/>
                </a:solidFill>
                <a:latin typeface="Open Sans"/>
              </a:rPr>
              <a:t>03</a:t>
            </a:r>
          </a:p>
        </p:txBody>
      </p:sp>
      <p:sp>
        <p:nvSpPr>
          <p:cNvPr id="19" name="TextBox 18"/>
          <p:cNvSpPr txBox="1"/>
          <p:nvPr/>
        </p:nvSpPr>
        <p:spPr>
          <a:xfrm>
            <a:off x="1371600" y="3282696"/>
            <a:ext cx="9875520" cy="365760"/>
          </a:xfrm>
          <a:prstGeom prst="rect">
            <a:avLst/>
          </a:prstGeom>
          <a:noFill/>
        </p:spPr>
        <p:txBody>
          <a:bodyPr wrap="square" anchor="t" lIns="0" rIns="0" tIns="0" bIns="0">
            <a:spAutoFit/>
          </a:bodyPr>
          <a:lstStyle/>
          <a:p>
            <a:pPr algn="l">
              <a:spcBef>
                <a:spcPts val="0"/>
              </a:spcBef>
            </a:pPr>
            <a:r>
              <a:rPr sz="1650" b="1" i="0">
                <a:solidFill>
                  <a:srgbClr val="2D2D2D"/>
                </a:solidFill>
                <a:latin typeface="Open Sans"/>
              </a:rPr>
              <a:t>Where the growth lives</a:t>
            </a:r>
          </a:p>
        </p:txBody>
      </p:sp>
      <p:sp>
        <p:nvSpPr>
          <p:cNvPr id="20" name="TextBox 19"/>
          <p:cNvSpPr txBox="1"/>
          <p:nvPr/>
        </p:nvSpPr>
        <p:spPr>
          <a:xfrm>
            <a:off x="1371600" y="3593591"/>
            <a:ext cx="9875520" cy="274320"/>
          </a:xfrm>
          <a:prstGeom prst="rect">
            <a:avLst/>
          </a:prstGeom>
          <a:noFill/>
        </p:spPr>
        <p:txBody>
          <a:bodyPr wrap="square" anchor="t" lIns="0" rIns="0" tIns="0" bIns="0">
            <a:spAutoFit/>
          </a:bodyPr>
          <a:lstStyle/>
          <a:p>
            <a:pPr algn="l">
              <a:spcBef>
                <a:spcPts val="0"/>
              </a:spcBef>
            </a:pPr>
            <a:r>
              <a:rPr sz="1200" b="0" i="0">
                <a:solidFill>
                  <a:srgbClr val="59595B"/>
                </a:solidFill>
                <a:latin typeface="Open Sans"/>
              </a:rPr>
              <a:t>A hybrid engine: searchable demand + named accounts</a:t>
            </a:r>
          </a:p>
        </p:txBody>
      </p:sp>
      <p:sp>
        <p:nvSpPr>
          <p:cNvPr id="21" name="Rounded Rectangle 20"/>
          <p:cNvSpPr/>
          <p:nvPr/>
        </p:nvSpPr>
        <p:spPr>
          <a:xfrm>
            <a:off x="640080" y="4005072"/>
            <a:ext cx="566928" cy="566928"/>
          </a:xfrm>
          <a:prstGeom prst="roundRect">
            <a:avLst>
              <a:gd name="adj" fmla="val 18000"/>
            </a:avLst>
          </a:prstGeom>
          <a:solidFill>
            <a:srgbClr val="006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05072"/>
            <a:ext cx="566928" cy="566928"/>
          </a:xfrm>
          <a:prstGeom prst="rect">
            <a:avLst/>
          </a:prstGeom>
          <a:noFill/>
        </p:spPr>
        <p:txBody>
          <a:bodyPr wrap="square" anchor="ctr" lIns="0" rIns="0" tIns="0" bIns="0">
            <a:spAutoFit/>
          </a:bodyPr>
          <a:lstStyle/>
          <a:p>
            <a:pPr algn="ctr">
              <a:spcBef>
                <a:spcPts val="0"/>
              </a:spcBef>
            </a:pPr>
            <a:r>
              <a:rPr sz="1700" b="1" i="0">
                <a:solidFill>
                  <a:srgbClr val="FFFFFF"/>
                </a:solidFill>
                <a:latin typeface="Open Sans"/>
              </a:rPr>
              <a:t>04</a:t>
            </a:r>
          </a:p>
        </p:txBody>
      </p:sp>
      <p:sp>
        <p:nvSpPr>
          <p:cNvPr id="23" name="TextBox 22"/>
          <p:cNvSpPr txBox="1"/>
          <p:nvPr/>
        </p:nvSpPr>
        <p:spPr>
          <a:xfrm>
            <a:off x="1371600" y="4023359"/>
            <a:ext cx="9875520" cy="365760"/>
          </a:xfrm>
          <a:prstGeom prst="rect">
            <a:avLst/>
          </a:prstGeom>
          <a:noFill/>
        </p:spPr>
        <p:txBody>
          <a:bodyPr wrap="square" anchor="t" lIns="0" rIns="0" tIns="0" bIns="0">
            <a:spAutoFit/>
          </a:bodyPr>
          <a:lstStyle/>
          <a:p>
            <a:pPr algn="l">
              <a:spcBef>
                <a:spcPts val="0"/>
              </a:spcBef>
            </a:pPr>
            <a:r>
              <a:rPr sz="1650" b="1" i="0">
                <a:solidFill>
                  <a:srgbClr val="2D2D2D"/>
                </a:solidFill>
                <a:latin typeface="Open Sans"/>
              </a:rPr>
              <a:t>The competitive white space</a:t>
            </a:r>
          </a:p>
        </p:txBody>
      </p:sp>
      <p:sp>
        <p:nvSpPr>
          <p:cNvPr id="24" name="TextBox 23"/>
          <p:cNvSpPr txBox="1"/>
          <p:nvPr/>
        </p:nvSpPr>
        <p:spPr>
          <a:xfrm>
            <a:off x="1371600" y="4334256"/>
            <a:ext cx="9875520" cy="274320"/>
          </a:xfrm>
          <a:prstGeom prst="rect">
            <a:avLst/>
          </a:prstGeom>
          <a:noFill/>
        </p:spPr>
        <p:txBody>
          <a:bodyPr wrap="square" anchor="t" lIns="0" rIns="0" tIns="0" bIns="0">
            <a:spAutoFit/>
          </a:bodyPr>
          <a:lstStyle/>
          <a:p>
            <a:pPr algn="l">
              <a:spcBef>
                <a:spcPts val="0"/>
              </a:spcBef>
            </a:pPr>
            <a:r>
              <a:rPr sz="1200" b="0" i="0">
                <a:solidFill>
                  <a:srgbClr val="59595B"/>
                </a:solidFill>
                <a:latin typeface="Open Sans"/>
              </a:rPr>
              <a:t>Nobody in the West has claimed the AI story — yet</a:t>
            </a:r>
          </a:p>
        </p:txBody>
      </p:sp>
      <p:sp>
        <p:nvSpPr>
          <p:cNvPr id="25" name="Rounded Rectangle 24"/>
          <p:cNvSpPr/>
          <p:nvPr/>
        </p:nvSpPr>
        <p:spPr>
          <a:xfrm>
            <a:off x="640080" y="4745736"/>
            <a:ext cx="566928" cy="566928"/>
          </a:xfrm>
          <a:prstGeom prst="roundRect">
            <a:avLst>
              <a:gd name="adj" fmla="val 18000"/>
            </a:avLst>
          </a:prstGeom>
          <a:solidFill>
            <a:srgbClr val="1EA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4745736"/>
            <a:ext cx="566928" cy="566928"/>
          </a:xfrm>
          <a:prstGeom prst="rect">
            <a:avLst/>
          </a:prstGeom>
          <a:noFill/>
        </p:spPr>
        <p:txBody>
          <a:bodyPr wrap="square" anchor="ctr" lIns="0" rIns="0" tIns="0" bIns="0">
            <a:spAutoFit/>
          </a:bodyPr>
          <a:lstStyle/>
          <a:p>
            <a:pPr algn="ctr">
              <a:spcBef>
                <a:spcPts val="0"/>
              </a:spcBef>
            </a:pPr>
            <a:r>
              <a:rPr sz="1700" b="1" i="0">
                <a:solidFill>
                  <a:srgbClr val="FFFFFF"/>
                </a:solidFill>
                <a:latin typeface="Open Sans"/>
              </a:rPr>
              <a:t>05</a:t>
            </a:r>
          </a:p>
        </p:txBody>
      </p:sp>
      <p:sp>
        <p:nvSpPr>
          <p:cNvPr id="27" name="TextBox 26"/>
          <p:cNvSpPr txBox="1"/>
          <p:nvPr/>
        </p:nvSpPr>
        <p:spPr>
          <a:xfrm>
            <a:off x="1371600" y="4764023"/>
            <a:ext cx="9875520" cy="365760"/>
          </a:xfrm>
          <a:prstGeom prst="rect">
            <a:avLst/>
          </a:prstGeom>
          <a:noFill/>
        </p:spPr>
        <p:txBody>
          <a:bodyPr wrap="square" anchor="t" lIns="0" rIns="0" tIns="0" bIns="0">
            <a:spAutoFit/>
          </a:bodyPr>
          <a:lstStyle/>
          <a:p>
            <a:pPr algn="l">
              <a:spcBef>
                <a:spcPts val="0"/>
              </a:spcBef>
            </a:pPr>
            <a:r>
              <a:rPr sz="1650" b="1" i="0">
                <a:solidFill>
                  <a:srgbClr val="2D2D2D"/>
                </a:solidFill>
                <a:latin typeface="Open Sans"/>
              </a:rPr>
              <a:t>How AI transforms the growth engine</a:t>
            </a:r>
          </a:p>
        </p:txBody>
      </p:sp>
      <p:sp>
        <p:nvSpPr>
          <p:cNvPr id="28" name="TextBox 27"/>
          <p:cNvSpPr txBox="1"/>
          <p:nvPr/>
        </p:nvSpPr>
        <p:spPr>
          <a:xfrm>
            <a:off x="1371600" y="5074920"/>
            <a:ext cx="9875520" cy="274320"/>
          </a:xfrm>
          <a:prstGeom prst="rect">
            <a:avLst/>
          </a:prstGeom>
          <a:noFill/>
        </p:spPr>
        <p:txBody>
          <a:bodyPr wrap="square" anchor="t" lIns="0" rIns="0" tIns="0" bIns="0">
            <a:spAutoFit/>
          </a:bodyPr>
          <a:lstStyle/>
          <a:p>
            <a:pPr algn="l">
              <a:spcBef>
                <a:spcPts val="0"/>
              </a:spcBef>
            </a:pPr>
            <a:r>
              <a:rPr sz="1200" b="0" i="0">
                <a:solidFill>
                  <a:srgbClr val="59595B"/>
                </a:solidFill>
                <a:latin typeface="Open Sans"/>
              </a:rPr>
              <a:t>Get Found · Account Intelligence · Internal Automation</a:t>
            </a:r>
          </a:p>
        </p:txBody>
      </p:sp>
      <p:sp>
        <p:nvSpPr>
          <p:cNvPr id="29" name="Rounded Rectangle 28"/>
          <p:cNvSpPr/>
          <p:nvPr/>
        </p:nvSpPr>
        <p:spPr>
          <a:xfrm>
            <a:off x="640080" y="5486400"/>
            <a:ext cx="566928" cy="566928"/>
          </a:xfrm>
          <a:prstGeom prst="roundRect">
            <a:avLst>
              <a:gd name="adj" fmla="val 18000"/>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5486400"/>
            <a:ext cx="566928" cy="566928"/>
          </a:xfrm>
          <a:prstGeom prst="rect">
            <a:avLst/>
          </a:prstGeom>
          <a:noFill/>
        </p:spPr>
        <p:txBody>
          <a:bodyPr wrap="square" anchor="ctr" lIns="0" rIns="0" tIns="0" bIns="0">
            <a:spAutoFit/>
          </a:bodyPr>
          <a:lstStyle/>
          <a:p>
            <a:pPr algn="ctr">
              <a:spcBef>
                <a:spcPts val="0"/>
              </a:spcBef>
            </a:pPr>
            <a:r>
              <a:rPr sz="1700" b="1" i="0">
                <a:solidFill>
                  <a:srgbClr val="FFFFFF"/>
                </a:solidFill>
                <a:latin typeface="Open Sans"/>
              </a:rPr>
              <a:t>06</a:t>
            </a:r>
          </a:p>
        </p:txBody>
      </p:sp>
      <p:sp>
        <p:nvSpPr>
          <p:cNvPr id="31" name="TextBox 30"/>
          <p:cNvSpPr txBox="1"/>
          <p:nvPr/>
        </p:nvSpPr>
        <p:spPr>
          <a:xfrm>
            <a:off x="1371600" y="5504688"/>
            <a:ext cx="9875520" cy="365760"/>
          </a:xfrm>
          <a:prstGeom prst="rect">
            <a:avLst/>
          </a:prstGeom>
          <a:noFill/>
        </p:spPr>
        <p:txBody>
          <a:bodyPr wrap="square" anchor="t" lIns="0" rIns="0" tIns="0" bIns="0">
            <a:spAutoFit/>
          </a:bodyPr>
          <a:lstStyle/>
          <a:p>
            <a:pPr algn="l">
              <a:spcBef>
                <a:spcPts val="0"/>
              </a:spcBef>
            </a:pPr>
            <a:r>
              <a:rPr sz="1650" b="1" i="0">
                <a:solidFill>
                  <a:srgbClr val="2D2D2D"/>
                </a:solidFill>
                <a:latin typeface="Open Sans"/>
              </a:rPr>
              <a:t>Investment, ROI &amp; the roadmap</a:t>
            </a:r>
          </a:p>
        </p:txBody>
      </p:sp>
      <p:sp>
        <p:nvSpPr>
          <p:cNvPr id="32" name="TextBox 31"/>
          <p:cNvSpPr txBox="1"/>
          <p:nvPr/>
        </p:nvSpPr>
        <p:spPr>
          <a:xfrm>
            <a:off x="1371600" y="5815584"/>
            <a:ext cx="9875520" cy="274320"/>
          </a:xfrm>
          <a:prstGeom prst="rect">
            <a:avLst/>
          </a:prstGeom>
          <a:noFill/>
        </p:spPr>
        <p:txBody>
          <a:bodyPr wrap="square" anchor="t" lIns="0" rIns="0" tIns="0" bIns="0">
            <a:spAutoFit/>
          </a:bodyPr>
          <a:lstStyle/>
          <a:p>
            <a:pPr algn="l">
              <a:spcBef>
                <a:spcPts val="0"/>
              </a:spcBef>
            </a:pPr>
            <a:r>
              <a:rPr sz="1200" b="0" i="0">
                <a:solidFill>
                  <a:srgbClr val="59595B"/>
                </a:solidFill>
                <a:latin typeface="Open Sans"/>
              </a:rPr>
              <a:t>Published rates, scoped in discovery · 90/180/365</a:t>
            </a:r>
          </a:p>
        </p:txBody>
      </p:sp>
      <p:sp>
        <p:nvSpPr>
          <p:cNvPr id="33" name="Rectangle 32"/>
          <p:cNvSpPr/>
          <p:nvPr/>
        </p:nvSpPr>
        <p:spPr>
          <a:xfrm>
            <a:off x="640080" y="6455664"/>
            <a:ext cx="10911535" cy="10972"/>
          </a:xfrm>
          <a:prstGeom prst="rect">
            <a:avLst/>
          </a:prstGeom>
          <a:solidFill>
            <a:srgbClr val="E9EC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6510528"/>
            <a:ext cx="7772400" cy="274320"/>
          </a:xfrm>
          <a:prstGeom prst="rect">
            <a:avLst/>
          </a:prstGeom>
          <a:noFill/>
        </p:spPr>
        <p:txBody>
          <a:bodyPr wrap="square" anchor="t" lIns="0" rIns="0" tIns="0" bIns="0">
            <a:spAutoFit/>
          </a:bodyPr>
          <a:lstStyle/>
          <a:p>
            <a:pPr algn="l">
              <a:spcBef>
                <a:spcPts val="0"/>
              </a:spcBef>
            </a:pPr>
            <a:r>
              <a:rPr sz="850" b="0" i="0">
                <a:solidFill>
                  <a:srgbClr val="9A9AA2"/>
                </a:solidFill>
                <a:latin typeface="Open Sans"/>
              </a:rPr>
              <a:t>AI-Driven Growth Blueprint  ·  Prepared for SC Fuels  ·  Confidential</a:t>
            </a:r>
          </a:p>
        </p:txBody>
      </p:sp>
      <p:sp>
        <p:nvSpPr>
          <p:cNvPr id="35" name="TextBox 34"/>
          <p:cNvSpPr txBox="1"/>
          <p:nvPr/>
        </p:nvSpPr>
        <p:spPr>
          <a:xfrm>
            <a:off x="8259775" y="6510528"/>
            <a:ext cx="2743200" cy="274320"/>
          </a:xfrm>
          <a:prstGeom prst="rect">
            <a:avLst/>
          </a:prstGeom>
          <a:noFill/>
        </p:spPr>
        <p:txBody>
          <a:bodyPr wrap="square" anchor="t" lIns="0" rIns="0" tIns="0" bIns="0">
            <a:spAutoFit/>
          </a:bodyPr>
          <a:lstStyle/>
          <a:p>
            <a:pPr algn="r">
              <a:spcBef>
                <a:spcPts val="0"/>
              </a:spcBef>
            </a:pPr>
            <a:r>
              <a:rPr sz="850" b="0" i="0">
                <a:solidFill>
                  <a:srgbClr val="9A9AA2"/>
                </a:solidFill>
                <a:latin typeface="Open Sans"/>
              </a:rPr>
              <a:t>technijian.com</a:t>
            </a:r>
          </a:p>
        </p:txBody>
      </p:sp>
      <p:sp>
        <p:nvSpPr>
          <p:cNvPr id="36" name="TextBox 35"/>
          <p:cNvSpPr txBox="1"/>
          <p:nvPr/>
        </p:nvSpPr>
        <p:spPr>
          <a:xfrm>
            <a:off x="11277295" y="6510528"/>
            <a:ext cx="274320" cy="274320"/>
          </a:xfrm>
          <a:prstGeom prst="rect">
            <a:avLst/>
          </a:prstGeom>
          <a:noFill/>
        </p:spPr>
        <p:txBody>
          <a:bodyPr wrap="square" anchor="t" lIns="0" rIns="0" tIns="0" bIns="0">
            <a:spAutoFit/>
          </a:bodyPr>
          <a:lstStyle/>
          <a:p>
            <a:pPr algn="r">
              <a:spcBef>
                <a:spcPts val="0"/>
              </a:spcBef>
            </a:pPr>
            <a:r>
              <a:rPr sz="850" b="1" i="0">
                <a:solidFill>
                  <a:srgbClr val="9A9AA2"/>
                </a:solidFill>
                <a:latin typeface="Open San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6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8016"/>
            <a:ext cx="12191695" cy="36576"/>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chnijian Logo 2.png"/>
          <p:cNvPicPr>
            <a:picLocks noChangeAspect="1"/>
          </p:cNvPicPr>
          <p:nvPr/>
        </p:nvPicPr>
        <p:blipFill>
          <a:blip r:embed="rId2"/>
          <a:stretch>
            <a:fillRect/>
          </a:stretch>
        </p:blipFill>
        <p:spPr>
          <a:xfrm>
            <a:off x="10362895" y="420624"/>
            <a:ext cx="1463040" cy="306170"/>
          </a:xfrm>
          <a:prstGeom prst="rect">
            <a:avLst/>
          </a:prstGeom>
        </p:spPr>
      </p:pic>
      <p:sp>
        <p:nvSpPr>
          <p:cNvPr id="6" name="TextBox 5"/>
          <p:cNvSpPr txBox="1"/>
          <p:nvPr/>
        </p:nvSpPr>
        <p:spPr>
          <a:xfrm>
            <a:off x="640080" y="475488"/>
            <a:ext cx="8686800" cy="274320"/>
          </a:xfrm>
          <a:prstGeom prst="rect">
            <a:avLst/>
          </a:prstGeom>
          <a:noFill/>
        </p:spPr>
        <p:txBody>
          <a:bodyPr wrap="square" anchor="t" lIns="0" rIns="0" tIns="0" bIns="0">
            <a:spAutoFit/>
          </a:bodyPr>
          <a:lstStyle/>
          <a:p>
            <a:pPr algn="l">
              <a:spcBef>
                <a:spcPts val="0"/>
              </a:spcBef>
            </a:pPr>
            <a:r>
              <a:rPr sz="1200" b="1" i="0">
                <a:solidFill>
                  <a:srgbClr val="F67D4B"/>
                </a:solidFill>
                <a:latin typeface="Open Sans"/>
              </a:rPr>
              <a:t>WHERE SC FUELS STANDS TODAY</a:t>
            </a:r>
          </a:p>
        </p:txBody>
      </p:sp>
      <p:sp>
        <p:nvSpPr>
          <p:cNvPr id="7" name="TextBox 6"/>
          <p:cNvSpPr txBox="1"/>
          <p:nvPr/>
        </p:nvSpPr>
        <p:spPr>
          <a:xfrm>
            <a:off x="640080" y="768096"/>
            <a:ext cx="9418320" cy="566928"/>
          </a:xfrm>
          <a:prstGeom prst="rect">
            <a:avLst/>
          </a:prstGeom>
          <a:noFill/>
        </p:spPr>
        <p:txBody>
          <a:bodyPr wrap="square" anchor="t" lIns="0" rIns="0" tIns="0" bIns="0">
            <a:spAutoFit/>
          </a:bodyPr>
          <a:lstStyle/>
          <a:p>
            <a:pPr algn="l">
              <a:spcBef>
                <a:spcPts val="0"/>
              </a:spcBef>
            </a:pPr>
            <a:r>
              <a:rPr sz="2600" b="1" i="0">
                <a:solidFill>
                  <a:srgbClr val="006DB6"/>
                </a:solidFill>
                <a:latin typeface="Open Sans"/>
              </a:rPr>
              <a:t>A market leader, backed by Pilot scale</a:t>
            </a:r>
          </a:p>
        </p:txBody>
      </p:sp>
      <p:sp>
        <p:nvSpPr>
          <p:cNvPr id="8" name="Rectangle 7"/>
          <p:cNvSpPr/>
          <p:nvPr/>
        </p:nvSpPr>
        <p:spPr>
          <a:xfrm>
            <a:off x="658368" y="1481328"/>
            <a:ext cx="1371600" cy="41148"/>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0080" y="1828800"/>
            <a:ext cx="3456432" cy="1783080"/>
          </a:xfrm>
          <a:prstGeom prst="roundRect">
            <a:avLst>
              <a:gd name="adj" fmla="val 6000"/>
            </a:avLst>
          </a:prstGeom>
          <a:solidFill>
            <a:srgbClr val="FFFFFF"/>
          </a:solidFill>
          <a:ln w="12700">
            <a:solidFill>
              <a:srgbClr val="E9EC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828800"/>
            <a:ext cx="91440" cy="1783080"/>
          </a:xfrm>
          <a:prstGeom prst="rect">
            <a:avLst/>
          </a:prstGeom>
          <a:solidFill>
            <a:srgbClr val="006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029968"/>
            <a:ext cx="2999232" cy="640080"/>
          </a:xfrm>
          <a:prstGeom prst="rect">
            <a:avLst/>
          </a:prstGeom>
          <a:noFill/>
        </p:spPr>
        <p:txBody>
          <a:bodyPr wrap="square" anchor="t" lIns="0" rIns="0" tIns="0" bIns="0">
            <a:spAutoFit/>
          </a:bodyPr>
          <a:lstStyle/>
          <a:p>
            <a:pPr algn="l">
              <a:spcBef>
                <a:spcPts val="0"/>
              </a:spcBef>
            </a:pPr>
            <a:r>
              <a:rPr sz="4000" b="1" i="0">
                <a:solidFill>
                  <a:srgbClr val="006DB6"/>
                </a:solidFill>
                <a:latin typeface="Open Sans"/>
              </a:rPr>
              <a:t>1930</a:t>
            </a:r>
          </a:p>
        </p:txBody>
      </p:sp>
      <p:sp>
        <p:nvSpPr>
          <p:cNvPr id="12" name="TextBox 11"/>
          <p:cNvSpPr txBox="1"/>
          <p:nvPr/>
        </p:nvSpPr>
        <p:spPr>
          <a:xfrm>
            <a:off x="950976" y="2788920"/>
            <a:ext cx="2999232" cy="320040"/>
          </a:xfrm>
          <a:prstGeom prst="rect">
            <a:avLst/>
          </a:prstGeom>
          <a:noFill/>
        </p:spPr>
        <p:txBody>
          <a:bodyPr wrap="square" anchor="t" lIns="0" rIns="0" tIns="0" bIns="0">
            <a:spAutoFit/>
          </a:bodyPr>
          <a:lstStyle/>
          <a:p>
            <a:pPr algn="l">
              <a:spcBef>
                <a:spcPts val="0"/>
              </a:spcBef>
            </a:pPr>
            <a:r>
              <a:rPr sz="1450" b="1" i="0">
                <a:solidFill>
                  <a:srgbClr val="2D2D2D"/>
                </a:solidFill>
                <a:latin typeface="Open Sans"/>
              </a:rPr>
              <a:t>Founded</a:t>
            </a:r>
          </a:p>
        </p:txBody>
      </p:sp>
      <p:sp>
        <p:nvSpPr>
          <p:cNvPr id="13" name="TextBox 12"/>
          <p:cNvSpPr txBox="1"/>
          <p:nvPr/>
        </p:nvSpPr>
        <p:spPr>
          <a:xfrm>
            <a:off x="950976" y="3127248"/>
            <a:ext cx="2999232" cy="365760"/>
          </a:xfrm>
          <a:prstGeom prst="rect">
            <a:avLst/>
          </a:prstGeom>
          <a:noFill/>
        </p:spPr>
        <p:txBody>
          <a:bodyPr wrap="square" anchor="t" lIns="0" rIns="0" tIns="0" bIns="0">
            <a:spAutoFit/>
          </a:bodyPr>
          <a:lstStyle/>
          <a:p>
            <a:pPr algn="l">
              <a:spcBef>
                <a:spcPts val="0"/>
              </a:spcBef>
            </a:pPr>
            <a:r>
              <a:rPr sz="1100" b="0" i="0">
                <a:solidFill>
                  <a:srgbClr val="59595B"/>
                </a:solidFill>
                <a:latin typeface="Open Sans"/>
              </a:rPr>
              <a:t>Signal Oil distributorship</a:t>
            </a:r>
          </a:p>
        </p:txBody>
      </p:sp>
      <p:sp>
        <p:nvSpPr>
          <p:cNvPr id="14" name="Rounded Rectangle 13"/>
          <p:cNvSpPr/>
          <p:nvPr/>
        </p:nvSpPr>
        <p:spPr>
          <a:xfrm>
            <a:off x="4352544" y="1828800"/>
            <a:ext cx="3456432" cy="1783080"/>
          </a:xfrm>
          <a:prstGeom prst="roundRect">
            <a:avLst>
              <a:gd name="adj" fmla="val 6000"/>
            </a:avLst>
          </a:prstGeom>
          <a:solidFill>
            <a:srgbClr val="FFFFFF"/>
          </a:solidFill>
          <a:ln w="12700">
            <a:solidFill>
              <a:srgbClr val="E9EC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52544" y="1828800"/>
            <a:ext cx="91440" cy="1783080"/>
          </a:xfrm>
          <a:prstGeom prst="rect">
            <a:avLst/>
          </a:prstGeom>
          <a:solidFill>
            <a:srgbClr val="1EA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45152" y="2029968"/>
            <a:ext cx="2999232" cy="640080"/>
          </a:xfrm>
          <a:prstGeom prst="rect">
            <a:avLst/>
          </a:prstGeom>
          <a:noFill/>
        </p:spPr>
        <p:txBody>
          <a:bodyPr wrap="square" anchor="t" lIns="0" rIns="0" tIns="0" bIns="0">
            <a:spAutoFit/>
          </a:bodyPr>
          <a:lstStyle/>
          <a:p>
            <a:pPr algn="l">
              <a:spcBef>
                <a:spcPts val="0"/>
              </a:spcBef>
            </a:pPr>
            <a:r>
              <a:rPr sz="4000" b="1" i="0">
                <a:solidFill>
                  <a:srgbClr val="1EAAC8"/>
                </a:solidFill>
                <a:latin typeface="Open Sans"/>
              </a:rPr>
              <a:t>~900</a:t>
            </a:r>
          </a:p>
        </p:txBody>
      </p:sp>
      <p:sp>
        <p:nvSpPr>
          <p:cNvPr id="17" name="TextBox 16"/>
          <p:cNvSpPr txBox="1"/>
          <p:nvPr/>
        </p:nvSpPr>
        <p:spPr>
          <a:xfrm>
            <a:off x="4663440" y="2788920"/>
            <a:ext cx="2999232" cy="320040"/>
          </a:xfrm>
          <a:prstGeom prst="rect">
            <a:avLst/>
          </a:prstGeom>
          <a:noFill/>
        </p:spPr>
        <p:txBody>
          <a:bodyPr wrap="square" anchor="t" lIns="0" rIns="0" tIns="0" bIns="0">
            <a:spAutoFit/>
          </a:bodyPr>
          <a:lstStyle/>
          <a:p>
            <a:pPr algn="l">
              <a:spcBef>
                <a:spcPts val="0"/>
              </a:spcBef>
            </a:pPr>
            <a:r>
              <a:rPr sz="1450" b="1" i="0">
                <a:solidFill>
                  <a:srgbClr val="2D2D2D"/>
                </a:solidFill>
                <a:latin typeface="Open Sans"/>
              </a:rPr>
              <a:t>Employees</a:t>
            </a:r>
          </a:p>
        </p:txBody>
      </p:sp>
      <p:sp>
        <p:nvSpPr>
          <p:cNvPr id="18" name="TextBox 17"/>
          <p:cNvSpPr txBox="1"/>
          <p:nvPr/>
        </p:nvSpPr>
        <p:spPr>
          <a:xfrm>
            <a:off x="4663440" y="3127248"/>
            <a:ext cx="2999232" cy="365760"/>
          </a:xfrm>
          <a:prstGeom prst="rect">
            <a:avLst/>
          </a:prstGeom>
          <a:noFill/>
        </p:spPr>
        <p:txBody>
          <a:bodyPr wrap="square" anchor="t" lIns="0" rIns="0" tIns="0" bIns="0">
            <a:spAutoFit/>
          </a:bodyPr>
          <a:lstStyle/>
          <a:p>
            <a:pPr algn="l">
              <a:spcBef>
                <a:spcPts val="0"/>
              </a:spcBef>
            </a:pPr>
            <a:r>
              <a:rPr sz="1100" b="0" i="0">
                <a:solidFill>
                  <a:srgbClr val="59595B"/>
                </a:solidFill>
                <a:latin typeface="Open Sans"/>
              </a:rPr>
              <a:t>Across 15+ Western states</a:t>
            </a:r>
          </a:p>
        </p:txBody>
      </p:sp>
      <p:sp>
        <p:nvSpPr>
          <p:cNvPr id="19" name="Rounded Rectangle 18"/>
          <p:cNvSpPr/>
          <p:nvPr/>
        </p:nvSpPr>
        <p:spPr>
          <a:xfrm>
            <a:off x="8065007" y="1828800"/>
            <a:ext cx="3456432" cy="1783080"/>
          </a:xfrm>
          <a:prstGeom prst="roundRect">
            <a:avLst>
              <a:gd name="adj" fmla="val 6000"/>
            </a:avLst>
          </a:prstGeom>
          <a:solidFill>
            <a:srgbClr val="FFFFFF"/>
          </a:solidFill>
          <a:ln w="12700">
            <a:solidFill>
              <a:srgbClr val="E9EC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65007" y="1828800"/>
            <a:ext cx="91440" cy="1783080"/>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57615" y="2029968"/>
            <a:ext cx="2999232" cy="640080"/>
          </a:xfrm>
          <a:prstGeom prst="rect">
            <a:avLst/>
          </a:prstGeom>
          <a:noFill/>
        </p:spPr>
        <p:txBody>
          <a:bodyPr wrap="square" anchor="t" lIns="0" rIns="0" tIns="0" bIns="0">
            <a:spAutoFit/>
          </a:bodyPr>
          <a:lstStyle/>
          <a:p>
            <a:pPr algn="l">
              <a:spcBef>
                <a:spcPts val="0"/>
              </a:spcBef>
            </a:pPr>
            <a:r>
              <a:rPr sz="4000" b="1" i="0">
                <a:solidFill>
                  <a:srgbClr val="F67D4B"/>
                </a:solidFill>
                <a:latin typeface="Open Sans"/>
              </a:rPr>
              <a:t>11,000+</a:t>
            </a:r>
          </a:p>
        </p:txBody>
      </p:sp>
      <p:sp>
        <p:nvSpPr>
          <p:cNvPr id="22" name="TextBox 21"/>
          <p:cNvSpPr txBox="1"/>
          <p:nvPr/>
        </p:nvSpPr>
        <p:spPr>
          <a:xfrm>
            <a:off x="8375903" y="2788920"/>
            <a:ext cx="2999232" cy="320040"/>
          </a:xfrm>
          <a:prstGeom prst="rect">
            <a:avLst/>
          </a:prstGeom>
          <a:noFill/>
        </p:spPr>
        <p:txBody>
          <a:bodyPr wrap="square" anchor="t" lIns="0" rIns="0" tIns="0" bIns="0">
            <a:spAutoFit/>
          </a:bodyPr>
          <a:lstStyle/>
          <a:p>
            <a:pPr algn="l">
              <a:spcBef>
                <a:spcPts val="0"/>
              </a:spcBef>
            </a:pPr>
            <a:r>
              <a:rPr sz="1450" b="1" i="0">
                <a:solidFill>
                  <a:srgbClr val="2D2D2D"/>
                </a:solidFill>
                <a:latin typeface="Open Sans"/>
              </a:rPr>
              <a:t>Commercial customers</a:t>
            </a:r>
          </a:p>
        </p:txBody>
      </p:sp>
      <p:sp>
        <p:nvSpPr>
          <p:cNvPr id="23" name="TextBox 22"/>
          <p:cNvSpPr txBox="1"/>
          <p:nvPr/>
        </p:nvSpPr>
        <p:spPr>
          <a:xfrm>
            <a:off x="8375903" y="3127248"/>
            <a:ext cx="2999232" cy="365760"/>
          </a:xfrm>
          <a:prstGeom prst="rect">
            <a:avLst/>
          </a:prstGeom>
          <a:noFill/>
        </p:spPr>
        <p:txBody>
          <a:bodyPr wrap="square" anchor="t" lIns="0" rIns="0" tIns="0" bIns="0">
            <a:spAutoFit/>
          </a:bodyPr>
          <a:lstStyle/>
          <a:p>
            <a:pPr algn="l">
              <a:spcBef>
                <a:spcPts val="0"/>
              </a:spcBef>
            </a:pPr>
            <a:r>
              <a:rPr sz="1100" b="0" i="0">
                <a:solidFill>
                  <a:srgbClr val="59595B"/>
                </a:solidFill>
                <a:latin typeface="Open Sans"/>
              </a:rPr>
              <a:t>Family business → Fortune 500</a:t>
            </a:r>
          </a:p>
        </p:txBody>
      </p:sp>
      <p:sp>
        <p:nvSpPr>
          <p:cNvPr id="24" name="Rounded Rectangle 23"/>
          <p:cNvSpPr/>
          <p:nvPr/>
        </p:nvSpPr>
        <p:spPr>
          <a:xfrm>
            <a:off x="640080" y="3904487"/>
            <a:ext cx="3456432" cy="1783080"/>
          </a:xfrm>
          <a:prstGeom prst="roundRect">
            <a:avLst>
              <a:gd name="adj" fmla="val 6000"/>
            </a:avLst>
          </a:prstGeom>
          <a:solidFill>
            <a:srgbClr val="FFFFFF"/>
          </a:solidFill>
          <a:ln w="12700">
            <a:solidFill>
              <a:srgbClr val="E9EC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 y="3904487"/>
            <a:ext cx="91440" cy="1783080"/>
          </a:xfrm>
          <a:prstGeom prst="rect">
            <a:avLst/>
          </a:prstGeom>
          <a:solidFill>
            <a:srgbClr val="006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2688" y="4105655"/>
            <a:ext cx="2999232" cy="640080"/>
          </a:xfrm>
          <a:prstGeom prst="rect">
            <a:avLst/>
          </a:prstGeom>
          <a:noFill/>
        </p:spPr>
        <p:txBody>
          <a:bodyPr wrap="square" anchor="t" lIns="0" rIns="0" tIns="0" bIns="0">
            <a:spAutoFit/>
          </a:bodyPr>
          <a:lstStyle/>
          <a:p>
            <a:pPr algn="l">
              <a:spcBef>
                <a:spcPts val="0"/>
              </a:spcBef>
            </a:pPr>
            <a:r>
              <a:rPr sz="4000" b="1" i="0">
                <a:solidFill>
                  <a:srgbClr val="006DB6"/>
                </a:solidFill>
                <a:latin typeface="Open Sans"/>
              </a:rPr>
              <a:t>1B+</a:t>
            </a:r>
          </a:p>
        </p:txBody>
      </p:sp>
      <p:sp>
        <p:nvSpPr>
          <p:cNvPr id="27" name="TextBox 26"/>
          <p:cNvSpPr txBox="1"/>
          <p:nvPr/>
        </p:nvSpPr>
        <p:spPr>
          <a:xfrm>
            <a:off x="950976" y="4864607"/>
            <a:ext cx="2999232" cy="320040"/>
          </a:xfrm>
          <a:prstGeom prst="rect">
            <a:avLst/>
          </a:prstGeom>
          <a:noFill/>
        </p:spPr>
        <p:txBody>
          <a:bodyPr wrap="square" anchor="t" lIns="0" rIns="0" tIns="0" bIns="0">
            <a:spAutoFit/>
          </a:bodyPr>
          <a:lstStyle/>
          <a:p>
            <a:pPr algn="l">
              <a:spcBef>
                <a:spcPts val="0"/>
              </a:spcBef>
            </a:pPr>
            <a:r>
              <a:rPr sz="1450" b="1" i="0">
                <a:solidFill>
                  <a:srgbClr val="2D2D2D"/>
                </a:solidFill>
                <a:latin typeface="Open Sans"/>
              </a:rPr>
              <a:t>Gallons / year</a:t>
            </a:r>
          </a:p>
        </p:txBody>
      </p:sp>
      <p:sp>
        <p:nvSpPr>
          <p:cNvPr id="28" name="TextBox 27"/>
          <p:cNvSpPr txBox="1"/>
          <p:nvPr/>
        </p:nvSpPr>
        <p:spPr>
          <a:xfrm>
            <a:off x="950976" y="5202936"/>
            <a:ext cx="2999232" cy="365760"/>
          </a:xfrm>
          <a:prstGeom prst="rect">
            <a:avLst/>
          </a:prstGeom>
          <a:noFill/>
        </p:spPr>
        <p:txBody>
          <a:bodyPr wrap="square" anchor="t" lIns="0" rIns="0" tIns="0" bIns="0">
            <a:spAutoFit/>
          </a:bodyPr>
          <a:lstStyle/>
          <a:p>
            <a:pPr algn="l">
              <a:spcBef>
                <a:spcPts val="0"/>
              </a:spcBef>
            </a:pPr>
            <a:r>
              <a:rPr sz="1100" b="0" i="0">
                <a:solidFill>
                  <a:srgbClr val="59595B"/>
                </a:solidFill>
                <a:latin typeface="Open Sans"/>
              </a:rPr>
              <a:t>Fuel + lubricants + DEF</a:t>
            </a:r>
          </a:p>
        </p:txBody>
      </p:sp>
      <p:sp>
        <p:nvSpPr>
          <p:cNvPr id="29" name="Rounded Rectangle 28"/>
          <p:cNvSpPr/>
          <p:nvPr/>
        </p:nvSpPr>
        <p:spPr>
          <a:xfrm>
            <a:off x="4352544" y="3904487"/>
            <a:ext cx="3456432" cy="1783080"/>
          </a:xfrm>
          <a:prstGeom prst="roundRect">
            <a:avLst>
              <a:gd name="adj" fmla="val 6000"/>
            </a:avLst>
          </a:prstGeom>
          <a:solidFill>
            <a:srgbClr val="FFFFFF"/>
          </a:solidFill>
          <a:ln w="12700">
            <a:solidFill>
              <a:srgbClr val="E9EC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52544" y="3904487"/>
            <a:ext cx="91440" cy="1783080"/>
          </a:xfrm>
          <a:prstGeom prst="rect">
            <a:avLst/>
          </a:prstGeom>
          <a:solidFill>
            <a:srgbClr val="1EA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45152" y="4105655"/>
            <a:ext cx="2999232" cy="640080"/>
          </a:xfrm>
          <a:prstGeom prst="rect">
            <a:avLst/>
          </a:prstGeom>
          <a:noFill/>
        </p:spPr>
        <p:txBody>
          <a:bodyPr wrap="square" anchor="t" lIns="0" rIns="0" tIns="0" bIns="0">
            <a:spAutoFit/>
          </a:bodyPr>
          <a:lstStyle/>
          <a:p>
            <a:pPr algn="l">
              <a:spcBef>
                <a:spcPts val="0"/>
              </a:spcBef>
            </a:pPr>
            <a:r>
              <a:rPr sz="4000" b="1" i="0">
                <a:solidFill>
                  <a:srgbClr val="1EAAC8"/>
                </a:solidFill>
                <a:latin typeface="Open Sans"/>
              </a:rPr>
              <a:t>15+</a:t>
            </a:r>
          </a:p>
        </p:txBody>
      </p:sp>
      <p:sp>
        <p:nvSpPr>
          <p:cNvPr id="32" name="TextBox 31"/>
          <p:cNvSpPr txBox="1"/>
          <p:nvPr/>
        </p:nvSpPr>
        <p:spPr>
          <a:xfrm>
            <a:off x="4663440" y="4864607"/>
            <a:ext cx="2999232" cy="320040"/>
          </a:xfrm>
          <a:prstGeom prst="rect">
            <a:avLst/>
          </a:prstGeom>
          <a:noFill/>
        </p:spPr>
        <p:txBody>
          <a:bodyPr wrap="square" anchor="t" lIns="0" rIns="0" tIns="0" bIns="0">
            <a:spAutoFit/>
          </a:bodyPr>
          <a:lstStyle/>
          <a:p>
            <a:pPr algn="l">
              <a:spcBef>
                <a:spcPts val="0"/>
              </a:spcBef>
            </a:pPr>
            <a:r>
              <a:rPr sz="1450" b="1" i="0">
                <a:solidFill>
                  <a:srgbClr val="2D2D2D"/>
                </a:solidFill>
                <a:latin typeface="Open Sans"/>
              </a:rPr>
              <a:t>Western states</a:t>
            </a:r>
          </a:p>
        </p:txBody>
      </p:sp>
      <p:sp>
        <p:nvSpPr>
          <p:cNvPr id="33" name="TextBox 32"/>
          <p:cNvSpPr txBox="1"/>
          <p:nvPr/>
        </p:nvSpPr>
        <p:spPr>
          <a:xfrm>
            <a:off x="4663440" y="5202936"/>
            <a:ext cx="2999232" cy="365760"/>
          </a:xfrm>
          <a:prstGeom prst="rect">
            <a:avLst/>
          </a:prstGeom>
          <a:noFill/>
        </p:spPr>
        <p:txBody>
          <a:bodyPr wrap="square" anchor="t" lIns="0" rIns="0" tIns="0" bIns="0">
            <a:spAutoFit/>
          </a:bodyPr>
          <a:lstStyle/>
          <a:p>
            <a:pPr algn="l">
              <a:spcBef>
                <a:spcPts val="0"/>
              </a:spcBef>
            </a:pPr>
            <a:r>
              <a:rPr sz="1100" b="0" i="0">
                <a:solidFill>
                  <a:srgbClr val="59595B"/>
                </a:solidFill>
                <a:latin typeface="Open Sans"/>
              </a:rPr>
              <a:t>SoCal HQ + regional branches</a:t>
            </a:r>
          </a:p>
        </p:txBody>
      </p:sp>
      <p:sp>
        <p:nvSpPr>
          <p:cNvPr id="34" name="Rounded Rectangle 33"/>
          <p:cNvSpPr/>
          <p:nvPr/>
        </p:nvSpPr>
        <p:spPr>
          <a:xfrm>
            <a:off x="8065007" y="3904487"/>
            <a:ext cx="3456432" cy="1783080"/>
          </a:xfrm>
          <a:prstGeom prst="roundRect">
            <a:avLst>
              <a:gd name="adj" fmla="val 6000"/>
            </a:avLst>
          </a:prstGeom>
          <a:solidFill>
            <a:srgbClr val="FFFFFF"/>
          </a:solidFill>
          <a:ln w="12700">
            <a:solidFill>
              <a:srgbClr val="E9EC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65007" y="3904487"/>
            <a:ext cx="91440" cy="1783080"/>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57615" y="4105655"/>
            <a:ext cx="2999232" cy="640080"/>
          </a:xfrm>
          <a:prstGeom prst="rect">
            <a:avLst/>
          </a:prstGeom>
          <a:noFill/>
        </p:spPr>
        <p:txBody>
          <a:bodyPr wrap="square" anchor="t" lIns="0" rIns="0" tIns="0" bIns="0">
            <a:spAutoFit/>
          </a:bodyPr>
          <a:lstStyle/>
          <a:p>
            <a:pPr algn="l">
              <a:spcBef>
                <a:spcPts val="0"/>
              </a:spcBef>
            </a:pPr>
            <a:r>
              <a:rPr sz="4000" b="1" i="0">
                <a:solidFill>
                  <a:srgbClr val="F67D4B"/>
                </a:solidFill>
                <a:latin typeface="Open Sans"/>
              </a:rPr>
              <a:t>Pilot</a:t>
            </a:r>
          </a:p>
        </p:txBody>
      </p:sp>
      <p:sp>
        <p:nvSpPr>
          <p:cNvPr id="37" name="TextBox 36"/>
          <p:cNvSpPr txBox="1"/>
          <p:nvPr/>
        </p:nvSpPr>
        <p:spPr>
          <a:xfrm>
            <a:off x="8375903" y="4864607"/>
            <a:ext cx="2999232" cy="320040"/>
          </a:xfrm>
          <a:prstGeom prst="rect">
            <a:avLst/>
          </a:prstGeom>
          <a:noFill/>
        </p:spPr>
        <p:txBody>
          <a:bodyPr wrap="square" anchor="t" lIns="0" rIns="0" tIns="0" bIns="0">
            <a:spAutoFit/>
          </a:bodyPr>
          <a:lstStyle/>
          <a:p>
            <a:pPr algn="l">
              <a:spcBef>
                <a:spcPts val="0"/>
              </a:spcBef>
            </a:pPr>
            <a:r>
              <a:rPr sz="1450" b="1" i="0">
                <a:solidFill>
                  <a:srgbClr val="2D2D2D"/>
                </a:solidFill>
                <a:latin typeface="Open Sans"/>
              </a:rPr>
              <a:t>Berkshire-backed</a:t>
            </a:r>
          </a:p>
        </p:txBody>
      </p:sp>
      <p:sp>
        <p:nvSpPr>
          <p:cNvPr id="38" name="TextBox 37"/>
          <p:cNvSpPr txBox="1"/>
          <p:nvPr/>
        </p:nvSpPr>
        <p:spPr>
          <a:xfrm>
            <a:off x="8375903" y="5202936"/>
            <a:ext cx="2999232" cy="365760"/>
          </a:xfrm>
          <a:prstGeom prst="rect">
            <a:avLst/>
          </a:prstGeom>
          <a:noFill/>
        </p:spPr>
        <p:txBody>
          <a:bodyPr wrap="square" anchor="t" lIns="0" rIns="0" tIns="0" bIns="0">
            <a:spAutoFit/>
          </a:bodyPr>
          <a:lstStyle/>
          <a:p>
            <a:pPr algn="l">
              <a:spcBef>
                <a:spcPts val="0"/>
              </a:spcBef>
            </a:pPr>
            <a:r>
              <a:rPr sz="1100" b="0" i="0">
                <a:solidFill>
                  <a:srgbClr val="59595B"/>
                </a:solidFill>
                <a:latin typeface="Open Sans"/>
              </a:rPr>
              <a:t>Acquired Nov 2021 · the consolidator</a:t>
            </a:r>
          </a:p>
        </p:txBody>
      </p:sp>
      <p:sp>
        <p:nvSpPr>
          <p:cNvPr id="39" name="Rectangle 38"/>
          <p:cNvSpPr/>
          <p:nvPr/>
        </p:nvSpPr>
        <p:spPr>
          <a:xfrm>
            <a:off x="640080" y="6455664"/>
            <a:ext cx="10911535" cy="10972"/>
          </a:xfrm>
          <a:prstGeom prst="rect">
            <a:avLst/>
          </a:prstGeom>
          <a:solidFill>
            <a:srgbClr val="E9EC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 y="6510528"/>
            <a:ext cx="7772400" cy="274320"/>
          </a:xfrm>
          <a:prstGeom prst="rect">
            <a:avLst/>
          </a:prstGeom>
          <a:noFill/>
        </p:spPr>
        <p:txBody>
          <a:bodyPr wrap="square" anchor="t" lIns="0" rIns="0" tIns="0" bIns="0">
            <a:spAutoFit/>
          </a:bodyPr>
          <a:lstStyle/>
          <a:p>
            <a:pPr algn="l">
              <a:spcBef>
                <a:spcPts val="0"/>
              </a:spcBef>
            </a:pPr>
            <a:r>
              <a:rPr sz="850" b="0" i="0">
                <a:solidFill>
                  <a:srgbClr val="9A9AA2"/>
                </a:solidFill>
                <a:latin typeface="Open Sans"/>
              </a:rPr>
              <a:t>AI-Driven Growth Blueprint  ·  Prepared for SC Fuels  ·  Confidential</a:t>
            </a:r>
          </a:p>
        </p:txBody>
      </p:sp>
      <p:sp>
        <p:nvSpPr>
          <p:cNvPr id="41" name="TextBox 40"/>
          <p:cNvSpPr txBox="1"/>
          <p:nvPr/>
        </p:nvSpPr>
        <p:spPr>
          <a:xfrm>
            <a:off x="8259775" y="6510528"/>
            <a:ext cx="2743200" cy="274320"/>
          </a:xfrm>
          <a:prstGeom prst="rect">
            <a:avLst/>
          </a:prstGeom>
          <a:noFill/>
        </p:spPr>
        <p:txBody>
          <a:bodyPr wrap="square" anchor="t" lIns="0" rIns="0" tIns="0" bIns="0">
            <a:spAutoFit/>
          </a:bodyPr>
          <a:lstStyle/>
          <a:p>
            <a:pPr algn="r">
              <a:spcBef>
                <a:spcPts val="0"/>
              </a:spcBef>
            </a:pPr>
            <a:r>
              <a:rPr sz="850" b="0" i="0">
                <a:solidFill>
                  <a:srgbClr val="9A9AA2"/>
                </a:solidFill>
                <a:latin typeface="Open Sans"/>
              </a:rPr>
              <a:t>technijian.com</a:t>
            </a:r>
          </a:p>
        </p:txBody>
      </p:sp>
      <p:sp>
        <p:nvSpPr>
          <p:cNvPr id="42" name="TextBox 41"/>
          <p:cNvSpPr txBox="1"/>
          <p:nvPr/>
        </p:nvSpPr>
        <p:spPr>
          <a:xfrm>
            <a:off x="11277295" y="6510528"/>
            <a:ext cx="274320" cy="274320"/>
          </a:xfrm>
          <a:prstGeom prst="rect">
            <a:avLst/>
          </a:prstGeom>
          <a:noFill/>
        </p:spPr>
        <p:txBody>
          <a:bodyPr wrap="square" anchor="t" lIns="0" rIns="0" tIns="0" bIns="0">
            <a:spAutoFit/>
          </a:bodyPr>
          <a:lstStyle/>
          <a:p>
            <a:pPr algn="r">
              <a:spcBef>
                <a:spcPts val="0"/>
              </a:spcBef>
            </a:pPr>
            <a:r>
              <a:rPr sz="850" b="1" i="0">
                <a:solidFill>
                  <a:srgbClr val="9A9AA2"/>
                </a:solidFill>
                <a:latin typeface="Open San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6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8016"/>
            <a:ext cx="12191695" cy="36576"/>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chnijian Logo 2.png"/>
          <p:cNvPicPr>
            <a:picLocks noChangeAspect="1"/>
          </p:cNvPicPr>
          <p:nvPr/>
        </p:nvPicPr>
        <p:blipFill>
          <a:blip r:embed="rId2"/>
          <a:stretch>
            <a:fillRect/>
          </a:stretch>
        </p:blipFill>
        <p:spPr>
          <a:xfrm>
            <a:off x="10362895" y="420624"/>
            <a:ext cx="1463040" cy="306170"/>
          </a:xfrm>
          <a:prstGeom prst="rect">
            <a:avLst/>
          </a:prstGeom>
        </p:spPr>
      </p:pic>
      <p:sp>
        <p:nvSpPr>
          <p:cNvPr id="6" name="TextBox 5"/>
          <p:cNvSpPr txBox="1"/>
          <p:nvPr/>
        </p:nvSpPr>
        <p:spPr>
          <a:xfrm>
            <a:off x="640080" y="475488"/>
            <a:ext cx="8686800" cy="274320"/>
          </a:xfrm>
          <a:prstGeom prst="rect">
            <a:avLst/>
          </a:prstGeom>
          <a:noFill/>
        </p:spPr>
        <p:txBody>
          <a:bodyPr wrap="square" anchor="t" lIns="0" rIns="0" tIns="0" bIns="0">
            <a:spAutoFit/>
          </a:bodyPr>
          <a:lstStyle/>
          <a:p>
            <a:pPr algn="l">
              <a:spcBef>
                <a:spcPts val="0"/>
              </a:spcBef>
            </a:pPr>
            <a:r>
              <a:rPr sz="1200" b="1" i="0">
                <a:solidFill>
                  <a:srgbClr val="F67D4B"/>
                </a:solidFill>
                <a:latin typeface="Open Sans"/>
              </a:rPr>
              <a:t>THE STRATEGIC FRAME</a:t>
            </a:r>
          </a:p>
        </p:txBody>
      </p:sp>
      <p:sp>
        <p:nvSpPr>
          <p:cNvPr id="7" name="TextBox 6"/>
          <p:cNvSpPr txBox="1"/>
          <p:nvPr/>
        </p:nvSpPr>
        <p:spPr>
          <a:xfrm>
            <a:off x="640080" y="768096"/>
            <a:ext cx="9418320" cy="566928"/>
          </a:xfrm>
          <a:prstGeom prst="rect">
            <a:avLst/>
          </a:prstGeom>
          <a:noFill/>
        </p:spPr>
        <p:txBody>
          <a:bodyPr wrap="square" anchor="t" lIns="0" rIns="0" tIns="0" bIns="0">
            <a:spAutoFit/>
          </a:bodyPr>
          <a:lstStyle/>
          <a:p>
            <a:pPr algn="l">
              <a:spcBef>
                <a:spcPts val="0"/>
              </a:spcBef>
            </a:pPr>
            <a:r>
              <a:rPr sz="2600" b="1" i="0">
                <a:solidFill>
                  <a:srgbClr val="006DB6"/>
                </a:solidFill>
                <a:latin typeface="Open Sans"/>
              </a:rPr>
              <a:t>Three jobs AI does for a market leader</a:t>
            </a:r>
          </a:p>
        </p:txBody>
      </p:sp>
      <p:sp>
        <p:nvSpPr>
          <p:cNvPr id="8" name="Rectangle 7"/>
          <p:cNvSpPr/>
          <p:nvPr/>
        </p:nvSpPr>
        <p:spPr>
          <a:xfrm>
            <a:off x="658368" y="1481328"/>
            <a:ext cx="1371600" cy="41148"/>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0080" y="1965960"/>
            <a:ext cx="3529584" cy="3383280"/>
          </a:xfrm>
          <a:prstGeom prst="roundRect">
            <a:avLst>
              <a:gd name="adj" fmla="val 5000"/>
            </a:avLst>
          </a:prstGeom>
          <a:solidFill>
            <a:srgbClr val="F8F9FA"/>
          </a:solidFill>
          <a:ln w="12700">
            <a:solidFill>
              <a:srgbClr val="E9EC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965960"/>
            <a:ext cx="3529584" cy="128016"/>
          </a:xfrm>
          <a:prstGeom prst="rect">
            <a:avLst/>
          </a:prstGeom>
          <a:solidFill>
            <a:srgbClr val="006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14400" y="2350008"/>
            <a:ext cx="1737360" cy="420624"/>
          </a:xfrm>
          <a:prstGeom prst="roundRect">
            <a:avLst>
              <a:gd name="adj" fmla="val 20000"/>
            </a:avLst>
          </a:prstGeom>
          <a:solidFill>
            <a:srgbClr val="006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350008"/>
            <a:ext cx="1737360" cy="420624"/>
          </a:xfrm>
          <a:prstGeom prst="rect">
            <a:avLst/>
          </a:prstGeom>
          <a:noFill/>
        </p:spPr>
        <p:txBody>
          <a:bodyPr wrap="square" anchor="ctr" lIns="0" rIns="0" tIns="0" bIns="0">
            <a:spAutoFit/>
          </a:bodyPr>
          <a:lstStyle/>
          <a:p>
            <a:pPr algn="ctr">
              <a:spcBef>
                <a:spcPts val="0"/>
              </a:spcBef>
            </a:pPr>
            <a:r>
              <a:rPr sz="1150" b="1" i="0">
                <a:solidFill>
                  <a:srgbClr val="FFFFFF"/>
                </a:solidFill>
                <a:latin typeface="Open Sans"/>
              </a:rPr>
              <a:t>DEFEND</a:t>
            </a:r>
          </a:p>
        </p:txBody>
      </p:sp>
      <p:sp>
        <p:nvSpPr>
          <p:cNvPr id="13" name="TextBox 12"/>
          <p:cNvSpPr txBox="1"/>
          <p:nvPr/>
        </p:nvSpPr>
        <p:spPr>
          <a:xfrm>
            <a:off x="914400" y="3017520"/>
            <a:ext cx="2980944" cy="457200"/>
          </a:xfrm>
          <a:prstGeom prst="rect">
            <a:avLst/>
          </a:prstGeom>
          <a:noFill/>
        </p:spPr>
        <p:txBody>
          <a:bodyPr wrap="square" anchor="t" lIns="0" rIns="0" tIns="0" bIns="0">
            <a:spAutoFit/>
          </a:bodyPr>
          <a:lstStyle/>
          <a:p>
            <a:pPr algn="l">
              <a:spcBef>
                <a:spcPts val="0"/>
              </a:spcBef>
            </a:pPr>
            <a:r>
              <a:rPr sz="1900" b="1" i="0">
                <a:solidFill>
                  <a:srgbClr val="2D2D2D"/>
                </a:solidFill>
                <a:latin typeface="Open Sans"/>
              </a:rPr>
              <a:t>Defend share</a:t>
            </a:r>
          </a:p>
        </p:txBody>
      </p:sp>
      <p:sp>
        <p:nvSpPr>
          <p:cNvPr id="14" name="TextBox 13"/>
          <p:cNvSpPr txBox="1"/>
          <p:nvPr/>
        </p:nvSpPr>
        <p:spPr>
          <a:xfrm>
            <a:off x="914400" y="3566160"/>
            <a:ext cx="2980944" cy="1554480"/>
          </a:xfrm>
          <a:prstGeom prst="rect">
            <a:avLst/>
          </a:prstGeom>
          <a:noFill/>
        </p:spPr>
        <p:txBody>
          <a:bodyPr wrap="square" anchor="t" lIns="0" rIns="0" tIns="0" bIns="0">
            <a:spAutoFit/>
          </a:bodyPr>
          <a:lstStyle/>
          <a:p>
            <a:pPr algn="l">
              <a:lnSpc>
                <a:spcPct val="125000"/>
              </a:lnSpc>
              <a:spcBef>
                <a:spcPts val="0"/>
              </a:spcBef>
            </a:pPr>
            <a:r>
              <a:rPr sz="1300" b="0" i="0">
                <a:solidFill>
                  <a:srgbClr val="59595B"/>
                </a:solidFill>
                <a:latin typeface="Open Sans"/>
              </a:rPr>
              <a:t>Out-service the regionals and lock in the 11,000-account base with predictive retention and a better self-serve experience.</a:t>
            </a:r>
          </a:p>
        </p:txBody>
      </p:sp>
      <p:sp>
        <p:nvSpPr>
          <p:cNvPr id="15" name="Rounded Rectangle 14"/>
          <p:cNvSpPr/>
          <p:nvPr/>
        </p:nvSpPr>
        <p:spPr>
          <a:xfrm>
            <a:off x="4425696" y="1965960"/>
            <a:ext cx="3529584" cy="3383280"/>
          </a:xfrm>
          <a:prstGeom prst="roundRect">
            <a:avLst>
              <a:gd name="adj" fmla="val 5000"/>
            </a:avLst>
          </a:prstGeom>
          <a:solidFill>
            <a:srgbClr val="F8F9FA"/>
          </a:solidFill>
          <a:ln w="12700">
            <a:solidFill>
              <a:srgbClr val="E9EC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25696" y="1965960"/>
            <a:ext cx="3529584" cy="128016"/>
          </a:xfrm>
          <a:prstGeom prst="rect">
            <a:avLst/>
          </a:prstGeom>
          <a:solidFill>
            <a:srgbClr val="1EA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700016" y="2350008"/>
            <a:ext cx="1737360" cy="420624"/>
          </a:xfrm>
          <a:prstGeom prst="roundRect">
            <a:avLst>
              <a:gd name="adj" fmla="val 20000"/>
            </a:avLst>
          </a:prstGeom>
          <a:solidFill>
            <a:srgbClr val="1EA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00016" y="2350008"/>
            <a:ext cx="1737360" cy="420624"/>
          </a:xfrm>
          <a:prstGeom prst="rect">
            <a:avLst/>
          </a:prstGeom>
          <a:noFill/>
        </p:spPr>
        <p:txBody>
          <a:bodyPr wrap="square" anchor="ctr" lIns="0" rIns="0" tIns="0" bIns="0">
            <a:spAutoFit/>
          </a:bodyPr>
          <a:lstStyle/>
          <a:p>
            <a:pPr algn="ctr">
              <a:spcBef>
                <a:spcPts val="0"/>
              </a:spcBef>
            </a:pPr>
            <a:r>
              <a:rPr sz="1150" b="1" i="0">
                <a:solidFill>
                  <a:srgbClr val="FFFFFF"/>
                </a:solidFill>
                <a:latin typeface="Open Sans"/>
              </a:rPr>
              <a:t>INTEGRATE</a:t>
            </a:r>
          </a:p>
        </p:txBody>
      </p:sp>
      <p:sp>
        <p:nvSpPr>
          <p:cNvPr id="19" name="TextBox 18"/>
          <p:cNvSpPr txBox="1"/>
          <p:nvPr/>
        </p:nvSpPr>
        <p:spPr>
          <a:xfrm>
            <a:off x="4700016" y="3017520"/>
            <a:ext cx="2980944" cy="457200"/>
          </a:xfrm>
          <a:prstGeom prst="rect">
            <a:avLst/>
          </a:prstGeom>
          <a:noFill/>
        </p:spPr>
        <p:txBody>
          <a:bodyPr wrap="square" anchor="t" lIns="0" rIns="0" tIns="0" bIns="0">
            <a:spAutoFit/>
          </a:bodyPr>
          <a:lstStyle/>
          <a:p>
            <a:pPr algn="l">
              <a:spcBef>
                <a:spcPts val="0"/>
              </a:spcBef>
            </a:pPr>
            <a:r>
              <a:rPr sz="1900" b="1" i="0">
                <a:solidFill>
                  <a:srgbClr val="2D2D2D"/>
                </a:solidFill>
                <a:latin typeface="Open Sans"/>
              </a:rPr>
              <a:t>Integrate acquisitions</a:t>
            </a:r>
          </a:p>
        </p:txBody>
      </p:sp>
      <p:sp>
        <p:nvSpPr>
          <p:cNvPr id="20" name="TextBox 19"/>
          <p:cNvSpPr txBox="1"/>
          <p:nvPr/>
        </p:nvSpPr>
        <p:spPr>
          <a:xfrm>
            <a:off x="4700016" y="3566160"/>
            <a:ext cx="2980944" cy="1554480"/>
          </a:xfrm>
          <a:prstGeom prst="rect">
            <a:avLst/>
          </a:prstGeom>
          <a:noFill/>
        </p:spPr>
        <p:txBody>
          <a:bodyPr wrap="square" anchor="t" lIns="0" rIns="0" tIns="0" bIns="0">
            <a:spAutoFit/>
          </a:bodyPr>
          <a:lstStyle/>
          <a:p>
            <a:pPr algn="l">
              <a:lnSpc>
                <a:spcPct val="125000"/>
              </a:lnSpc>
              <a:spcBef>
                <a:spcPts val="0"/>
              </a:spcBef>
            </a:pPr>
            <a:r>
              <a:rPr sz="1300" b="0" i="0">
                <a:solidFill>
                  <a:srgbClr val="59595B"/>
                </a:solidFill>
                <a:latin typeface="Open Sans"/>
              </a:rPr>
              <a:t>Turn the Downs &amp; Lutz customer books into clean onboarding and cross-sell — account intelligence instead of post-deal churn.</a:t>
            </a:r>
          </a:p>
        </p:txBody>
      </p:sp>
      <p:sp>
        <p:nvSpPr>
          <p:cNvPr id="21" name="Rounded Rectangle 20"/>
          <p:cNvSpPr/>
          <p:nvPr/>
        </p:nvSpPr>
        <p:spPr>
          <a:xfrm>
            <a:off x="8211311" y="1965960"/>
            <a:ext cx="3529584" cy="3383280"/>
          </a:xfrm>
          <a:prstGeom prst="roundRect">
            <a:avLst>
              <a:gd name="adj" fmla="val 5000"/>
            </a:avLst>
          </a:prstGeom>
          <a:solidFill>
            <a:srgbClr val="F8F9FA"/>
          </a:solidFill>
          <a:ln w="12700">
            <a:solidFill>
              <a:srgbClr val="E9EC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11311" y="1965960"/>
            <a:ext cx="3529584" cy="128016"/>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485632" y="2350008"/>
            <a:ext cx="1737360" cy="420624"/>
          </a:xfrm>
          <a:prstGeom prst="roundRect">
            <a:avLst>
              <a:gd name="adj" fmla="val 20000"/>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85632" y="2350008"/>
            <a:ext cx="1737360" cy="420624"/>
          </a:xfrm>
          <a:prstGeom prst="rect">
            <a:avLst/>
          </a:prstGeom>
          <a:noFill/>
        </p:spPr>
        <p:txBody>
          <a:bodyPr wrap="square" anchor="ctr" lIns="0" rIns="0" tIns="0" bIns="0">
            <a:spAutoFit/>
          </a:bodyPr>
          <a:lstStyle/>
          <a:p>
            <a:pPr algn="ctr">
              <a:spcBef>
                <a:spcPts val="0"/>
              </a:spcBef>
            </a:pPr>
            <a:r>
              <a:rPr sz="1150" b="1" i="0">
                <a:solidFill>
                  <a:srgbClr val="FFFFFF"/>
                </a:solidFill>
                <a:latin typeface="Open Sans"/>
              </a:rPr>
              <a:t>OUT-MODERNIZE</a:t>
            </a:r>
          </a:p>
        </p:txBody>
      </p:sp>
      <p:sp>
        <p:nvSpPr>
          <p:cNvPr id="25" name="TextBox 24"/>
          <p:cNvSpPr txBox="1"/>
          <p:nvPr/>
        </p:nvSpPr>
        <p:spPr>
          <a:xfrm>
            <a:off x="8485632" y="3017520"/>
            <a:ext cx="2980944" cy="457200"/>
          </a:xfrm>
          <a:prstGeom prst="rect">
            <a:avLst/>
          </a:prstGeom>
          <a:noFill/>
        </p:spPr>
        <p:txBody>
          <a:bodyPr wrap="square" anchor="t" lIns="0" rIns="0" tIns="0" bIns="0">
            <a:spAutoFit/>
          </a:bodyPr>
          <a:lstStyle/>
          <a:p>
            <a:pPr algn="l">
              <a:spcBef>
                <a:spcPts val="0"/>
              </a:spcBef>
            </a:pPr>
            <a:r>
              <a:rPr sz="1900" b="1" i="0">
                <a:solidFill>
                  <a:srgbClr val="2D2D2D"/>
                </a:solidFill>
                <a:latin typeface="Open Sans"/>
              </a:rPr>
              <a:t>Out-modernize disruptors</a:t>
            </a:r>
          </a:p>
        </p:txBody>
      </p:sp>
      <p:sp>
        <p:nvSpPr>
          <p:cNvPr id="26" name="TextBox 25"/>
          <p:cNvSpPr txBox="1"/>
          <p:nvPr/>
        </p:nvSpPr>
        <p:spPr>
          <a:xfrm>
            <a:off x="8485632" y="3566160"/>
            <a:ext cx="2980944" cy="1554480"/>
          </a:xfrm>
          <a:prstGeom prst="rect">
            <a:avLst/>
          </a:prstGeom>
          <a:noFill/>
        </p:spPr>
        <p:txBody>
          <a:bodyPr wrap="square" anchor="t" lIns="0" rIns="0" tIns="0" bIns="0">
            <a:spAutoFit/>
          </a:bodyPr>
          <a:lstStyle/>
          <a:p>
            <a:pPr algn="l">
              <a:lnSpc>
                <a:spcPct val="125000"/>
              </a:lnSpc>
              <a:spcBef>
                <a:spcPts val="0"/>
              </a:spcBef>
            </a:pPr>
            <a:r>
              <a:rPr sz="1300" b="0" i="0">
                <a:solidFill>
                  <a:srgbClr val="59595B"/>
                </a:solidFill>
                <a:latin typeface="Open Sans"/>
              </a:rPr>
              <a:t>Adopt Booster's UX and AI bar — app-grade portal, answer-engine visibility — without the venture burn, on Pilot's supply.</a:t>
            </a:r>
          </a:p>
        </p:txBody>
      </p:sp>
      <p:sp>
        <p:nvSpPr>
          <p:cNvPr id="27" name="TextBox 26"/>
          <p:cNvSpPr txBox="1"/>
          <p:nvPr/>
        </p:nvSpPr>
        <p:spPr>
          <a:xfrm>
            <a:off x="640080" y="5623560"/>
            <a:ext cx="10911535" cy="457200"/>
          </a:xfrm>
          <a:prstGeom prst="rect">
            <a:avLst/>
          </a:prstGeom>
          <a:noFill/>
        </p:spPr>
        <p:txBody>
          <a:bodyPr wrap="square" anchor="t" lIns="0" rIns="0" tIns="0" bIns="0">
            <a:spAutoFit/>
          </a:bodyPr>
          <a:lstStyle/>
          <a:p>
            <a:pPr algn="l">
              <a:spcBef>
                <a:spcPts val="0"/>
              </a:spcBef>
            </a:pPr>
            <a:r>
              <a:rPr sz="1300" b="1" i="0">
                <a:solidFill>
                  <a:srgbClr val="F67D4B"/>
                </a:solidFill>
                <a:latin typeface="Open Sans"/>
              </a:rPr>
              <a:t>The boundary: </a:t>
            </a:r>
            <a:r>
              <a:rPr sz="1300" b="0" i="1">
                <a:solidFill>
                  <a:srgbClr val="2D2D2D"/>
                </a:solidFill>
                <a:latin typeface="Open Sans"/>
              </a:rPr>
              <a:t>AI supports your field reps and Pilot's supply scale — it doesn't replace the relationship that wins fleet accounts.</a:t>
            </a:r>
          </a:p>
        </p:txBody>
      </p:sp>
      <p:sp>
        <p:nvSpPr>
          <p:cNvPr id="28" name="Rectangle 27"/>
          <p:cNvSpPr/>
          <p:nvPr/>
        </p:nvSpPr>
        <p:spPr>
          <a:xfrm>
            <a:off x="640080" y="6455664"/>
            <a:ext cx="10911535" cy="10972"/>
          </a:xfrm>
          <a:prstGeom prst="rect">
            <a:avLst/>
          </a:prstGeom>
          <a:solidFill>
            <a:srgbClr val="E9EC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6510528"/>
            <a:ext cx="7772400" cy="274320"/>
          </a:xfrm>
          <a:prstGeom prst="rect">
            <a:avLst/>
          </a:prstGeom>
          <a:noFill/>
        </p:spPr>
        <p:txBody>
          <a:bodyPr wrap="square" anchor="t" lIns="0" rIns="0" tIns="0" bIns="0">
            <a:spAutoFit/>
          </a:bodyPr>
          <a:lstStyle/>
          <a:p>
            <a:pPr algn="l">
              <a:spcBef>
                <a:spcPts val="0"/>
              </a:spcBef>
            </a:pPr>
            <a:r>
              <a:rPr sz="850" b="0" i="0">
                <a:solidFill>
                  <a:srgbClr val="9A9AA2"/>
                </a:solidFill>
                <a:latin typeface="Open Sans"/>
              </a:rPr>
              <a:t>AI-Driven Growth Blueprint  ·  Prepared for SC Fuels  ·  Confidential</a:t>
            </a:r>
          </a:p>
        </p:txBody>
      </p:sp>
      <p:sp>
        <p:nvSpPr>
          <p:cNvPr id="30" name="TextBox 29"/>
          <p:cNvSpPr txBox="1"/>
          <p:nvPr/>
        </p:nvSpPr>
        <p:spPr>
          <a:xfrm>
            <a:off x="8259775" y="6510528"/>
            <a:ext cx="2743200" cy="274320"/>
          </a:xfrm>
          <a:prstGeom prst="rect">
            <a:avLst/>
          </a:prstGeom>
          <a:noFill/>
        </p:spPr>
        <p:txBody>
          <a:bodyPr wrap="square" anchor="t" lIns="0" rIns="0" tIns="0" bIns="0">
            <a:spAutoFit/>
          </a:bodyPr>
          <a:lstStyle/>
          <a:p>
            <a:pPr algn="r">
              <a:spcBef>
                <a:spcPts val="0"/>
              </a:spcBef>
            </a:pPr>
            <a:r>
              <a:rPr sz="850" b="0" i="0">
                <a:solidFill>
                  <a:srgbClr val="9A9AA2"/>
                </a:solidFill>
                <a:latin typeface="Open Sans"/>
              </a:rPr>
              <a:t>technijian.com</a:t>
            </a:r>
          </a:p>
        </p:txBody>
      </p:sp>
      <p:sp>
        <p:nvSpPr>
          <p:cNvPr id="31" name="TextBox 30"/>
          <p:cNvSpPr txBox="1"/>
          <p:nvPr/>
        </p:nvSpPr>
        <p:spPr>
          <a:xfrm>
            <a:off x="11277295" y="6510528"/>
            <a:ext cx="274320" cy="274320"/>
          </a:xfrm>
          <a:prstGeom prst="rect">
            <a:avLst/>
          </a:prstGeom>
          <a:noFill/>
        </p:spPr>
        <p:txBody>
          <a:bodyPr wrap="square" anchor="t" lIns="0" rIns="0" tIns="0" bIns="0">
            <a:spAutoFit/>
          </a:bodyPr>
          <a:lstStyle/>
          <a:p>
            <a:pPr algn="r">
              <a:spcBef>
                <a:spcPts val="0"/>
              </a:spcBef>
            </a:pPr>
            <a:r>
              <a:rPr sz="850" b="1" i="0">
                <a:solidFill>
                  <a:srgbClr val="9A9AA2"/>
                </a:solidFill>
                <a:latin typeface="Open San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6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8016"/>
            <a:ext cx="12191695" cy="36576"/>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chnijian Logo 2.png"/>
          <p:cNvPicPr>
            <a:picLocks noChangeAspect="1"/>
          </p:cNvPicPr>
          <p:nvPr/>
        </p:nvPicPr>
        <p:blipFill>
          <a:blip r:embed="rId2"/>
          <a:stretch>
            <a:fillRect/>
          </a:stretch>
        </p:blipFill>
        <p:spPr>
          <a:xfrm>
            <a:off x="10362895" y="420624"/>
            <a:ext cx="1463040" cy="306170"/>
          </a:xfrm>
          <a:prstGeom prst="rect">
            <a:avLst/>
          </a:prstGeom>
        </p:spPr>
      </p:pic>
      <p:sp>
        <p:nvSpPr>
          <p:cNvPr id="6" name="TextBox 5"/>
          <p:cNvSpPr txBox="1"/>
          <p:nvPr/>
        </p:nvSpPr>
        <p:spPr>
          <a:xfrm>
            <a:off x="640080" y="475488"/>
            <a:ext cx="8686800" cy="274320"/>
          </a:xfrm>
          <a:prstGeom prst="rect">
            <a:avLst/>
          </a:prstGeom>
          <a:noFill/>
        </p:spPr>
        <p:txBody>
          <a:bodyPr wrap="square" anchor="t" lIns="0" rIns="0" tIns="0" bIns="0">
            <a:spAutoFit/>
          </a:bodyPr>
          <a:lstStyle/>
          <a:p>
            <a:pPr algn="l">
              <a:spcBef>
                <a:spcPts val="0"/>
              </a:spcBef>
            </a:pPr>
            <a:r>
              <a:rPr sz="1200" b="1" i="0">
                <a:solidFill>
                  <a:srgbClr val="F67D4B"/>
                </a:solidFill>
                <a:latin typeface="Open Sans"/>
              </a:rPr>
              <a:t>WHERE YOU MAKE MONEY</a:t>
            </a:r>
          </a:p>
        </p:txBody>
      </p:sp>
      <p:sp>
        <p:nvSpPr>
          <p:cNvPr id="7" name="TextBox 6"/>
          <p:cNvSpPr txBox="1"/>
          <p:nvPr/>
        </p:nvSpPr>
        <p:spPr>
          <a:xfrm>
            <a:off x="640080" y="768096"/>
            <a:ext cx="9418320" cy="566928"/>
          </a:xfrm>
          <a:prstGeom prst="rect">
            <a:avLst/>
          </a:prstGeom>
          <a:noFill/>
        </p:spPr>
        <p:txBody>
          <a:bodyPr wrap="square" anchor="t" lIns="0" rIns="0" tIns="0" bIns="0">
            <a:spAutoFit/>
          </a:bodyPr>
          <a:lstStyle/>
          <a:p>
            <a:pPr algn="l">
              <a:spcBef>
                <a:spcPts val="0"/>
              </a:spcBef>
            </a:pPr>
            <a:r>
              <a:rPr sz="2600" b="1" i="0">
                <a:solidFill>
                  <a:srgbClr val="006DB6"/>
                </a:solidFill>
                <a:latin typeface="Open Sans"/>
              </a:rPr>
              <a:t>The distribution business model</a:t>
            </a:r>
          </a:p>
        </p:txBody>
      </p:sp>
      <p:sp>
        <p:nvSpPr>
          <p:cNvPr id="8" name="Rectangle 7"/>
          <p:cNvSpPr/>
          <p:nvPr/>
        </p:nvSpPr>
        <p:spPr>
          <a:xfrm>
            <a:off x="658368" y="1481328"/>
            <a:ext cx="1371600" cy="41148"/>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model.png"/>
          <p:cNvPicPr>
            <a:picLocks noChangeAspect="1"/>
          </p:cNvPicPr>
          <p:nvPr/>
        </p:nvPicPr>
        <p:blipFill>
          <a:blip r:embed="rId3"/>
          <a:stretch>
            <a:fillRect/>
          </a:stretch>
        </p:blipFill>
        <p:spPr>
          <a:xfrm>
            <a:off x="2169511" y="1691640"/>
            <a:ext cx="7852671" cy="4572000"/>
          </a:xfrm>
          <a:prstGeom prst="rect">
            <a:avLst/>
          </a:prstGeom>
        </p:spPr>
      </p:pic>
      <p:sp>
        <p:nvSpPr>
          <p:cNvPr id="10" name="Rectangle 9"/>
          <p:cNvSpPr/>
          <p:nvPr/>
        </p:nvSpPr>
        <p:spPr>
          <a:xfrm>
            <a:off x="640080" y="6455664"/>
            <a:ext cx="10911535" cy="10972"/>
          </a:xfrm>
          <a:prstGeom prst="rect">
            <a:avLst/>
          </a:prstGeom>
          <a:solidFill>
            <a:srgbClr val="E9EC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510528"/>
            <a:ext cx="7772400" cy="274320"/>
          </a:xfrm>
          <a:prstGeom prst="rect">
            <a:avLst/>
          </a:prstGeom>
          <a:noFill/>
        </p:spPr>
        <p:txBody>
          <a:bodyPr wrap="square" anchor="t" lIns="0" rIns="0" tIns="0" bIns="0">
            <a:spAutoFit/>
          </a:bodyPr>
          <a:lstStyle/>
          <a:p>
            <a:pPr algn="l">
              <a:spcBef>
                <a:spcPts val="0"/>
              </a:spcBef>
            </a:pPr>
            <a:r>
              <a:rPr sz="850" b="0" i="0">
                <a:solidFill>
                  <a:srgbClr val="9A9AA2"/>
                </a:solidFill>
                <a:latin typeface="Open Sans"/>
              </a:rPr>
              <a:t>AI-Driven Growth Blueprint  ·  Prepared for SC Fuels  ·  Confidential</a:t>
            </a:r>
          </a:p>
        </p:txBody>
      </p:sp>
      <p:sp>
        <p:nvSpPr>
          <p:cNvPr id="12" name="TextBox 11"/>
          <p:cNvSpPr txBox="1"/>
          <p:nvPr/>
        </p:nvSpPr>
        <p:spPr>
          <a:xfrm>
            <a:off x="8259775" y="6510528"/>
            <a:ext cx="2743200" cy="274320"/>
          </a:xfrm>
          <a:prstGeom prst="rect">
            <a:avLst/>
          </a:prstGeom>
          <a:noFill/>
        </p:spPr>
        <p:txBody>
          <a:bodyPr wrap="square" anchor="t" lIns="0" rIns="0" tIns="0" bIns="0">
            <a:spAutoFit/>
          </a:bodyPr>
          <a:lstStyle/>
          <a:p>
            <a:pPr algn="r">
              <a:spcBef>
                <a:spcPts val="0"/>
              </a:spcBef>
            </a:pPr>
            <a:r>
              <a:rPr sz="850" b="0" i="0">
                <a:solidFill>
                  <a:srgbClr val="9A9AA2"/>
                </a:solidFill>
                <a:latin typeface="Open Sans"/>
              </a:rPr>
              <a:t>technijian.com</a:t>
            </a:r>
          </a:p>
        </p:txBody>
      </p:sp>
      <p:sp>
        <p:nvSpPr>
          <p:cNvPr id="13" name="TextBox 12"/>
          <p:cNvSpPr txBox="1"/>
          <p:nvPr/>
        </p:nvSpPr>
        <p:spPr>
          <a:xfrm>
            <a:off x="11277295" y="6510528"/>
            <a:ext cx="274320" cy="274320"/>
          </a:xfrm>
          <a:prstGeom prst="rect">
            <a:avLst/>
          </a:prstGeom>
          <a:noFill/>
        </p:spPr>
        <p:txBody>
          <a:bodyPr wrap="square" anchor="t" lIns="0" rIns="0" tIns="0" bIns="0">
            <a:spAutoFit/>
          </a:bodyPr>
          <a:lstStyle/>
          <a:p>
            <a:pPr algn="r">
              <a:spcBef>
                <a:spcPts val="0"/>
              </a:spcBef>
            </a:pPr>
            <a:r>
              <a:rPr sz="850" b="1" i="0">
                <a:solidFill>
                  <a:srgbClr val="9A9AA2"/>
                </a:solidFill>
                <a:latin typeface="Open San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6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8016"/>
            <a:ext cx="12191695" cy="36576"/>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chnijian Logo 2.png"/>
          <p:cNvPicPr>
            <a:picLocks noChangeAspect="1"/>
          </p:cNvPicPr>
          <p:nvPr/>
        </p:nvPicPr>
        <p:blipFill>
          <a:blip r:embed="rId2"/>
          <a:stretch>
            <a:fillRect/>
          </a:stretch>
        </p:blipFill>
        <p:spPr>
          <a:xfrm>
            <a:off x="10362895" y="420624"/>
            <a:ext cx="1463040" cy="306170"/>
          </a:xfrm>
          <a:prstGeom prst="rect">
            <a:avLst/>
          </a:prstGeom>
        </p:spPr>
      </p:pic>
      <p:sp>
        <p:nvSpPr>
          <p:cNvPr id="6" name="TextBox 5"/>
          <p:cNvSpPr txBox="1"/>
          <p:nvPr/>
        </p:nvSpPr>
        <p:spPr>
          <a:xfrm>
            <a:off x="640080" y="475488"/>
            <a:ext cx="8686800" cy="274320"/>
          </a:xfrm>
          <a:prstGeom prst="rect">
            <a:avLst/>
          </a:prstGeom>
          <a:noFill/>
        </p:spPr>
        <p:txBody>
          <a:bodyPr wrap="square" anchor="t" lIns="0" rIns="0" tIns="0" bIns="0">
            <a:spAutoFit/>
          </a:bodyPr>
          <a:lstStyle/>
          <a:p>
            <a:pPr algn="l">
              <a:spcBef>
                <a:spcPts val="0"/>
              </a:spcBef>
            </a:pPr>
            <a:r>
              <a:rPr sz="1200" b="1" i="0">
                <a:solidFill>
                  <a:srgbClr val="F67D4B"/>
                </a:solidFill>
                <a:latin typeface="Open Sans"/>
              </a:rPr>
              <a:t>THE LANDSCAPE</a:t>
            </a:r>
          </a:p>
        </p:txBody>
      </p:sp>
      <p:sp>
        <p:nvSpPr>
          <p:cNvPr id="7" name="TextBox 6"/>
          <p:cNvSpPr txBox="1"/>
          <p:nvPr/>
        </p:nvSpPr>
        <p:spPr>
          <a:xfrm>
            <a:off x="640080" y="768096"/>
            <a:ext cx="9418320" cy="566928"/>
          </a:xfrm>
          <a:prstGeom prst="rect">
            <a:avLst/>
          </a:prstGeom>
          <a:noFill/>
        </p:spPr>
        <p:txBody>
          <a:bodyPr wrap="square" anchor="t" lIns="0" rIns="0" tIns="0" bIns="0">
            <a:spAutoFit/>
          </a:bodyPr>
          <a:lstStyle/>
          <a:p>
            <a:pPr algn="l">
              <a:spcBef>
                <a:spcPts val="0"/>
              </a:spcBef>
            </a:pPr>
            <a:r>
              <a:rPr sz="2600" b="1" i="0">
                <a:solidFill>
                  <a:srgbClr val="006DB6"/>
                </a:solidFill>
                <a:latin typeface="Open Sans"/>
              </a:rPr>
              <a:t>A consolidating, regulated, transitioning market</a:t>
            </a:r>
          </a:p>
        </p:txBody>
      </p:sp>
      <p:sp>
        <p:nvSpPr>
          <p:cNvPr id="8" name="Rectangle 7"/>
          <p:cNvSpPr/>
          <p:nvPr/>
        </p:nvSpPr>
        <p:spPr>
          <a:xfrm>
            <a:off x="658368" y="1481328"/>
            <a:ext cx="1371600" cy="41148"/>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37360"/>
            <a:ext cx="5212080" cy="320040"/>
          </a:xfrm>
          <a:prstGeom prst="rect">
            <a:avLst/>
          </a:prstGeom>
          <a:noFill/>
        </p:spPr>
        <p:txBody>
          <a:bodyPr wrap="square" anchor="t" lIns="0" rIns="0" tIns="0" bIns="0">
            <a:spAutoFit/>
          </a:bodyPr>
          <a:lstStyle/>
          <a:p>
            <a:pPr algn="l">
              <a:spcBef>
                <a:spcPts val="0"/>
              </a:spcBef>
            </a:pPr>
            <a:r>
              <a:rPr sz="1300" b="1" i="0">
                <a:solidFill>
                  <a:srgbClr val="006DB6"/>
                </a:solidFill>
                <a:latin typeface="Open Sans"/>
              </a:rPr>
              <a:t>MARKET FORCES</a:t>
            </a:r>
          </a:p>
        </p:txBody>
      </p:sp>
      <p:sp>
        <p:nvSpPr>
          <p:cNvPr id="10" name="Rectangle 9"/>
          <p:cNvSpPr/>
          <p:nvPr/>
        </p:nvSpPr>
        <p:spPr>
          <a:xfrm>
            <a:off x="658368" y="2157984"/>
            <a:ext cx="109728" cy="109728"/>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103120"/>
            <a:ext cx="4937760" cy="292608"/>
          </a:xfrm>
          <a:prstGeom prst="rect">
            <a:avLst/>
          </a:prstGeom>
          <a:noFill/>
        </p:spPr>
        <p:txBody>
          <a:bodyPr wrap="square" anchor="t" lIns="0" rIns="0" tIns="0" bIns="0">
            <a:spAutoFit/>
          </a:bodyPr>
          <a:lstStyle/>
          <a:p>
            <a:pPr algn="l">
              <a:spcBef>
                <a:spcPts val="0"/>
              </a:spcBef>
            </a:pPr>
            <a:r>
              <a:rPr sz="1350" b="1" i="0">
                <a:solidFill>
                  <a:srgbClr val="2D2D2D"/>
                </a:solidFill>
                <a:latin typeface="Open Sans"/>
              </a:rPr>
              <a:t>Heavy consolidation</a:t>
            </a:r>
          </a:p>
        </p:txBody>
      </p:sp>
      <p:sp>
        <p:nvSpPr>
          <p:cNvPr id="12" name="TextBox 11"/>
          <p:cNvSpPr txBox="1"/>
          <p:nvPr/>
        </p:nvSpPr>
        <p:spPr>
          <a:xfrm>
            <a:off x="896112" y="2377439"/>
            <a:ext cx="4937760" cy="457200"/>
          </a:xfrm>
          <a:prstGeom prst="rect">
            <a:avLst/>
          </a:prstGeom>
          <a:noFill/>
        </p:spPr>
        <p:txBody>
          <a:bodyPr wrap="square" anchor="t" lIns="0" rIns="0" tIns="0" bIns="0">
            <a:spAutoFit/>
          </a:bodyPr>
          <a:lstStyle/>
          <a:p>
            <a:pPr algn="l">
              <a:lnSpc>
                <a:spcPct val="115000"/>
              </a:lnSpc>
              <a:spcBef>
                <a:spcPts val="0"/>
              </a:spcBef>
            </a:pPr>
            <a:r>
              <a:rPr sz="1150" b="0" i="0">
                <a:solidFill>
                  <a:srgbClr val="59595B"/>
                </a:solidFill>
                <a:latin typeface="Open Sans"/>
              </a:rPr>
              <a:t>30+ distributor deals in 2024 — and you're on the buy side.</a:t>
            </a:r>
          </a:p>
        </p:txBody>
      </p:sp>
      <p:sp>
        <p:nvSpPr>
          <p:cNvPr id="13" name="Rectangle 12"/>
          <p:cNvSpPr/>
          <p:nvPr/>
        </p:nvSpPr>
        <p:spPr>
          <a:xfrm>
            <a:off x="658368" y="3090672"/>
            <a:ext cx="109728" cy="109728"/>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3035808"/>
            <a:ext cx="4937760" cy="292608"/>
          </a:xfrm>
          <a:prstGeom prst="rect">
            <a:avLst/>
          </a:prstGeom>
          <a:noFill/>
        </p:spPr>
        <p:txBody>
          <a:bodyPr wrap="square" anchor="t" lIns="0" rIns="0" tIns="0" bIns="0">
            <a:spAutoFit/>
          </a:bodyPr>
          <a:lstStyle/>
          <a:p>
            <a:pPr algn="l">
              <a:spcBef>
                <a:spcPts val="0"/>
              </a:spcBef>
            </a:pPr>
            <a:r>
              <a:rPr sz="1350" b="1" i="0">
                <a:solidFill>
                  <a:srgbClr val="2D2D2D"/>
                </a:solidFill>
                <a:latin typeface="Open Sans"/>
              </a:rPr>
              <a:t>Margin pressure + energy transition</a:t>
            </a:r>
          </a:p>
        </p:txBody>
      </p:sp>
      <p:sp>
        <p:nvSpPr>
          <p:cNvPr id="15" name="TextBox 14"/>
          <p:cNvSpPr txBox="1"/>
          <p:nvPr/>
        </p:nvSpPr>
        <p:spPr>
          <a:xfrm>
            <a:off x="896112" y="3310127"/>
            <a:ext cx="4937760" cy="457200"/>
          </a:xfrm>
          <a:prstGeom prst="rect">
            <a:avLst/>
          </a:prstGeom>
          <a:noFill/>
        </p:spPr>
        <p:txBody>
          <a:bodyPr wrap="square" anchor="t" lIns="0" rIns="0" tIns="0" bIns="0">
            <a:spAutoFit/>
          </a:bodyPr>
          <a:lstStyle/>
          <a:p>
            <a:pPr algn="l">
              <a:lnSpc>
                <a:spcPct val="115000"/>
              </a:lnSpc>
              <a:spcBef>
                <a:spcPts val="0"/>
              </a:spcBef>
            </a:pPr>
            <a:r>
              <a:rPr sz="1150" b="0" i="0">
                <a:solidFill>
                  <a:srgbClr val="59595B"/>
                </a:solidFill>
                <a:latin typeface="Open Sans"/>
              </a:rPr>
              <a:t>Efficiency and depot EV charging encroach on medium-duty fuel demand.</a:t>
            </a:r>
          </a:p>
        </p:txBody>
      </p:sp>
      <p:sp>
        <p:nvSpPr>
          <p:cNvPr id="16" name="Rectangle 15"/>
          <p:cNvSpPr/>
          <p:nvPr/>
        </p:nvSpPr>
        <p:spPr>
          <a:xfrm>
            <a:off x="658368" y="4023359"/>
            <a:ext cx="109728" cy="109728"/>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968496"/>
            <a:ext cx="4937760" cy="292608"/>
          </a:xfrm>
          <a:prstGeom prst="rect">
            <a:avLst/>
          </a:prstGeom>
          <a:noFill/>
        </p:spPr>
        <p:txBody>
          <a:bodyPr wrap="square" anchor="t" lIns="0" rIns="0" tIns="0" bIns="0">
            <a:spAutoFit/>
          </a:bodyPr>
          <a:lstStyle/>
          <a:p>
            <a:pPr algn="l">
              <a:spcBef>
                <a:spcPts val="0"/>
              </a:spcBef>
            </a:pPr>
            <a:r>
              <a:rPr sz="1350" b="1" i="0">
                <a:solidFill>
                  <a:srgbClr val="2D2D2D"/>
                </a:solidFill>
                <a:latin typeface="Open Sans"/>
              </a:rPr>
              <a:t>Renewable diesel (R99) is the offset</a:t>
            </a:r>
          </a:p>
        </p:txBody>
      </p:sp>
      <p:sp>
        <p:nvSpPr>
          <p:cNvPr id="18" name="TextBox 17"/>
          <p:cNvSpPr txBox="1"/>
          <p:nvPr/>
        </p:nvSpPr>
        <p:spPr>
          <a:xfrm>
            <a:off x="896112" y="4242816"/>
            <a:ext cx="4937760" cy="457200"/>
          </a:xfrm>
          <a:prstGeom prst="rect">
            <a:avLst/>
          </a:prstGeom>
          <a:noFill/>
        </p:spPr>
        <p:txBody>
          <a:bodyPr wrap="square" anchor="t" lIns="0" rIns="0" tIns="0" bIns="0">
            <a:spAutoFit/>
          </a:bodyPr>
          <a:lstStyle/>
          <a:p>
            <a:pPr algn="l">
              <a:lnSpc>
                <a:spcPct val="115000"/>
              </a:lnSpc>
              <a:spcBef>
                <a:spcPts val="0"/>
              </a:spcBef>
            </a:pPr>
            <a:r>
              <a:rPr sz="1150" b="0" i="0">
                <a:solidFill>
                  <a:srgbClr val="59595B"/>
                </a:solidFill>
                <a:latin typeface="Open Sans"/>
              </a:rPr>
              <a:t>A drop-in substitute; LCFS credits drive the economics. You already sell it.</a:t>
            </a:r>
          </a:p>
        </p:txBody>
      </p:sp>
      <p:sp>
        <p:nvSpPr>
          <p:cNvPr id="19" name="Rectangle 18"/>
          <p:cNvSpPr/>
          <p:nvPr/>
        </p:nvSpPr>
        <p:spPr>
          <a:xfrm>
            <a:off x="658368" y="4956047"/>
            <a:ext cx="109728" cy="109728"/>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4901183"/>
            <a:ext cx="4937760" cy="292608"/>
          </a:xfrm>
          <a:prstGeom prst="rect">
            <a:avLst/>
          </a:prstGeom>
          <a:noFill/>
        </p:spPr>
        <p:txBody>
          <a:bodyPr wrap="square" anchor="t" lIns="0" rIns="0" tIns="0" bIns="0">
            <a:spAutoFit/>
          </a:bodyPr>
          <a:lstStyle/>
          <a:p>
            <a:pPr algn="l">
              <a:spcBef>
                <a:spcPts val="0"/>
              </a:spcBef>
            </a:pPr>
            <a:r>
              <a:rPr sz="1350" b="1" i="0">
                <a:solidFill>
                  <a:srgbClr val="2D2D2D"/>
                </a:solidFill>
                <a:latin typeface="Open Sans"/>
              </a:rPr>
              <a:t>Telematics convergence</a:t>
            </a:r>
          </a:p>
        </p:txBody>
      </p:sp>
      <p:sp>
        <p:nvSpPr>
          <p:cNvPr id="21" name="TextBox 20"/>
          <p:cNvSpPr txBox="1"/>
          <p:nvPr/>
        </p:nvSpPr>
        <p:spPr>
          <a:xfrm>
            <a:off x="896112" y="5175503"/>
            <a:ext cx="4937760" cy="457200"/>
          </a:xfrm>
          <a:prstGeom prst="rect">
            <a:avLst/>
          </a:prstGeom>
          <a:noFill/>
        </p:spPr>
        <p:txBody>
          <a:bodyPr wrap="square" anchor="t" lIns="0" rIns="0" tIns="0" bIns="0">
            <a:spAutoFit/>
          </a:bodyPr>
          <a:lstStyle/>
          <a:p>
            <a:pPr algn="l">
              <a:lnSpc>
                <a:spcPct val="115000"/>
              </a:lnSpc>
              <a:spcBef>
                <a:spcPts val="0"/>
              </a:spcBef>
            </a:pPr>
            <a:r>
              <a:rPr sz="1150" b="0" i="0">
                <a:solidFill>
                  <a:srgbClr val="59595B"/>
                </a:solidFill>
                <a:latin typeface="Open Sans"/>
              </a:rPr>
              <a:t>Cards + telematics + tank sensors merging; ~14% of fleet fuel spend lost to fraud.</a:t>
            </a:r>
          </a:p>
        </p:txBody>
      </p:sp>
      <p:sp>
        <p:nvSpPr>
          <p:cNvPr id="22" name="TextBox 21"/>
          <p:cNvSpPr txBox="1"/>
          <p:nvPr/>
        </p:nvSpPr>
        <p:spPr>
          <a:xfrm>
            <a:off x="6126480" y="1737360"/>
            <a:ext cx="5486400" cy="320040"/>
          </a:xfrm>
          <a:prstGeom prst="rect">
            <a:avLst/>
          </a:prstGeom>
          <a:noFill/>
        </p:spPr>
        <p:txBody>
          <a:bodyPr wrap="square" anchor="t" lIns="0" rIns="0" tIns="0" bIns="0">
            <a:spAutoFit/>
          </a:bodyPr>
          <a:lstStyle/>
          <a:p>
            <a:pPr algn="l">
              <a:spcBef>
                <a:spcPts val="0"/>
              </a:spcBef>
            </a:pPr>
            <a:r>
              <a:rPr sz="1300" b="1" i="0">
                <a:solidFill>
                  <a:srgbClr val="006DB6"/>
                </a:solidFill>
                <a:latin typeface="Open Sans"/>
              </a:rPr>
              <a:t>COMPLIANCE BURDEN  —  AI-REDUCTION TARGETS</a:t>
            </a:r>
          </a:p>
        </p:txBody>
      </p:sp>
      <p:sp>
        <p:nvSpPr>
          <p:cNvPr id="23" name="Rectangle 22"/>
          <p:cNvSpPr/>
          <p:nvPr/>
        </p:nvSpPr>
        <p:spPr>
          <a:xfrm>
            <a:off x="6126480" y="2148840"/>
            <a:ext cx="5486400" cy="18288"/>
          </a:xfrm>
          <a:prstGeom prst="rect">
            <a:avLst/>
          </a:prstGeom>
          <a:solidFill>
            <a:srgbClr val="E9EC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26480" y="2221992"/>
            <a:ext cx="5486400" cy="713232"/>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63640" y="2276856"/>
            <a:ext cx="2011680" cy="274320"/>
          </a:xfrm>
          <a:prstGeom prst="rect">
            <a:avLst/>
          </a:prstGeom>
          <a:noFill/>
        </p:spPr>
        <p:txBody>
          <a:bodyPr wrap="square" anchor="t" lIns="0" rIns="0" tIns="0" bIns="0">
            <a:spAutoFit/>
          </a:bodyPr>
          <a:lstStyle/>
          <a:p>
            <a:pPr algn="l">
              <a:spcBef>
                <a:spcPts val="0"/>
              </a:spcBef>
            </a:pPr>
            <a:r>
              <a:rPr sz="1250" b="1" i="0">
                <a:solidFill>
                  <a:srgbClr val="2D2D2D"/>
                </a:solidFill>
                <a:latin typeface="Open Sans"/>
              </a:rPr>
              <a:t>CARB / LCFS</a:t>
            </a:r>
          </a:p>
        </p:txBody>
      </p:sp>
      <p:sp>
        <p:nvSpPr>
          <p:cNvPr id="26" name="TextBox 25"/>
          <p:cNvSpPr txBox="1"/>
          <p:nvPr/>
        </p:nvSpPr>
        <p:spPr>
          <a:xfrm>
            <a:off x="6263640" y="2560320"/>
            <a:ext cx="4480560" cy="320040"/>
          </a:xfrm>
          <a:prstGeom prst="rect">
            <a:avLst/>
          </a:prstGeom>
          <a:noFill/>
        </p:spPr>
        <p:txBody>
          <a:bodyPr wrap="square" anchor="t" lIns="0" rIns="0" tIns="0" bIns="0">
            <a:spAutoFit/>
          </a:bodyPr>
          <a:lstStyle/>
          <a:p>
            <a:pPr algn="l">
              <a:lnSpc>
                <a:spcPct val="105000"/>
              </a:lnSpc>
              <a:spcBef>
                <a:spcPts val="0"/>
              </a:spcBef>
            </a:pPr>
            <a:r>
              <a:rPr sz="1050" b="0" i="0">
                <a:solidFill>
                  <a:srgbClr val="59595B"/>
                </a:solidFill>
                <a:latin typeface="Open Sans"/>
              </a:rPr>
              <a:t>CI target 22.75% (Jul 2025); credit accounting</a:t>
            </a:r>
          </a:p>
        </p:txBody>
      </p:sp>
      <p:sp>
        <p:nvSpPr>
          <p:cNvPr id="27" name="Rounded Rectangle 26"/>
          <p:cNvSpPr/>
          <p:nvPr/>
        </p:nvSpPr>
        <p:spPr>
          <a:xfrm>
            <a:off x="10561320" y="2368296"/>
            <a:ext cx="914400" cy="329184"/>
          </a:xfrm>
          <a:prstGeom prst="roundRect">
            <a:avLst>
              <a:gd name="adj" fmla="val 25000"/>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61320" y="2368296"/>
            <a:ext cx="914400" cy="329184"/>
          </a:xfrm>
          <a:prstGeom prst="rect">
            <a:avLst/>
          </a:prstGeom>
          <a:noFill/>
        </p:spPr>
        <p:txBody>
          <a:bodyPr wrap="square" anchor="ctr" lIns="0" rIns="0" tIns="0" bIns="0">
            <a:spAutoFit/>
          </a:bodyPr>
          <a:lstStyle/>
          <a:p>
            <a:pPr algn="ctr">
              <a:spcBef>
                <a:spcPts val="0"/>
              </a:spcBef>
            </a:pPr>
            <a:r>
              <a:rPr sz="1000" b="1" i="0">
                <a:solidFill>
                  <a:srgbClr val="FFFFFF"/>
                </a:solidFill>
                <a:latin typeface="Open Sans"/>
              </a:rPr>
              <a:t>HIGH</a:t>
            </a:r>
          </a:p>
        </p:txBody>
      </p:sp>
      <p:sp>
        <p:nvSpPr>
          <p:cNvPr id="29" name="Rectangle 28"/>
          <p:cNvSpPr/>
          <p:nvPr/>
        </p:nvSpPr>
        <p:spPr>
          <a:xfrm>
            <a:off x="6126480" y="3063240"/>
            <a:ext cx="5486400" cy="713232"/>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63640" y="3118104"/>
            <a:ext cx="2011680" cy="274320"/>
          </a:xfrm>
          <a:prstGeom prst="rect">
            <a:avLst/>
          </a:prstGeom>
          <a:noFill/>
        </p:spPr>
        <p:txBody>
          <a:bodyPr wrap="square" anchor="t" lIns="0" rIns="0" tIns="0" bIns="0">
            <a:spAutoFit/>
          </a:bodyPr>
          <a:lstStyle/>
          <a:p>
            <a:pPr algn="l">
              <a:spcBef>
                <a:spcPts val="0"/>
              </a:spcBef>
            </a:pPr>
            <a:r>
              <a:rPr sz="1250" b="1" i="0">
                <a:solidFill>
                  <a:srgbClr val="2D2D2D"/>
                </a:solidFill>
                <a:latin typeface="Open Sans"/>
              </a:rPr>
              <a:t>RFS / RINs</a:t>
            </a:r>
          </a:p>
        </p:txBody>
      </p:sp>
      <p:sp>
        <p:nvSpPr>
          <p:cNvPr id="31" name="TextBox 30"/>
          <p:cNvSpPr txBox="1"/>
          <p:nvPr/>
        </p:nvSpPr>
        <p:spPr>
          <a:xfrm>
            <a:off x="6263640" y="3401568"/>
            <a:ext cx="4480560" cy="320040"/>
          </a:xfrm>
          <a:prstGeom prst="rect">
            <a:avLst/>
          </a:prstGeom>
          <a:noFill/>
        </p:spPr>
        <p:txBody>
          <a:bodyPr wrap="square" anchor="t" lIns="0" rIns="0" tIns="0" bIns="0">
            <a:spAutoFit/>
          </a:bodyPr>
          <a:lstStyle/>
          <a:p>
            <a:pPr algn="l">
              <a:lnSpc>
                <a:spcPct val="105000"/>
              </a:lnSpc>
              <a:spcBef>
                <a:spcPts val="0"/>
              </a:spcBef>
            </a:pPr>
            <a:r>
              <a:rPr sz="1050" b="0" i="0">
                <a:solidFill>
                  <a:srgbClr val="59595B"/>
                </a:solidFill>
                <a:latin typeface="Open Sans"/>
              </a:rPr>
              <a:t>RIN tracking, RVO, attestation</a:t>
            </a:r>
          </a:p>
        </p:txBody>
      </p:sp>
      <p:sp>
        <p:nvSpPr>
          <p:cNvPr id="32" name="Rounded Rectangle 31"/>
          <p:cNvSpPr/>
          <p:nvPr/>
        </p:nvSpPr>
        <p:spPr>
          <a:xfrm>
            <a:off x="10561320" y="3209544"/>
            <a:ext cx="914400" cy="329184"/>
          </a:xfrm>
          <a:prstGeom prst="roundRect">
            <a:avLst>
              <a:gd name="adj" fmla="val 25000"/>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61320" y="3209544"/>
            <a:ext cx="914400" cy="329184"/>
          </a:xfrm>
          <a:prstGeom prst="rect">
            <a:avLst/>
          </a:prstGeom>
          <a:noFill/>
        </p:spPr>
        <p:txBody>
          <a:bodyPr wrap="square" anchor="ctr" lIns="0" rIns="0" tIns="0" bIns="0">
            <a:spAutoFit/>
          </a:bodyPr>
          <a:lstStyle/>
          <a:p>
            <a:pPr algn="ctr">
              <a:spcBef>
                <a:spcPts val="0"/>
              </a:spcBef>
            </a:pPr>
            <a:r>
              <a:rPr sz="1000" b="1" i="0">
                <a:solidFill>
                  <a:srgbClr val="FFFFFF"/>
                </a:solidFill>
                <a:latin typeface="Open Sans"/>
              </a:rPr>
              <a:t>HIGH</a:t>
            </a:r>
          </a:p>
        </p:txBody>
      </p:sp>
      <p:sp>
        <p:nvSpPr>
          <p:cNvPr id="34" name="Rectangle 33"/>
          <p:cNvSpPr/>
          <p:nvPr/>
        </p:nvSpPr>
        <p:spPr>
          <a:xfrm>
            <a:off x="6126480" y="3904488"/>
            <a:ext cx="5486400" cy="713232"/>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63640" y="3959352"/>
            <a:ext cx="2011680" cy="274320"/>
          </a:xfrm>
          <a:prstGeom prst="rect">
            <a:avLst/>
          </a:prstGeom>
          <a:noFill/>
        </p:spPr>
        <p:txBody>
          <a:bodyPr wrap="square" anchor="t" lIns="0" rIns="0" tIns="0" bIns="0">
            <a:spAutoFit/>
          </a:bodyPr>
          <a:lstStyle/>
          <a:p>
            <a:pPr algn="l">
              <a:spcBef>
                <a:spcPts val="0"/>
              </a:spcBef>
            </a:pPr>
            <a:r>
              <a:rPr sz="1250" b="1" i="0">
                <a:solidFill>
                  <a:srgbClr val="2D2D2D"/>
                </a:solidFill>
                <a:latin typeface="Open Sans"/>
              </a:rPr>
              <a:t>IFTA</a:t>
            </a:r>
          </a:p>
        </p:txBody>
      </p:sp>
      <p:sp>
        <p:nvSpPr>
          <p:cNvPr id="36" name="TextBox 35"/>
          <p:cNvSpPr txBox="1"/>
          <p:nvPr/>
        </p:nvSpPr>
        <p:spPr>
          <a:xfrm>
            <a:off x="6263640" y="4242816"/>
            <a:ext cx="4480560" cy="320040"/>
          </a:xfrm>
          <a:prstGeom prst="rect">
            <a:avLst/>
          </a:prstGeom>
          <a:noFill/>
        </p:spPr>
        <p:txBody>
          <a:bodyPr wrap="square" anchor="t" lIns="0" rIns="0" tIns="0" bIns="0">
            <a:spAutoFit/>
          </a:bodyPr>
          <a:lstStyle/>
          <a:p>
            <a:pPr algn="l">
              <a:lnSpc>
                <a:spcPct val="105000"/>
              </a:lnSpc>
              <a:spcBef>
                <a:spcPts val="0"/>
              </a:spcBef>
            </a:pPr>
            <a:r>
              <a:rPr sz="1050" b="0" i="0">
                <a:solidFill>
                  <a:srgbClr val="59595B"/>
                </a:solidFill>
                <a:latin typeface="Open Sans"/>
              </a:rPr>
              <a:t>Multi-state fuel tax — ~88 hrs/yr/fleet</a:t>
            </a:r>
          </a:p>
        </p:txBody>
      </p:sp>
      <p:sp>
        <p:nvSpPr>
          <p:cNvPr id="37" name="Rounded Rectangle 36"/>
          <p:cNvSpPr/>
          <p:nvPr/>
        </p:nvSpPr>
        <p:spPr>
          <a:xfrm>
            <a:off x="10561320" y="4050792"/>
            <a:ext cx="914400" cy="329184"/>
          </a:xfrm>
          <a:prstGeom prst="roundRect">
            <a:avLst>
              <a:gd name="adj" fmla="val 25000"/>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561320" y="4050792"/>
            <a:ext cx="914400" cy="329184"/>
          </a:xfrm>
          <a:prstGeom prst="rect">
            <a:avLst/>
          </a:prstGeom>
          <a:noFill/>
        </p:spPr>
        <p:txBody>
          <a:bodyPr wrap="square" anchor="ctr" lIns="0" rIns="0" tIns="0" bIns="0">
            <a:spAutoFit/>
          </a:bodyPr>
          <a:lstStyle/>
          <a:p>
            <a:pPr algn="ctr">
              <a:spcBef>
                <a:spcPts val="0"/>
              </a:spcBef>
            </a:pPr>
            <a:r>
              <a:rPr sz="1000" b="1" i="0">
                <a:solidFill>
                  <a:srgbClr val="FFFFFF"/>
                </a:solidFill>
                <a:latin typeface="Open Sans"/>
              </a:rPr>
              <a:t>HIGH</a:t>
            </a:r>
          </a:p>
        </p:txBody>
      </p:sp>
      <p:sp>
        <p:nvSpPr>
          <p:cNvPr id="39" name="Rectangle 38"/>
          <p:cNvSpPr/>
          <p:nvPr/>
        </p:nvSpPr>
        <p:spPr>
          <a:xfrm>
            <a:off x="6126480" y="4745736"/>
            <a:ext cx="5486400" cy="713232"/>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63640" y="4800600"/>
            <a:ext cx="2011680" cy="274320"/>
          </a:xfrm>
          <a:prstGeom prst="rect">
            <a:avLst/>
          </a:prstGeom>
          <a:noFill/>
        </p:spPr>
        <p:txBody>
          <a:bodyPr wrap="square" anchor="t" lIns="0" rIns="0" tIns="0" bIns="0">
            <a:spAutoFit/>
          </a:bodyPr>
          <a:lstStyle/>
          <a:p>
            <a:pPr algn="l">
              <a:spcBef>
                <a:spcPts val="0"/>
              </a:spcBef>
            </a:pPr>
            <a:r>
              <a:rPr sz="1250" b="1" i="0">
                <a:solidFill>
                  <a:srgbClr val="2D2D2D"/>
                </a:solidFill>
                <a:latin typeface="Open Sans"/>
              </a:rPr>
              <a:t>UST rules</a:t>
            </a:r>
          </a:p>
        </p:txBody>
      </p:sp>
      <p:sp>
        <p:nvSpPr>
          <p:cNvPr id="41" name="TextBox 40"/>
          <p:cNvSpPr txBox="1"/>
          <p:nvPr/>
        </p:nvSpPr>
        <p:spPr>
          <a:xfrm>
            <a:off x="6263640" y="5084064"/>
            <a:ext cx="4480560" cy="320040"/>
          </a:xfrm>
          <a:prstGeom prst="rect">
            <a:avLst/>
          </a:prstGeom>
          <a:noFill/>
        </p:spPr>
        <p:txBody>
          <a:bodyPr wrap="square" anchor="t" lIns="0" rIns="0" tIns="0" bIns="0">
            <a:spAutoFit/>
          </a:bodyPr>
          <a:lstStyle/>
          <a:p>
            <a:pPr algn="l">
              <a:lnSpc>
                <a:spcPct val="105000"/>
              </a:lnSpc>
              <a:spcBef>
                <a:spcPts val="0"/>
              </a:spcBef>
            </a:pPr>
            <a:r>
              <a:rPr sz="1050" b="0" i="0">
                <a:solidFill>
                  <a:srgbClr val="59595B"/>
                </a:solidFill>
                <a:latin typeface="Open Sans"/>
              </a:rPr>
              <a:t>Single-wall tank closure by Dec 2025</a:t>
            </a:r>
          </a:p>
        </p:txBody>
      </p:sp>
      <p:sp>
        <p:nvSpPr>
          <p:cNvPr id="42" name="Rounded Rectangle 41"/>
          <p:cNvSpPr/>
          <p:nvPr/>
        </p:nvSpPr>
        <p:spPr>
          <a:xfrm>
            <a:off x="10561320" y="4892040"/>
            <a:ext cx="914400" cy="329184"/>
          </a:xfrm>
          <a:prstGeom prst="roundRect">
            <a:avLst>
              <a:gd name="adj" fmla="val 25000"/>
            </a:avLst>
          </a:prstGeom>
          <a:solidFill>
            <a:srgbClr val="1EA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61320" y="4892040"/>
            <a:ext cx="914400" cy="329184"/>
          </a:xfrm>
          <a:prstGeom prst="rect">
            <a:avLst/>
          </a:prstGeom>
          <a:noFill/>
        </p:spPr>
        <p:txBody>
          <a:bodyPr wrap="square" anchor="ctr" lIns="0" rIns="0" tIns="0" bIns="0">
            <a:spAutoFit/>
          </a:bodyPr>
          <a:lstStyle/>
          <a:p>
            <a:pPr algn="ctr">
              <a:spcBef>
                <a:spcPts val="0"/>
              </a:spcBef>
            </a:pPr>
            <a:r>
              <a:rPr sz="1000" b="1" i="0">
                <a:solidFill>
                  <a:srgbClr val="FFFFFF"/>
                </a:solidFill>
                <a:latin typeface="Open Sans"/>
              </a:rPr>
              <a:t>MED</a:t>
            </a:r>
          </a:p>
        </p:txBody>
      </p:sp>
      <p:sp>
        <p:nvSpPr>
          <p:cNvPr id="44" name="Rectangle 43"/>
          <p:cNvSpPr/>
          <p:nvPr/>
        </p:nvSpPr>
        <p:spPr>
          <a:xfrm>
            <a:off x="6126480" y="5586984"/>
            <a:ext cx="5486400" cy="713232"/>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63640" y="5641848"/>
            <a:ext cx="2011680" cy="274320"/>
          </a:xfrm>
          <a:prstGeom prst="rect">
            <a:avLst/>
          </a:prstGeom>
          <a:noFill/>
        </p:spPr>
        <p:txBody>
          <a:bodyPr wrap="square" anchor="t" lIns="0" rIns="0" tIns="0" bIns="0">
            <a:spAutoFit/>
          </a:bodyPr>
          <a:lstStyle/>
          <a:p>
            <a:pPr algn="l">
              <a:spcBef>
                <a:spcPts val="0"/>
              </a:spcBef>
            </a:pPr>
            <a:r>
              <a:rPr sz="1250" b="1" i="0">
                <a:solidFill>
                  <a:srgbClr val="2D2D2D"/>
                </a:solidFill>
                <a:latin typeface="Open Sans"/>
              </a:rPr>
              <a:t>DOT / Hazmat</a:t>
            </a:r>
          </a:p>
        </p:txBody>
      </p:sp>
      <p:sp>
        <p:nvSpPr>
          <p:cNvPr id="46" name="TextBox 45"/>
          <p:cNvSpPr txBox="1"/>
          <p:nvPr/>
        </p:nvSpPr>
        <p:spPr>
          <a:xfrm>
            <a:off x="6263640" y="5925312"/>
            <a:ext cx="4480560" cy="320040"/>
          </a:xfrm>
          <a:prstGeom prst="rect">
            <a:avLst/>
          </a:prstGeom>
          <a:noFill/>
        </p:spPr>
        <p:txBody>
          <a:bodyPr wrap="square" anchor="t" lIns="0" rIns="0" tIns="0" bIns="0">
            <a:spAutoFit/>
          </a:bodyPr>
          <a:lstStyle/>
          <a:p>
            <a:pPr algn="l">
              <a:lnSpc>
                <a:spcPct val="105000"/>
              </a:lnSpc>
              <a:spcBef>
                <a:spcPts val="0"/>
              </a:spcBef>
            </a:pPr>
            <a:r>
              <a:rPr sz="1050" b="0" i="0">
                <a:solidFill>
                  <a:srgbClr val="59595B"/>
                </a:solidFill>
                <a:latin typeface="Open Sans"/>
              </a:rPr>
              <a:t>Driver/Hazmat certs, BOL/manifests</a:t>
            </a:r>
          </a:p>
        </p:txBody>
      </p:sp>
      <p:sp>
        <p:nvSpPr>
          <p:cNvPr id="47" name="Rounded Rectangle 46"/>
          <p:cNvSpPr/>
          <p:nvPr/>
        </p:nvSpPr>
        <p:spPr>
          <a:xfrm>
            <a:off x="10561320" y="5733288"/>
            <a:ext cx="914400" cy="329184"/>
          </a:xfrm>
          <a:prstGeom prst="roundRect">
            <a:avLst>
              <a:gd name="adj" fmla="val 25000"/>
            </a:avLst>
          </a:prstGeom>
          <a:solidFill>
            <a:srgbClr val="1EA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561320" y="5733288"/>
            <a:ext cx="914400" cy="329184"/>
          </a:xfrm>
          <a:prstGeom prst="rect">
            <a:avLst/>
          </a:prstGeom>
          <a:noFill/>
        </p:spPr>
        <p:txBody>
          <a:bodyPr wrap="square" anchor="ctr" lIns="0" rIns="0" tIns="0" bIns="0">
            <a:spAutoFit/>
          </a:bodyPr>
          <a:lstStyle/>
          <a:p>
            <a:pPr algn="ctr">
              <a:spcBef>
                <a:spcPts val="0"/>
              </a:spcBef>
            </a:pPr>
            <a:r>
              <a:rPr sz="1000" b="1" i="0">
                <a:solidFill>
                  <a:srgbClr val="FFFFFF"/>
                </a:solidFill>
                <a:latin typeface="Open Sans"/>
              </a:rPr>
              <a:t>MED</a:t>
            </a:r>
          </a:p>
        </p:txBody>
      </p:sp>
      <p:sp>
        <p:nvSpPr>
          <p:cNvPr id="49" name="Rectangle 48"/>
          <p:cNvSpPr/>
          <p:nvPr/>
        </p:nvSpPr>
        <p:spPr>
          <a:xfrm>
            <a:off x="640080" y="6455664"/>
            <a:ext cx="10911535" cy="10972"/>
          </a:xfrm>
          <a:prstGeom prst="rect">
            <a:avLst/>
          </a:prstGeom>
          <a:solidFill>
            <a:srgbClr val="E9EC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0080" y="6510528"/>
            <a:ext cx="7772400" cy="274320"/>
          </a:xfrm>
          <a:prstGeom prst="rect">
            <a:avLst/>
          </a:prstGeom>
          <a:noFill/>
        </p:spPr>
        <p:txBody>
          <a:bodyPr wrap="square" anchor="t" lIns="0" rIns="0" tIns="0" bIns="0">
            <a:spAutoFit/>
          </a:bodyPr>
          <a:lstStyle/>
          <a:p>
            <a:pPr algn="l">
              <a:spcBef>
                <a:spcPts val="0"/>
              </a:spcBef>
            </a:pPr>
            <a:r>
              <a:rPr sz="850" b="0" i="0">
                <a:solidFill>
                  <a:srgbClr val="9A9AA2"/>
                </a:solidFill>
                <a:latin typeface="Open Sans"/>
              </a:rPr>
              <a:t>AI-Driven Growth Blueprint  ·  Prepared for SC Fuels  ·  Confidential</a:t>
            </a:r>
          </a:p>
        </p:txBody>
      </p:sp>
      <p:sp>
        <p:nvSpPr>
          <p:cNvPr id="51" name="TextBox 50"/>
          <p:cNvSpPr txBox="1"/>
          <p:nvPr/>
        </p:nvSpPr>
        <p:spPr>
          <a:xfrm>
            <a:off x="8259775" y="6510528"/>
            <a:ext cx="2743200" cy="274320"/>
          </a:xfrm>
          <a:prstGeom prst="rect">
            <a:avLst/>
          </a:prstGeom>
          <a:noFill/>
        </p:spPr>
        <p:txBody>
          <a:bodyPr wrap="square" anchor="t" lIns="0" rIns="0" tIns="0" bIns="0">
            <a:spAutoFit/>
          </a:bodyPr>
          <a:lstStyle/>
          <a:p>
            <a:pPr algn="r">
              <a:spcBef>
                <a:spcPts val="0"/>
              </a:spcBef>
            </a:pPr>
            <a:r>
              <a:rPr sz="850" b="0" i="0">
                <a:solidFill>
                  <a:srgbClr val="9A9AA2"/>
                </a:solidFill>
                <a:latin typeface="Open Sans"/>
              </a:rPr>
              <a:t>technijian.com</a:t>
            </a:r>
          </a:p>
        </p:txBody>
      </p:sp>
      <p:sp>
        <p:nvSpPr>
          <p:cNvPr id="52" name="TextBox 51"/>
          <p:cNvSpPr txBox="1"/>
          <p:nvPr/>
        </p:nvSpPr>
        <p:spPr>
          <a:xfrm>
            <a:off x="11277295" y="6510528"/>
            <a:ext cx="274320" cy="274320"/>
          </a:xfrm>
          <a:prstGeom prst="rect">
            <a:avLst/>
          </a:prstGeom>
          <a:noFill/>
        </p:spPr>
        <p:txBody>
          <a:bodyPr wrap="square" anchor="t" lIns="0" rIns="0" tIns="0" bIns="0">
            <a:spAutoFit/>
          </a:bodyPr>
          <a:lstStyle/>
          <a:p>
            <a:pPr algn="r">
              <a:spcBef>
                <a:spcPts val="0"/>
              </a:spcBef>
            </a:pPr>
            <a:r>
              <a:rPr sz="850" b="1" i="0">
                <a:solidFill>
                  <a:srgbClr val="9A9AA2"/>
                </a:solidFill>
                <a:latin typeface="Open San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6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8016"/>
            <a:ext cx="12191695" cy="36576"/>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chnijian Logo 2.png"/>
          <p:cNvPicPr>
            <a:picLocks noChangeAspect="1"/>
          </p:cNvPicPr>
          <p:nvPr/>
        </p:nvPicPr>
        <p:blipFill>
          <a:blip r:embed="rId2"/>
          <a:stretch>
            <a:fillRect/>
          </a:stretch>
        </p:blipFill>
        <p:spPr>
          <a:xfrm>
            <a:off x="10362895" y="420624"/>
            <a:ext cx="1463040" cy="306170"/>
          </a:xfrm>
          <a:prstGeom prst="rect">
            <a:avLst/>
          </a:prstGeom>
        </p:spPr>
      </p:pic>
      <p:sp>
        <p:nvSpPr>
          <p:cNvPr id="6" name="TextBox 5"/>
          <p:cNvSpPr txBox="1"/>
          <p:nvPr/>
        </p:nvSpPr>
        <p:spPr>
          <a:xfrm>
            <a:off x="640080" y="475488"/>
            <a:ext cx="8686800" cy="274320"/>
          </a:xfrm>
          <a:prstGeom prst="rect">
            <a:avLst/>
          </a:prstGeom>
          <a:noFill/>
        </p:spPr>
        <p:txBody>
          <a:bodyPr wrap="square" anchor="t" lIns="0" rIns="0" tIns="0" bIns="0">
            <a:spAutoFit/>
          </a:bodyPr>
          <a:lstStyle/>
          <a:p>
            <a:pPr algn="l">
              <a:spcBef>
                <a:spcPts val="0"/>
              </a:spcBef>
            </a:pPr>
            <a:r>
              <a:rPr sz="1200" b="1" i="0">
                <a:solidFill>
                  <a:srgbClr val="F67D4B"/>
                </a:solidFill>
                <a:latin typeface="Open Sans"/>
              </a:rPr>
              <a:t>WHERE THE GROWTH LIVES</a:t>
            </a:r>
          </a:p>
        </p:txBody>
      </p:sp>
      <p:sp>
        <p:nvSpPr>
          <p:cNvPr id="7" name="TextBox 6"/>
          <p:cNvSpPr txBox="1"/>
          <p:nvPr/>
        </p:nvSpPr>
        <p:spPr>
          <a:xfrm>
            <a:off x="640080" y="768096"/>
            <a:ext cx="9418320" cy="566928"/>
          </a:xfrm>
          <a:prstGeom prst="rect">
            <a:avLst/>
          </a:prstGeom>
          <a:noFill/>
        </p:spPr>
        <p:txBody>
          <a:bodyPr wrap="square" anchor="t" lIns="0" rIns="0" tIns="0" bIns="0">
            <a:spAutoFit/>
          </a:bodyPr>
          <a:lstStyle/>
          <a:p>
            <a:pPr algn="l">
              <a:spcBef>
                <a:spcPts val="0"/>
              </a:spcBef>
            </a:pPr>
            <a:r>
              <a:rPr sz="2600" b="1" i="0">
                <a:solidFill>
                  <a:srgbClr val="006DB6"/>
                </a:solidFill>
                <a:latin typeface="Open Sans"/>
              </a:rPr>
              <a:t>A hybrid engine — not shotgun marketing</a:t>
            </a:r>
          </a:p>
        </p:txBody>
      </p:sp>
      <p:sp>
        <p:nvSpPr>
          <p:cNvPr id="8" name="Rectangle 7"/>
          <p:cNvSpPr/>
          <p:nvPr/>
        </p:nvSpPr>
        <p:spPr>
          <a:xfrm>
            <a:off x="658368" y="1481328"/>
            <a:ext cx="1371600" cy="41148"/>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0080" y="1783080"/>
            <a:ext cx="5349240" cy="1691640"/>
          </a:xfrm>
          <a:prstGeom prst="roundRect">
            <a:avLst>
              <a:gd name="adj" fmla="val 5000"/>
            </a:avLst>
          </a:prstGeom>
          <a:solidFill>
            <a:srgbClr val="F8F9FA"/>
          </a:solidFill>
          <a:ln w="12700">
            <a:solidFill>
              <a:srgbClr val="E9EC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783080"/>
            <a:ext cx="5349240" cy="118872"/>
          </a:xfrm>
          <a:prstGeom prst="rect">
            <a:avLst/>
          </a:prstGeom>
          <a:solidFill>
            <a:srgbClr val="1EA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084831"/>
            <a:ext cx="4800600" cy="365760"/>
          </a:xfrm>
          <a:prstGeom prst="rect">
            <a:avLst/>
          </a:prstGeom>
          <a:noFill/>
        </p:spPr>
        <p:txBody>
          <a:bodyPr wrap="square" anchor="t" lIns="0" rIns="0" tIns="0" bIns="0">
            <a:spAutoFit/>
          </a:bodyPr>
          <a:lstStyle/>
          <a:p>
            <a:pPr algn="l">
              <a:spcBef>
                <a:spcPts val="0"/>
              </a:spcBef>
            </a:pPr>
            <a:r>
              <a:rPr sz="1700" b="1" i="0">
                <a:solidFill>
                  <a:srgbClr val="1EAAC8"/>
                </a:solidFill>
                <a:latin typeface="Open Sans"/>
              </a:rPr>
              <a:t>Searchable demand</a:t>
            </a:r>
          </a:p>
        </p:txBody>
      </p:sp>
      <p:sp>
        <p:nvSpPr>
          <p:cNvPr id="12" name="TextBox 11"/>
          <p:cNvSpPr txBox="1"/>
          <p:nvPr/>
        </p:nvSpPr>
        <p:spPr>
          <a:xfrm>
            <a:off x="932688" y="2560320"/>
            <a:ext cx="4764024" cy="822960"/>
          </a:xfrm>
          <a:prstGeom prst="rect">
            <a:avLst/>
          </a:prstGeom>
          <a:noFill/>
        </p:spPr>
        <p:txBody>
          <a:bodyPr wrap="square" anchor="t" lIns="0" rIns="0" tIns="0" bIns="0">
            <a:spAutoFit/>
          </a:bodyPr>
          <a:lstStyle/>
          <a:p>
            <a:pPr algn="l">
              <a:lnSpc>
                <a:spcPct val="122000"/>
              </a:lnSpc>
              <a:spcBef>
                <a:spcPts val="0"/>
              </a:spcBef>
            </a:pPr>
            <a:r>
              <a:rPr sz="1250" b="0" i="0">
                <a:solidFill>
                  <a:srgbClr val="59595B"/>
                </a:solidFill>
                <a:latin typeface="Open Sans"/>
              </a:rPr>
              <a:t>"bulk diesel delivery [city]", "cardlock near me", "DEF delivery", "renewable diesel supplier" — real demand you under-harvest today.</a:t>
            </a:r>
          </a:p>
        </p:txBody>
      </p:sp>
      <p:sp>
        <p:nvSpPr>
          <p:cNvPr id="13" name="Rounded Rectangle 12"/>
          <p:cNvSpPr/>
          <p:nvPr/>
        </p:nvSpPr>
        <p:spPr>
          <a:xfrm>
            <a:off x="6245352" y="1783080"/>
            <a:ext cx="5349240" cy="1691640"/>
          </a:xfrm>
          <a:prstGeom prst="roundRect">
            <a:avLst>
              <a:gd name="adj" fmla="val 5000"/>
            </a:avLst>
          </a:prstGeom>
          <a:solidFill>
            <a:srgbClr val="F8F9FA"/>
          </a:solidFill>
          <a:ln w="12700">
            <a:solidFill>
              <a:srgbClr val="E9EC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45352" y="1783080"/>
            <a:ext cx="5349240" cy="118872"/>
          </a:xfrm>
          <a:prstGeom prst="rect">
            <a:avLst/>
          </a:prstGeom>
          <a:solidFill>
            <a:srgbClr val="006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2084831"/>
            <a:ext cx="4800600" cy="365760"/>
          </a:xfrm>
          <a:prstGeom prst="rect">
            <a:avLst/>
          </a:prstGeom>
          <a:noFill/>
        </p:spPr>
        <p:txBody>
          <a:bodyPr wrap="square" anchor="t" lIns="0" rIns="0" tIns="0" bIns="0">
            <a:spAutoFit/>
          </a:bodyPr>
          <a:lstStyle/>
          <a:p>
            <a:pPr algn="l">
              <a:spcBef>
                <a:spcPts val="0"/>
              </a:spcBef>
            </a:pPr>
            <a:r>
              <a:rPr sz="1700" b="1" i="0">
                <a:solidFill>
                  <a:srgbClr val="006DB6"/>
                </a:solidFill>
                <a:latin typeface="Open Sans"/>
              </a:rPr>
              <a:t>Named accounts</a:t>
            </a:r>
          </a:p>
        </p:txBody>
      </p:sp>
      <p:sp>
        <p:nvSpPr>
          <p:cNvPr id="16" name="TextBox 15"/>
          <p:cNvSpPr txBox="1"/>
          <p:nvPr/>
        </p:nvSpPr>
        <p:spPr>
          <a:xfrm>
            <a:off x="6537960" y="2560320"/>
            <a:ext cx="4764024" cy="822960"/>
          </a:xfrm>
          <a:prstGeom prst="rect">
            <a:avLst/>
          </a:prstGeom>
          <a:noFill/>
        </p:spPr>
        <p:txBody>
          <a:bodyPr wrap="square" anchor="t" lIns="0" rIns="0" tIns="0" bIns="0">
            <a:spAutoFit/>
          </a:bodyPr>
          <a:lstStyle/>
          <a:p>
            <a:pPr algn="l">
              <a:lnSpc>
                <a:spcPct val="122000"/>
              </a:lnSpc>
              <a:spcBef>
                <a:spcPts val="0"/>
              </a:spcBef>
            </a:pPr>
            <a:r>
              <a:rPr sz="1250" b="0" i="0">
                <a:solidFill>
                  <a:srgbClr val="59595B"/>
                </a:solidFill>
                <a:latin typeface="Open Sans"/>
              </a:rPr>
              <a:t>Large fleets, construction &amp; ag operations — account intelligence + per-account dossiers that arm your field reps across 15 states.</a:t>
            </a:r>
          </a:p>
        </p:txBody>
      </p:sp>
      <p:sp>
        <p:nvSpPr>
          <p:cNvPr id="17" name="Rounded Rectangle 16"/>
          <p:cNvSpPr/>
          <p:nvPr/>
        </p:nvSpPr>
        <p:spPr>
          <a:xfrm>
            <a:off x="640080" y="3730752"/>
            <a:ext cx="5349240" cy="1691640"/>
          </a:xfrm>
          <a:prstGeom prst="roundRect">
            <a:avLst>
              <a:gd name="adj" fmla="val 5000"/>
            </a:avLst>
          </a:prstGeom>
          <a:solidFill>
            <a:srgbClr val="F8F9FA"/>
          </a:solidFill>
          <a:ln w="12700">
            <a:solidFill>
              <a:srgbClr val="E9EC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3730752"/>
            <a:ext cx="5349240" cy="118872"/>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4032504"/>
            <a:ext cx="4800600" cy="365760"/>
          </a:xfrm>
          <a:prstGeom prst="rect">
            <a:avLst/>
          </a:prstGeom>
          <a:noFill/>
        </p:spPr>
        <p:txBody>
          <a:bodyPr wrap="square" anchor="t" lIns="0" rIns="0" tIns="0" bIns="0">
            <a:spAutoFit/>
          </a:bodyPr>
          <a:lstStyle/>
          <a:p>
            <a:pPr algn="l">
              <a:spcBef>
                <a:spcPts val="0"/>
              </a:spcBef>
            </a:pPr>
            <a:r>
              <a:rPr sz="1700" b="1" i="0">
                <a:solidFill>
                  <a:srgbClr val="F67D4B"/>
                </a:solidFill>
                <a:latin typeface="Open Sans"/>
              </a:rPr>
              <a:t>Municipal RFPs</a:t>
            </a:r>
          </a:p>
        </p:txBody>
      </p:sp>
      <p:sp>
        <p:nvSpPr>
          <p:cNvPr id="20" name="TextBox 19"/>
          <p:cNvSpPr txBox="1"/>
          <p:nvPr/>
        </p:nvSpPr>
        <p:spPr>
          <a:xfrm>
            <a:off x="932688" y="4507992"/>
            <a:ext cx="4764024" cy="822960"/>
          </a:xfrm>
          <a:prstGeom prst="rect">
            <a:avLst/>
          </a:prstGeom>
          <a:noFill/>
        </p:spPr>
        <p:txBody>
          <a:bodyPr wrap="square" anchor="t" lIns="0" rIns="0" tIns="0" bIns="0">
            <a:spAutoFit/>
          </a:bodyPr>
          <a:lstStyle/>
          <a:p>
            <a:pPr algn="l">
              <a:lnSpc>
                <a:spcPct val="122000"/>
              </a:lnSpc>
              <a:spcBef>
                <a:spcPts val="0"/>
              </a:spcBef>
            </a:pPr>
            <a:r>
              <a:rPr sz="1250" b="0" i="0">
                <a:solidFill>
                  <a:srgbClr val="59595B"/>
                </a:solidFill>
                <a:latin typeface="Open Sans"/>
              </a:rPr>
              <a:t>Bid-response automation turns days into minutes — countering the missing MBE/WBE diversity wedge with speed and Pilot scale.</a:t>
            </a:r>
          </a:p>
        </p:txBody>
      </p:sp>
      <p:sp>
        <p:nvSpPr>
          <p:cNvPr id="21" name="Rounded Rectangle 20"/>
          <p:cNvSpPr/>
          <p:nvPr/>
        </p:nvSpPr>
        <p:spPr>
          <a:xfrm>
            <a:off x="6245352" y="3730752"/>
            <a:ext cx="5349240" cy="1691640"/>
          </a:xfrm>
          <a:prstGeom prst="roundRect">
            <a:avLst>
              <a:gd name="adj" fmla="val 5000"/>
            </a:avLst>
          </a:prstGeom>
          <a:solidFill>
            <a:srgbClr val="F8F9FA"/>
          </a:solidFill>
          <a:ln w="12700">
            <a:solidFill>
              <a:srgbClr val="E9EC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45352" y="3730752"/>
            <a:ext cx="5349240" cy="118872"/>
          </a:xfrm>
          <a:prstGeom prst="rect">
            <a:avLst/>
          </a:prstGeom>
          <a:solidFill>
            <a:srgbClr val="28A7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37960" y="4032504"/>
            <a:ext cx="4800600" cy="365760"/>
          </a:xfrm>
          <a:prstGeom prst="rect">
            <a:avLst/>
          </a:prstGeom>
          <a:noFill/>
        </p:spPr>
        <p:txBody>
          <a:bodyPr wrap="square" anchor="t" lIns="0" rIns="0" tIns="0" bIns="0">
            <a:spAutoFit/>
          </a:bodyPr>
          <a:lstStyle/>
          <a:p>
            <a:pPr algn="l">
              <a:spcBef>
                <a:spcPts val="0"/>
              </a:spcBef>
            </a:pPr>
            <a:r>
              <a:rPr sz="1700" b="1" i="0">
                <a:solidFill>
                  <a:srgbClr val="28A745"/>
                </a:solidFill>
                <a:latin typeface="Open Sans"/>
              </a:rPr>
              <a:t>Renewable / ESG</a:t>
            </a:r>
          </a:p>
        </p:txBody>
      </p:sp>
      <p:sp>
        <p:nvSpPr>
          <p:cNvPr id="24" name="TextBox 23"/>
          <p:cNvSpPr txBox="1"/>
          <p:nvPr/>
        </p:nvSpPr>
        <p:spPr>
          <a:xfrm>
            <a:off x="6537960" y="4507992"/>
            <a:ext cx="4764024" cy="822960"/>
          </a:xfrm>
          <a:prstGeom prst="rect">
            <a:avLst/>
          </a:prstGeom>
          <a:noFill/>
        </p:spPr>
        <p:txBody>
          <a:bodyPr wrap="square" anchor="t" lIns="0" rIns="0" tIns="0" bIns="0">
            <a:spAutoFit/>
          </a:bodyPr>
          <a:lstStyle/>
          <a:p>
            <a:pPr algn="l">
              <a:lnSpc>
                <a:spcPct val="122000"/>
              </a:lnSpc>
              <a:spcBef>
                <a:spcPts val="0"/>
              </a:spcBef>
            </a:pPr>
            <a:r>
              <a:rPr sz="1250" b="0" i="0">
                <a:solidFill>
                  <a:srgbClr val="59595B"/>
                </a:solidFill>
                <a:latin typeface="Open Sans"/>
              </a:rPr>
              <a:t>R99 opportunity intelligence — match LCFS economics to the accounts and regions where renewable diesel wins.</a:t>
            </a:r>
          </a:p>
        </p:txBody>
      </p:sp>
      <p:sp>
        <p:nvSpPr>
          <p:cNvPr id="25" name="TextBox 24"/>
          <p:cNvSpPr txBox="1"/>
          <p:nvPr/>
        </p:nvSpPr>
        <p:spPr>
          <a:xfrm>
            <a:off x="640080" y="5943600"/>
            <a:ext cx="10911535" cy="365760"/>
          </a:xfrm>
          <a:prstGeom prst="rect">
            <a:avLst/>
          </a:prstGeom>
          <a:noFill/>
        </p:spPr>
        <p:txBody>
          <a:bodyPr wrap="square" anchor="t" lIns="0" rIns="0" tIns="0" bIns="0">
            <a:spAutoFit/>
          </a:bodyPr>
          <a:lstStyle/>
          <a:p>
            <a:pPr algn="l">
              <a:spcBef>
                <a:spcPts val="0"/>
              </a:spcBef>
            </a:pPr>
            <a:r>
              <a:rPr sz="1250" b="1" i="0">
                <a:solidFill>
                  <a:srgbClr val="F67D4B"/>
                </a:solidFill>
                <a:latin typeface="Open Sans"/>
              </a:rPr>
              <a:t>Honest framing: </a:t>
            </a:r>
            <a:r>
              <a:rPr sz="1250" b="0" i="1">
                <a:solidFill>
                  <a:srgbClr val="2D2D2D"/>
                </a:solidFill>
                <a:latin typeface="Open Sans"/>
              </a:rPr>
              <a:t>AI supports the rep relationship and Pilot's supply — it doesn't replace them. We harvest demand you already have; we don't manufacture noise.</a:t>
            </a:r>
          </a:p>
        </p:txBody>
      </p:sp>
      <p:sp>
        <p:nvSpPr>
          <p:cNvPr id="26" name="Rectangle 25"/>
          <p:cNvSpPr/>
          <p:nvPr/>
        </p:nvSpPr>
        <p:spPr>
          <a:xfrm>
            <a:off x="640080" y="6455664"/>
            <a:ext cx="10911535" cy="10972"/>
          </a:xfrm>
          <a:prstGeom prst="rect">
            <a:avLst/>
          </a:prstGeom>
          <a:solidFill>
            <a:srgbClr val="E9EC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6510528"/>
            <a:ext cx="7772400" cy="274320"/>
          </a:xfrm>
          <a:prstGeom prst="rect">
            <a:avLst/>
          </a:prstGeom>
          <a:noFill/>
        </p:spPr>
        <p:txBody>
          <a:bodyPr wrap="square" anchor="t" lIns="0" rIns="0" tIns="0" bIns="0">
            <a:spAutoFit/>
          </a:bodyPr>
          <a:lstStyle/>
          <a:p>
            <a:pPr algn="l">
              <a:spcBef>
                <a:spcPts val="0"/>
              </a:spcBef>
            </a:pPr>
            <a:r>
              <a:rPr sz="850" b="0" i="0">
                <a:solidFill>
                  <a:srgbClr val="9A9AA2"/>
                </a:solidFill>
                <a:latin typeface="Open Sans"/>
              </a:rPr>
              <a:t>AI-Driven Growth Blueprint  ·  Prepared for SC Fuels  ·  Confidential</a:t>
            </a:r>
          </a:p>
        </p:txBody>
      </p:sp>
      <p:sp>
        <p:nvSpPr>
          <p:cNvPr id="28" name="TextBox 27"/>
          <p:cNvSpPr txBox="1"/>
          <p:nvPr/>
        </p:nvSpPr>
        <p:spPr>
          <a:xfrm>
            <a:off x="8259775" y="6510528"/>
            <a:ext cx="2743200" cy="274320"/>
          </a:xfrm>
          <a:prstGeom prst="rect">
            <a:avLst/>
          </a:prstGeom>
          <a:noFill/>
        </p:spPr>
        <p:txBody>
          <a:bodyPr wrap="square" anchor="t" lIns="0" rIns="0" tIns="0" bIns="0">
            <a:spAutoFit/>
          </a:bodyPr>
          <a:lstStyle/>
          <a:p>
            <a:pPr algn="r">
              <a:spcBef>
                <a:spcPts val="0"/>
              </a:spcBef>
            </a:pPr>
            <a:r>
              <a:rPr sz="850" b="0" i="0">
                <a:solidFill>
                  <a:srgbClr val="9A9AA2"/>
                </a:solidFill>
                <a:latin typeface="Open Sans"/>
              </a:rPr>
              <a:t>technijian.com</a:t>
            </a:r>
          </a:p>
        </p:txBody>
      </p:sp>
      <p:sp>
        <p:nvSpPr>
          <p:cNvPr id="29" name="TextBox 28"/>
          <p:cNvSpPr txBox="1"/>
          <p:nvPr/>
        </p:nvSpPr>
        <p:spPr>
          <a:xfrm>
            <a:off x="11277295" y="6510528"/>
            <a:ext cx="274320" cy="274320"/>
          </a:xfrm>
          <a:prstGeom prst="rect">
            <a:avLst/>
          </a:prstGeom>
          <a:noFill/>
        </p:spPr>
        <p:txBody>
          <a:bodyPr wrap="square" anchor="t" lIns="0" rIns="0" tIns="0" bIns="0">
            <a:spAutoFit/>
          </a:bodyPr>
          <a:lstStyle/>
          <a:p>
            <a:pPr algn="r">
              <a:spcBef>
                <a:spcPts val="0"/>
              </a:spcBef>
            </a:pPr>
            <a:r>
              <a:rPr sz="850" b="1" i="0">
                <a:solidFill>
                  <a:srgbClr val="9A9AA2"/>
                </a:solidFill>
                <a:latin typeface="Open San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6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8016"/>
            <a:ext cx="12191695" cy="36576"/>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chnijian Logo 2.png"/>
          <p:cNvPicPr>
            <a:picLocks noChangeAspect="1"/>
          </p:cNvPicPr>
          <p:nvPr/>
        </p:nvPicPr>
        <p:blipFill>
          <a:blip r:embed="rId2"/>
          <a:stretch>
            <a:fillRect/>
          </a:stretch>
        </p:blipFill>
        <p:spPr>
          <a:xfrm>
            <a:off x="10362895" y="420624"/>
            <a:ext cx="1463040" cy="306170"/>
          </a:xfrm>
          <a:prstGeom prst="rect">
            <a:avLst/>
          </a:prstGeom>
        </p:spPr>
      </p:pic>
      <p:sp>
        <p:nvSpPr>
          <p:cNvPr id="6" name="TextBox 5"/>
          <p:cNvSpPr txBox="1"/>
          <p:nvPr/>
        </p:nvSpPr>
        <p:spPr>
          <a:xfrm>
            <a:off x="640080" y="475488"/>
            <a:ext cx="8686800" cy="274320"/>
          </a:xfrm>
          <a:prstGeom prst="rect">
            <a:avLst/>
          </a:prstGeom>
          <a:noFill/>
        </p:spPr>
        <p:txBody>
          <a:bodyPr wrap="square" anchor="t" lIns="0" rIns="0" tIns="0" bIns="0">
            <a:spAutoFit/>
          </a:bodyPr>
          <a:lstStyle/>
          <a:p>
            <a:pPr algn="l">
              <a:spcBef>
                <a:spcPts val="0"/>
              </a:spcBef>
            </a:pPr>
            <a:r>
              <a:rPr sz="1200" b="1" i="0">
                <a:solidFill>
                  <a:srgbClr val="F67D4B"/>
                </a:solidFill>
                <a:latin typeface="Open Sans"/>
              </a:rPr>
              <a:t>WHO BUYS</a:t>
            </a:r>
          </a:p>
        </p:txBody>
      </p:sp>
      <p:sp>
        <p:nvSpPr>
          <p:cNvPr id="7" name="TextBox 6"/>
          <p:cNvSpPr txBox="1"/>
          <p:nvPr/>
        </p:nvSpPr>
        <p:spPr>
          <a:xfrm>
            <a:off x="640080" y="768096"/>
            <a:ext cx="9418320" cy="566928"/>
          </a:xfrm>
          <a:prstGeom prst="rect">
            <a:avLst/>
          </a:prstGeom>
          <a:noFill/>
        </p:spPr>
        <p:txBody>
          <a:bodyPr wrap="square" anchor="t" lIns="0" rIns="0" tIns="0" bIns="0">
            <a:spAutoFit/>
          </a:bodyPr>
          <a:lstStyle/>
          <a:p>
            <a:pPr algn="l">
              <a:spcBef>
                <a:spcPts val="0"/>
              </a:spcBef>
            </a:pPr>
            <a:r>
              <a:rPr sz="2600" b="1" i="0">
                <a:solidFill>
                  <a:srgbClr val="006DB6"/>
                </a:solidFill>
                <a:latin typeface="Open Sans"/>
              </a:rPr>
              <a:t>The SC Fuels customer — volume × margin</a:t>
            </a:r>
          </a:p>
        </p:txBody>
      </p:sp>
      <p:sp>
        <p:nvSpPr>
          <p:cNvPr id="8" name="Rectangle 7"/>
          <p:cNvSpPr/>
          <p:nvPr/>
        </p:nvSpPr>
        <p:spPr>
          <a:xfrm>
            <a:off x="658368" y="1481328"/>
            <a:ext cx="1371600" cy="41148"/>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ersonas.png"/>
          <p:cNvPicPr>
            <a:picLocks noChangeAspect="1"/>
          </p:cNvPicPr>
          <p:nvPr/>
        </p:nvPicPr>
        <p:blipFill>
          <a:blip r:embed="rId3"/>
          <a:stretch>
            <a:fillRect/>
          </a:stretch>
        </p:blipFill>
        <p:spPr>
          <a:xfrm>
            <a:off x="2655493" y="1645920"/>
            <a:ext cx="6880708" cy="4617720"/>
          </a:xfrm>
          <a:prstGeom prst="rect">
            <a:avLst/>
          </a:prstGeom>
        </p:spPr>
      </p:pic>
      <p:sp>
        <p:nvSpPr>
          <p:cNvPr id="10" name="Rectangle 9"/>
          <p:cNvSpPr/>
          <p:nvPr/>
        </p:nvSpPr>
        <p:spPr>
          <a:xfrm>
            <a:off x="640080" y="6455664"/>
            <a:ext cx="10911535" cy="10972"/>
          </a:xfrm>
          <a:prstGeom prst="rect">
            <a:avLst/>
          </a:prstGeom>
          <a:solidFill>
            <a:srgbClr val="E9EC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510528"/>
            <a:ext cx="7772400" cy="274320"/>
          </a:xfrm>
          <a:prstGeom prst="rect">
            <a:avLst/>
          </a:prstGeom>
          <a:noFill/>
        </p:spPr>
        <p:txBody>
          <a:bodyPr wrap="square" anchor="t" lIns="0" rIns="0" tIns="0" bIns="0">
            <a:spAutoFit/>
          </a:bodyPr>
          <a:lstStyle/>
          <a:p>
            <a:pPr algn="l">
              <a:spcBef>
                <a:spcPts val="0"/>
              </a:spcBef>
            </a:pPr>
            <a:r>
              <a:rPr sz="850" b="0" i="0">
                <a:solidFill>
                  <a:srgbClr val="9A9AA2"/>
                </a:solidFill>
                <a:latin typeface="Open Sans"/>
              </a:rPr>
              <a:t>AI-Driven Growth Blueprint  ·  Prepared for SC Fuels  ·  Confidential</a:t>
            </a:r>
          </a:p>
        </p:txBody>
      </p:sp>
      <p:sp>
        <p:nvSpPr>
          <p:cNvPr id="12" name="TextBox 11"/>
          <p:cNvSpPr txBox="1"/>
          <p:nvPr/>
        </p:nvSpPr>
        <p:spPr>
          <a:xfrm>
            <a:off x="8259775" y="6510528"/>
            <a:ext cx="2743200" cy="274320"/>
          </a:xfrm>
          <a:prstGeom prst="rect">
            <a:avLst/>
          </a:prstGeom>
          <a:noFill/>
        </p:spPr>
        <p:txBody>
          <a:bodyPr wrap="square" anchor="t" lIns="0" rIns="0" tIns="0" bIns="0">
            <a:spAutoFit/>
          </a:bodyPr>
          <a:lstStyle/>
          <a:p>
            <a:pPr algn="r">
              <a:spcBef>
                <a:spcPts val="0"/>
              </a:spcBef>
            </a:pPr>
            <a:r>
              <a:rPr sz="850" b="0" i="0">
                <a:solidFill>
                  <a:srgbClr val="9A9AA2"/>
                </a:solidFill>
                <a:latin typeface="Open Sans"/>
              </a:rPr>
              <a:t>technijian.com</a:t>
            </a:r>
          </a:p>
        </p:txBody>
      </p:sp>
      <p:sp>
        <p:nvSpPr>
          <p:cNvPr id="13" name="TextBox 12"/>
          <p:cNvSpPr txBox="1"/>
          <p:nvPr/>
        </p:nvSpPr>
        <p:spPr>
          <a:xfrm>
            <a:off x="11277295" y="6510528"/>
            <a:ext cx="274320" cy="274320"/>
          </a:xfrm>
          <a:prstGeom prst="rect">
            <a:avLst/>
          </a:prstGeom>
          <a:noFill/>
        </p:spPr>
        <p:txBody>
          <a:bodyPr wrap="square" anchor="t" lIns="0" rIns="0" tIns="0" bIns="0">
            <a:spAutoFit/>
          </a:bodyPr>
          <a:lstStyle/>
          <a:p>
            <a:pPr algn="r">
              <a:spcBef>
                <a:spcPts val="0"/>
              </a:spcBef>
            </a:pPr>
            <a:r>
              <a:rPr sz="850" b="1" i="0">
                <a:solidFill>
                  <a:srgbClr val="9A9AA2"/>
                </a:solidFill>
                <a:latin typeface="Open San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6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8016"/>
            <a:ext cx="12191695" cy="36576"/>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chnijian Logo 2.png"/>
          <p:cNvPicPr>
            <a:picLocks noChangeAspect="1"/>
          </p:cNvPicPr>
          <p:nvPr/>
        </p:nvPicPr>
        <p:blipFill>
          <a:blip r:embed="rId2"/>
          <a:stretch>
            <a:fillRect/>
          </a:stretch>
        </p:blipFill>
        <p:spPr>
          <a:xfrm>
            <a:off x="10362895" y="420624"/>
            <a:ext cx="1463040" cy="306170"/>
          </a:xfrm>
          <a:prstGeom prst="rect">
            <a:avLst/>
          </a:prstGeom>
        </p:spPr>
      </p:pic>
      <p:sp>
        <p:nvSpPr>
          <p:cNvPr id="6" name="TextBox 5"/>
          <p:cNvSpPr txBox="1"/>
          <p:nvPr/>
        </p:nvSpPr>
        <p:spPr>
          <a:xfrm>
            <a:off x="640080" y="475488"/>
            <a:ext cx="8686800" cy="274320"/>
          </a:xfrm>
          <a:prstGeom prst="rect">
            <a:avLst/>
          </a:prstGeom>
          <a:noFill/>
        </p:spPr>
        <p:txBody>
          <a:bodyPr wrap="square" anchor="t" lIns="0" rIns="0" tIns="0" bIns="0">
            <a:spAutoFit/>
          </a:bodyPr>
          <a:lstStyle/>
          <a:p>
            <a:pPr algn="l">
              <a:spcBef>
                <a:spcPts val="0"/>
              </a:spcBef>
            </a:pPr>
            <a:r>
              <a:rPr sz="1200" b="1" i="0">
                <a:solidFill>
                  <a:srgbClr val="F67D4B"/>
                </a:solidFill>
                <a:latin typeface="Open Sans"/>
              </a:rPr>
              <a:t>THE WHITE SPACE</a:t>
            </a:r>
          </a:p>
        </p:txBody>
      </p:sp>
      <p:sp>
        <p:nvSpPr>
          <p:cNvPr id="7" name="TextBox 6"/>
          <p:cNvSpPr txBox="1"/>
          <p:nvPr/>
        </p:nvSpPr>
        <p:spPr>
          <a:xfrm>
            <a:off x="640080" y="768096"/>
            <a:ext cx="9418320" cy="566928"/>
          </a:xfrm>
          <a:prstGeom prst="rect">
            <a:avLst/>
          </a:prstGeom>
          <a:noFill/>
        </p:spPr>
        <p:txBody>
          <a:bodyPr wrap="square" anchor="t" lIns="0" rIns="0" tIns="0" bIns="0">
            <a:spAutoFit/>
          </a:bodyPr>
          <a:lstStyle/>
          <a:p>
            <a:pPr algn="l">
              <a:spcBef>
                <a:spcPts val="0"/>
              </a:spcBef>
            </a:pPr>
            <a:r>
              <a:rPr sz="2600" b="1" i="0">
                <a:solidFill>
                  <a:srgbClr val="006DB6"/>
                </a:solidFill>
                <a:latin typeface="Open Sans"/>
              </a:rPr>
              <a:t>Competitive positioning — scale × AI maturity</a:t>
            </a:r>
          </a:p>
        </p:txBody>
      </p:sp>
      <p:sp>
        <p:nvSpPr>
          <p:cNvPr id="8" name="Rectangle 7"/>
          <p:cNvSpPr/>
          <p:nvPr/>
        </p:nvSpPr>
        <p:spPr>
          <a:xfrm>
            <a:off x="658368" y="1481328"/>
            <a:ext cx="1371600" cy="41148"/>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ompetitive.png"/>
          <p:cNvPicPr>
            <a:picLocks noChangeAspect="1"/>
          </p:cNvPicPr>
          <p:nvPr/>
        </p:nvPicPr>
        <p:blipFill>
          <a:blip r:embed="rId3"/>
          <a:stretch>
            <a:fillRect/>
          </a:stretch>
        </p:blipFill>
        <p:spPr>
          <a:xfrm>
            <a:off x="640080" y="1645920"/>
            <a:ext cx="6812582" cy="4572000"/>
          </a:xfrm>
          <a:prstGeom prst="rect">
            <a:avLst/>
          </a:prstGeom>
        </p:spPr>
      </p:pic>
      <p:sp>
        <p:nvSpPr>
          <p:cNvPr id="10" name="Rounded Rectangle 9"/>
          <p:cNvSpPr/>
          <p:nvPr/>
        </p:nvSpPr>
        <p:spPr>
          <a:xfrm>
            <a:off x="8321040" y="1828800"/>
            <a:ext cx="3246120" cy="4114800"/>
          </a:xfrm>
          <a:prstGeom prst="roundRect">
            <a:avLst>
              <a:gd name="adj" fmla="val 5000"/>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21040" y="1828800"/>
            <a:ext cx="3246120" cy="118872"/>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0" y="2148840"/>
            <a:ext cx="2743200" cy="365760"/>
          </a:xfrm>
          <a:prstGeom prst="rect">
            <a:avLst/>
          </a:prstGeom>
          <a:noFill/>
        </p:spPr>
        <p:txBody>
          <a:bodyPr wrap="square" anchor="t" lIns="0" rIns="0" tIns="0" bIns="0">
            <a:spAutoFit/>
          </a:bodyPr>
          <a:lstStyle/>
          <a:p>
            <a:pPr algn="l">
              <a:spcBef>
                <a:spcPts val="0"/>
              </a:spcBef>
            </a:pPr>
            <a:r>
              <a:rPr sz="1300" b="1" i="0">
                <a:solidFill>
                  <a:srgbClr val="F67D4B"/>
                </a:solidFill>
                <a:latin typeface="Open Sans"/>
              </a:rPr>
              <a:t>THE OPEN CORNER</a:t>
            </a:r>
          </a:p>
        </p:txBody>
      </p:sp>
      <p:sp>
        <p:nvSpPr>
          <p:cNvPr id="13" name="Rectangle 12"/>
          <p:cNvSpPr/>
          <p:nvPr/>
        </p:nvSpPr>
        <p:spPr>
          <a:xfrm>
            <a:off x="8595360" y="2670048"/>
            <a:ext cx="91440" cy="91440"/>
          </a:xfrm>
          <a:prstGeom prst="rect">
            <a:avLst/>
          </a:prstGeom>
          <a:solidFill>
            <a:srgbClr val="1EA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96528" y="2606040"/>
            <a:ext cx="2606040" cy="731520"/>
          </a:xfrm>
          <a:prstGeom prst="rect">
            <a:avLst/>
          </a:prstGeom>
          <a:noFill/>
        </p:spPr>
        <p:txBody>
          <a:bodyPr wrap="square" anchor="t" lIns="0" rIns="0" tIns="0" bIns="0">
            <a:spAutoFit/>
          </a:bodyPr>
          <a:lstStyle/>
          <a:p>
            <a:pPr algn="l">
              <a:lnSpc>
                <a:spcPct val="118000"/>
              </a:lnSpc>
              <a:spcBef>
                <a:spcPts val="0"/>
              </a:spcBef>
            </a:pPr>
            <a:r>
              <a:rPr sz="1150" b="0" i="0">
                <a:solidFill>
                  <a:srgbClr val="FFFFFF"/>
                </a:solidFill>
                <a:latin typeface="Open Sans"/>
              </a:rPr>
              <a:t>Mansfield &amp; World Kinect lead on content + data.</a:t>
            </a:r>
          </a:p>
        </p:txBody>
      </p:sp>
      <p:sp>
        <p:nvSpPr>
          <p:cNvPr id="15" name="Rectangle 14"/>
          <p:cNvSpPr/>
          <p:nvPr/>
        </p:nvSpPr>
        <p:spPr>
          <a:xfrm>
            <a:off x="8595360" y="3456432"/>
            <a:ext cx="91440" cy="91440"/>
          </a:xfrm>
          <a:prstGeom prst="rect">
            <a:avLst/>
          </a:prstGeom>
          <a:solidFill>
            <a:srgbClr val="1EA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96528" y="3392424"/>
            <a:ext cx="2606040" cy="731520"/>
          </a:xfrm>
          <a:prstGeom prst="rect">
            <a:avLst/>
          </a:prstGeom>
          <a:noFill/>
        </p:spPr>
        <p:txBody>
          <a:bodyPr wrap="square" anchor="t" lIns="0" rIns="0" tIns="0" bIns="0">
            <a:spAutoFit/>
          </a:bodyPr>
          <a:lstStyle/>
          <a:p>
            <a:pPr algn="l">
              <a:lnSpc>
                <a:spcPct val="118000"/>
              </a:lnSpc>
              <a:spcBef>
                <a:spcPts val="0"/>
              </a:spcBef>
            </a:pPr>
            <a:r>
              <a:rPr sz="1150" b="0" i="0">
                <a:solidFill>
                  <a:srgbClr val="FFFFFF"/>
                </a:solidFill>
                <a:latin typeface="Open Sans"/>
              </a:rPr>
              <a:t>Booster leads on UX + named AI.</a:t>
            </a:r>
          </a:p>
        </p:txBody>
      </p:sp>
      <p:sp>
        <p:nvSpPr>
          <p:cNvPr id="17" name="Rectangle 16"/>
          <p:cNvSpPr/>
          <p:nvPr/>
        </p:nvSpPr>
        <p:spPr>
          <a:xfrm>
            <a:off x="8595360" y="4242816"/>
            <a:ext cx="91440" cy="91440"/>
          </a:xfrm>
          <a:prstGeom prst="rect">
            <a:avLst/>
          </a:prstGeom>
          <a:solidFill>
            <a:srgbClr val="1EA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96528" y="4178808"/>
            <a:ext cx="2606040" cy="731520"/>
          </a:xfrm>
          <a:prstGeom prst="rect">
            <a:avLst/>
          </a:prstGeom>
          <a:noFill/>
        </p:spPr>
        <p:txBody>
          <a:bodyPr wrap="square" anchor="t" lIns="0" rIns="0" tIns="0" bIns="0">
            <a:spAutoFit/>
          </a:bodyPr>
          <a:lstStyle/>
          <a:p>
            <a:pPr algn="l">
              <a:lnSpc>
                <a:spcPct val="118000"/>
              </a:lnSpc>
              <a:spcBef>
                <a:spcPts val="0"/>
              </a:spcBef>
            </a:pPr>
            <a:r>
              <a:rPr sz="1150" b="0" i="0">
                <a:solidFill>
                  <a:srgbClr val="FFFFFF"/>
                </a:solidFill>
                <a:latin typeface="Open Sans"/>
              </a:rPr>
              <a:t>You already beat the dated regionals (Hunt &amp; Sons, Ramos).</a:t>
            </a:r>
          </a:p>
        </p:txBody>
      </p:sp>
      <p:sp>
        <p:nvSpPr>
          <p:cNvPr id="19" name="Rectangle 18"/>
          <p:cNvSpPr/>
          <p:nvPr/>
        </p:nvSpPr>
        <p:spPr>
          <a:xfrm>
            <a:off x="8595360" y="5029200"/>
            <a:ext cx="91440" cy="91440"/>
          </a:xfrm>
          <a:prstGeom prst="rect">
            <a:avLst/>
          </a:prstGeom>
          <a:solidFill>
            <a:srgbClr val="1EA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96528" y="4965192"/>
            <a:ext cx="2606040" cy="731520"/>
          </a:xfrm>
          <a:prstGeom prst="rect">
            <a:avLst/>
          </a:prstGeom>
          <a:noFill/>
        </p:spPr>
        <p:txBody>
          <a:bodyPr wrap="square" anchor="t" lIns="0" rIns="0" tIns="0" bIns="0">
            <a:spAutoFit/>
          </a:bodyPr>
          <a:lstStyle/>
          <a:p>
            <a:pPr algn="l">
              <a:lnSpc>
                <a:spcPct val="118000"/>
              </a:lnSpc>
              <a:spcBef>
                <a:spcPts val="0"/>
              </a:spcBef>
            </a:pPr>
            <a:r>
              <a:rPr sz="1150" b="0" i="0">
                <a:solidFill>
                  <a:srgbClr val="FFFFFF"/>
                </a:solidFill>
                <a:latin typeface="Open Sans"/>
              </a:rPr>
              <a:t>Nobody in your Western backyard has claimed the AI / answer-engine / compliance story.</a:t>
            </a:r>
          </a:p>
        </p:txBody>
      </p:sp>
      <p:sp>
        <p:nvSpPr>
          <p:cNvPr id="21" name="TextBox 20"/>
          <p:cNvSpPr txBox="1"/>
          <p:nvPr/>
        </p:nvSpPr>
        <p:spPr>
          <a:xfrm>
            <a:off x="8595360" y="5532120"/>
            <a:ext cx="2743200" cy="320040"/>
          </a:xfrm>
          <a:prstGeom prst="rect">
            <a:avLst/>
          </a:prstGeom>
          <a:noFill/>
        </p:spPr>
        <p:txBody>
          <a:bodyPr wrap="square" anchor="t" lIns="0" rIns="0" tIns="0" bIns="0">
            <a:spAutoFit/>
          </a:bodyPr>
          <a:lstStyle/>
          <a:p>
            <a:pPr algn="l">
              <a:spcBef>
                <a:spcPts val="0"/>
              </a:spcBef>
            </a:pPr>
            <a:r>
              <a:rPr sz="1150" b="1" i="1">
                <a:solidFill>
                  <a:srgbClr val="CBDB2D"/>
                </a:solidFill>
                <a:latin typeface="Open Sans"/>
              </a:rPr>
              <a:t>First mover wins compounding inbound.</a:t>
            </a:r>
          </a:p>
        </p:txBody>
      </p:sp>
      <p:sp>
        <p:nvSpPr>
          <p:cNvPr id="22" name="Rectangle 21"/>
          <p:cNvSpPr/>
          <p:nvPr/>
        </p:nvSpPr>
        <p:spPr>
          <a:xfrm>
            <a:off x="640080" y="6455664"/>
            <a:ext cx="10911535" cy="10972"/>
          </a:xfrm>
          <a:prstGeom prst="rect">
            <a:avLst/>
          </a:prstGeom>
          <a:solidFill>
            <a:srgbClr val="E9EC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6510528"/>
            <a:ext cx="7772400" cy="274320"/>
          </a:xfrm>
          <a:prstGeom prst="rect">
            <a:avLst/>
          </a:prstGeom>
          <a:noFill/>
        </p:spPr>
        <p:txBody>
          <a:bodyPr wrap="square" anchor="t" lIns="0" rIns="0" tIns="0" bIns="0">
            <a:spAutoFit/>
          </a:bodyPr>
          <a:lstStyle/>
          <a:p>
            <a:pPr algn="l">
              <a:spcBef>
                <a:spcPts val="0"/>
              </a:spcBef>
            </a:pPr>
            <a:r>
              <a:rPr sz="850" b="0" i="0">
                <a:solidFill>
                  <a:srgbClr val="9A9AA2"/>
                </a:solidFill>
                <a:latin typeface="Open Sans"/>
              </a:rPr>
              <a:t>AI-Driven Growth Blueprint  ·  Prepared for SC Fuels  ·  Confidential</a:t>
            </a:r>
          </a:p>
        </p:txBody>
      </p:sp>
      <p:sp>
        <p:nvSpPr>
          <p:cNvPr id="24" name="TextBox 23"/>
          <p:cNvSpPr txBox="1"/>
          <p:nvPr/>
        </p:nvSpPr>
        <p:spPr>
          <a:xfrm>
            <a:off x="8259775" y="6510528"/>
            <a:ext cx="2743200" cy="274320"/>
          </a:xfrm>
          <a:prstGeom prst="rect">
            <a:avLst/>
          </a:prstGeom>
          <a:noFill/>
        </p:spPr>
        <p:txBody>
          <a:bodyPr wrap="square" anchor="t" lIns="0" rIns="0" tIns="0" bIns="0">
            <a:spAutoFit/>
          </a:bodyPr>
          <a:lstStyle/>
          <a:p>
            <a:pPr algn="r">
              <a:spcBef>
                <a:spcPts val="0"/>
              </a:spcBef>
            </a:pPr>
            <a:r>
              <a:rPr sz="850" b="0" i="0">
                <a:solidFill>
                  <a:srgbClr val="9A9AA2"/>
                </a:solidFill>
                <a:latin typeface="Open Sans"/>
              </a:rPr>
              <a:t>technijian.com</a:t>
            </a:r>
          </a:p>
        </p:txBody>
      </p:sp>
      <p:sp>
        <p:nvSpPr>
          <p:cNvPr id="25" name="TextBox 24"/>
          <p:cNvSpPr txBox="1"/>
          <p:nvPr/>
        </p:nvSpPr>
        <p:spPr>
          <a:xfrm>
            <a:off x="11277295" y="6510528"/>
            <a:ext cx="274320" cy="274320"/>
          </a:xfrm>
          <a:prstGeom prst="rect">
            <a:avLst/>
          </a:prstGeom>
          <a:noFill/>
        </p:spPr>
        <p:txBody>
          <a:bodyPr wrap="square" anchor="t" lIns="0" rIns="0" tIns="0" bIns="0">
            <a:spAutoFit/>
          </a:bodyPr>
          <a:lstStyle/>
          <a:p>
            <a:pPr algn="r">
              <a:spcBef>
                <a:spcPts val="0"/>
              </a:spcBef>
            </a:pPr>
            <a:r>
              <a:rPr sz="850" b="1" i="0">
                <a:solidFill>
                  <a:srgbClr val="9A9AA2"/>
                </a:solidFill>
                <a:latin typeface="Open San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6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8016"/>
            <a:ext cx="12191695" cy="36576"/>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chnijian Logo 2.png"/>
          <p:cNvPicPr>
            <a:picLocks noChangeAspect="1"/>
          </p:cNvPicPr>
          <p:nvPr/>
        </p:nvPicPr>
        <p:blipFill>
          <a:blip r:embed="rId2"/>
          <a:stretch>
            <a:fillRect/>
          </a:stretch>
        </p:blipFill>
        <p:spPr>
          <a:xfrm>
            <a:off x="10362895" y="420624"/>
            <a:ext cx="1463040" cy="306170"/>
          </a:xfrm>
          <a:prstGeom prst="rect">
            <a:avLst/>
          </a:prstGeom>
        </p:spPr>
      </p:pic>
      <p:sp>
        <p:nvSpPr>
          <p:cNvPr id="6" name="TextBox 5"/>
          <p:cNvSpPr txBox="1"/>
          <p:nvPr/>
        </p:nvSpPr>
        <p:spPr>
          <a:xfrm>
            <a:off x="640080" y="475488"/>
            <a:ext cx="8686800" cy="274320"/>
          </a:xfrm>
          <a:prstGeom prst="rect">
            <a:avLst/>
          </a:prstGeom>
          <a:noFill/>
        </p:spPr>
        <p:txBody>
          <a:bodyPr wrap="square" anchor="t" lIns="0" rIns="0" tIns="0" bIns="0">
            <a:spAutoFit/>
          </a:bodyPr>
          <a:lstStyle/>
          <a:p>
            <a:pPr algn="l">
              <a:spcBef>
                <a:spcPts val="0"/>
              </a:spcBef>
            </a:pPr>
            <a:r>
              <a:rPr sz="1200" b="1" i="0">
                <a:solidFill>
                  <a:srgbClr val="F67D4B"/>
                </a:solidFill>
                <a:latin typeface="Open Sans"/>
              </a:rPr>
              <a:t>THE HONEST AUDIT</a:t>
            </a:r>
          </a:p>
        </p:txBody>
      </p:sp>
      <p:sp>
        <p:nvSpPr>
          <p:cNvPr id="7" name="TextBox 6"/>
          <p:cNvSpPr txBox="1"/>
          <p:nvPr/>
        </p:nvSpPr>
        <p:spPr>
          <a:xfrm>
            <a:off x="640080" y="768096"/>
            <a:ext cx="9418320" cy="566928"/>
          </a:xfrm>
          <a:prstGeom prst="rect">
            <a:avLst/>
          </a:prstGeom>
          <a:noFill/>
        </p:spPr>
        <p:txBody>
          <a:bodyPr wrap="square" anchor="t" lIns="0" rIns="0" tIns="0" bIns="0">
            <a:spAutoFit/>
          </a:bodyPr>
          <a:lstStyle/>
          <a:p>
            <a:pPr algn="l">
              <a:spcBef>
                <a:spcPts val="0"/>
              </a:spcBef>
            </a:pPr>
            <a:r>
              <a:rPr sz="2600" b="1" i="0">
                <a:solidFill>
                  <a:srgbClr val="006DB6"/>
                </a:solidFill>
                <a:latin typeface="Open Sans"/>
              </a:rPr>
              <a:t>A market leader, under-represented online</a:t>
            </a:r>
          </a:p>
        </p:txBody>
      </p:sp>
      <p:sp>
        <p:nvSpPr>
          <p:cNvPr id="8" name="Rectangle 7"/>
          <p:cNvSpPr/>
          <p:nvPr/>
        </p:nvSpPr>
        <p:spPr>
          <a:xfrm>
            <a:off x="658368" y="1481328"/>
            <a:ext cx="1371600" cy="41148"/>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0080" y="1828800"/>
            <a:ext cx="10911535" cy="786384"/>
          </a:xfrm>
          <a:prstGeom prst="roundRect">
            <a:avLst>
              <a:gd name="adj" fmla="val 6000"/>
            </a:avLst>
          </a:prstGeom>
          <a:solidFill>
            <a:srgbClr val="F8F9FA"/>
          </a:solidFill>
          <a:ln w="12700">
            <a:solidFill>
              <a:srgbClr val="E9EC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828800"/>
            <a:ext cx="109728" cy="786384"/>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947672"/>
            <a:ext cx="4206240" cy="548640"/>
          </a:xfrm>
          <a:prstGeom prst="rect">
            <a:avLst/>
          </a:prstGeom>
          <a:noFill/>
        </p:spPr>
        <p:txBody>
          <a:bodyPr wrap="square" anchor="ctr" lIns="0" rIns="0" tIns="0" bIns="0">
            <a:spAutoFit/>
          </a:bodyPr>
          <a:lstStyle/>
          <a:p>
            <a:pPr algn="l">
              <a:spcBef>
                <a:spcPts val="0"/>
              </a:spcBef>
            </a:pPr>
            <a:r>
              <a:rPr sz="1500" b="1" i="0">
                <a:solidFill>
                  <a:srgbClr val="2D2D2D"/>
                </a:solidFill>
                <a:latin typeface="Open Sans"/>
              </a:rPr>
              <a:t>AI-blank &amp; content-light</a:t>
            </a:r>
          </a:p>
        </p:txBody>
      </p:sp>
      <p:sp>
        <p:nvSpPr>
          <p:cNvPr id="12" name="TextBox 11"/>
          <p:cNvSpPr txBox="1"/>
          <p:nvPr/>
        </p:nvSpPr>
        <p:spPr>
          <a:xfrm>
            <a:off x="5303520" y="1947672"/>
            <a:ext cx="6309360" cy="566928"/>
          </a:xfrm>
          <a:prstGeom prst="rect">
            <a:avLst/>
          </a:prstGeom>
          <a:noFill/>
        </p:spPr>
        <p:txBody>
          <a:bodyPr wrap="square" anchor="ctr" lIns="0" rIns="0" tIns="0" bIns="0">
            <a:spAutoFit/>
          </a:bodyPr>
          <a:lstStyle/>
          <a:p>
            <a:pPr algn="l">
              <a:lnSpc>
                <a:spcPct val="115000"/>
              </a:lnSpc>
              <a:spcBef>
                <a:spcPts val="0"/>
              </a:spcBef>
            </a:pPr>
            <a:r>
              <a:rPr sz="1200" b="0" i="0">
                <a:solidFill>
                  <a:srgbClr val="59595B"/>
                </a:solidFill>
                <a:latin typeface="Open Sans"/>
              </a:rPr>
              <a:t>Thin vs Mansfield / World Kinect (data) and Booster (named AI + app).</a:t>
            </a:r>
          </a:p>
        </p:txBody>
      </p:sp>
      <p:sp>
        <p:nvSpPr>
          <p:cNvPr id="13" name="Rounded Rectangle 12"/>
          <p:cNvSpPr/>
          <p:nvPr/>
        </p:nvSpPr>
        <p:spPr>
          <a:xfrm>
            <a:off x="640080" y="2724912"/>
            <a:ext cx="10911535" cy="786384"/>
          </a:xfrm>
          <a:prstGeom prst="roundRect">
            <a:avLst>
              <a:gd name="adj" fmla="val 6000"/>
            </a:avLst>
          </a:prstGeom>
          <a:solidFill>
            <a:srgbClr val="F8F9FA"/>
          </a:solidFill>
          <a:ln w="12700">
            <a:solidFill>
              <a:srgbClr val="E9EC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2724912"/>
            <a:ext cx="109728" cy="786384"/>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2843784"/>
            <a:ext cx="4206240" cy="548640"/>
          </a:xfrm>
          <a:prstGeom prst="rect">
            <a:avLst/>
          </a:prstGeom>
          <a:noFill/>
        </p:spPr>
        <p:txBody>
          <a:bodyPr wrap="square" anchor="ctr" lIns="0" rIns="0" tIns="0" bIns="0">
            <a:spAutoFit/>
          </a:bodyPr>
          <a:lstStyle/>
          <a:p>
            <a:pPr algn="l">
              <a:spcBef>
                <a:spcPts val="0"/>
              </a:spcBef>
            </a:pPr>
            <a:r>
              <a:rPr sz="1500" b="1" i="0">
                <a:solidFill>
                  <a:srgbClr val="2D2D2D"/>
                </a:solidFill>
                <a:latin typeface="Open Sans"/>
              </a:rPr>
              <a:t>No location / branch pages</a:t>
            </a:r>
          </a:p>
        </p:txBody>
      </p:sp>
      <p:sp>
        <p:nvSpPr>
          <p:cNvPr id="16" name="TextBox 15"/>
          <p:cNvSpPr txBox="1"/>
          <p:nvPr/>
        </p:nvSpPr>
        <p:spPr>
          <a:xfrm>
            <a:off x="5303520" y="2843784"/>
            <a:ext cx="6309360" cy="566928"/>
          </a:xfrm>
          <a:prstGeom prst="rect">
            <a:avLst/>
          </a:prstGeom>
          <a:noFill/>
        </p:spPr>
        <p:txBody>
          <a:bodyPr wrap="square" anchor="ctr" lIns="0" rIns="0" tIns="0" bIns="0">
            <a:spAutoFit/>
          </a:bodyPr>
          <a:lstStyle/>
          <a:p>
            <a:pPr algn="l">
              <a:lnSpc>
                <a:spcPct val="115000"/>
              </a:lnSpc>
              <a:spcBef>
                <a:spcPts val="0"/>
              </a:spcBef>
            </a:pPr>
            <a:r>
              <a:rPr sz="1200" b="0" i="0">
                <a:solidFill>
                  <a:srgbClr val="59595B"/>
                </a:solidFill>
                <a:latin typeface="Open Sans"/>
              </a:rPr>
              <a:t>~15 branches, zero per-city landing pages — real local demand left on the table.</a:t>
            </a:r>
          </a:p>
        </p:txBody>
      </p:sp>
      <p:sp>
        <p:nvSpPr>
          <p:cNvPr id="17" name="Rounded Rectangle 16"/>
          <p:cNvSpPr/>
          <p:nvPr/>
        </p:nvSpPr>
        <p:spPr>
          <a:xfrm>
            <a:off x="640080" y="3621024"/>
            <a:ext cx="10911535" cy="786384"/>
          </a:xfrm>
          <a:prstGeom prst="roundRect">
            <a:avLst>
              <a:gd name="adj" fmla="val 6000"/>
            </a:avLst>
          </a:prstGeom>
          <a:solidFill>
            <a:srgbClr val="F8F9FA"/>
          </a:solidFill>
          <a:ln w="12700">
            <a:solidFill>
              <a:srgbClr val="E9EC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3621024"/>
            <a:ext cx="109728" cy="786384"/>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739896"/>
            <a:ext cx="4206240" cy="548640"/>
          </a:xfrm>
          <a:prstGeom prst="rect">
            <a:avLst/>
          </a:prstGeom>
          <a:noFill/>
        </p:spPr>
        <p:txBody>
          <a:bodyPr wrap="square" anchor="ctr" lIns="0" rIns="0" tIns="0" bIns="0">
            <a:spAutoFit/>
          </a:bodyPr>
          <a:lstStyle/>
          <a:p>
            <a:pPr algn="l">
              <a:spcBef>
                <a:spcPts val="0"/>
              </a:spcBef>
            </a:pPr>
            <a:r>
              <a:rPr sz="1500" b="1" i="0">
                <a:solidFill>
                  <a:srgbClr val="2D2D2D"/>
                </a:solidFill>
                <a:latin typeface="Open Sans"/>
              </a:rPr>
              <a:t>Stale "family-owned" copy</a:t>
            </a:r>
          </a:p>
        </p:txBody>
      </p:sp>
      <p:sp>
        <p:nvSpPr>
          <p:cNvPr id="20" name="TextBox 19"/>
          <p:cNvSpPr txBox="1"/>
          <p:nvPr/>
        </p:nvSpPr>
        <p:spPr>
          <a:xfrm>
            <a:off x="5303520" y="3739896"/>
            <a:ext cx="6309360" cy="566928"/>
          </a:xfrm>
          <a:prstGeom prst="rect">
            <a:avLst/>
          </a:prstGeom>
          <a:noFill/>
        </p:spPr>
        <p:txBody>
          <a:bodyPr wrap="square" anchor="ctr" lIns="0" rIns="0" tIns="0" bIns="0">
            <a:spAutoFit/>
          </a:bodyPr>
          <a:lstStyle/>
          <a:p>
            <a:pPr algn="l">
              <a:lnSpc>
                <a:spcPct val="115000"/>
              </a:lnSpc>
              <a:spcBef>
                <a:spcPts val="0"/>
              </a:spcBef>
            </a:pPr>
            <a:r>
              <a:rPr sz="1200" b="0" i="0">
                <a:solidFill>
                  <a:srgbClr val="59595B"/>
                </a:solidFill>
                <a:latin typeface="Open Sans"/>
              </a:rPr>
              <a:t>Contradicts the Pilot/Berkshire reality — a credibility + SEO liability, and a selling point unused.</a:t>
            </a:r>
          </a:p>
        </p:txBody>
      </p:sp>
      <p:sp>
        <p:nvSpPr>
          <p:cNvPr id="21" name="Rounded Rectangle 20"/>
          <p:cNvSpPr/>
          <p:nvPr/>
        </p:nvSpPr>
        <p:spPr>
          <a:xfrm>
            <a:off x="640080" y="4517136"/>
            <a:ext cx="10911535" cy="786384"/>
          </a:xfrm>
          <a:prstGeom prst="roundRect">
            <a:avLst>
              <a:gd name="adj" fmla="val 6000"/>
            </a:avLst>
          </a:prstGeom>
          <a:solidFill>
            <a:srgbClr val="F8F9FA"/>
          </a:solidFill>
          <a:ln w="12700">
            <a:solidFill>
              <a:srgbClr val="E9EC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 y="4517136"/>
            <a:ext cx="109728" cy="786384"/>
          </a:xfrm>
          <a:prstGeom prst="rect">
            <a:avLst/>
          </a:prstGeom>
          <a:solidFill>
            <a:srgbClr val="1EA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4636007"/>
            <a:ext cx="4206240" cy="548640"/>
          </a:xfrm>
          <a:prstGeom prst="rect">
            <a:avLst/>
          </a:prstGeom>
          <a:noFill/>
        </p:spPr>
        <p:txBody>
          <a:bodyPr wrap="square" anchor="ctr" lIns="0" rIns="0" tIns="0" bIns="0">
            <a:spAutoFit/>
          </a:bodyPr>
          <a:lstStyle/>
          <a:p>
            <a:pPr algn="l">
              <a:spcBef>
                <a:spcPts val="0"/>
              </a:spcBef>
            </a:pPr>
            <a:r>
              <a:rPr sz="1500" b="1" i="0">
                <a:solidFill>
                  <a:srgbClr val="2D2D2D"/>
                </a:solidFill>
                <a:latin typeface="Open Sans"/>
              </a:rPr>
              <a:t>Light social footprint</a:t>
            </a:r>
          </a:p>
        </p:txBody>
      </p:sp>
      <p:sp>
        <p:nvSpPr>
          <p:cNvPr id="24" name="TextBox 23"/>
          <p:cNvSpPr txBox="1"/>
          <p:nvPr/>
        </p:nvSpPr>
        <p:spPr>
          <a:xfrm>
            <a:off x="5303520" y="4636007"/>
            <a:ext cx="6309360" cy="566928"/>
          </a:xfrm>
          <a:prstGeom prst="rect">
            <a:avLst/>
          </a:prstGeom>
          <a:noFill/>
        </p:spPr>
        <p:txBody>
          <a:bodyPr wrap="square" anchor="ctr" lIns="0" rIns="0" tIns="0" bIns="0">
            <a:spAutoFit/>
          </a:bodyPr>
          <a:lstStyle/>
          <a:p>
            <a:pPr algn="l">
              <a:lnSpc>
                <a:spcPct val="115000"/>
              </a:lnSpc>
              <a:spcBef>
                <a:spcPts val="0"/>
              </a:spcBef>
            </a:pPr>
            <a:r>
              <a:rPr sz="1200" b="0" i="0">
                <a:solidFill>
                  <a:srgbClr val="59595B"/>
                </a:solidFill>
                <a:latin typeface="Open Sans"/>
              </a:rPr>
              <a:t>~5K LinkedIn followers for a ~900-person, billion-gallon leader.</a:t>
            </a:r>
          </a:p>
        </p:txBody>
      </p:sp>
      <p:sp>
        <p:nvSpPr>
          <p:cNvPr id="25" name="Rounded Rectangle 24"/>
          <p:cNvSpPr/>
          <p:nvPr/>
        </p:nvSpPr>
        <p:spPr>
          <a:xfrm>
            <a:off x="640080" y="5413248"/>
            <a:ext cx="10911535" cy="786384"/>
          </a:xfrm>
          <a:prstGeom prst="roundRect">
            <a:avLst>
              <a:gd name="adj" fmla="val 6000"/>
            </a:avLst>
          </a:prstGeom>
          <a:solidFill>
            <a:srgbClr val="F8F9FA"/>
          </a:solidFill>
          <a:ln w="12700">
            <a:solidFill>
              <a:srgbClr val="E9EC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0080" y="5413248"/>
            <a:ext cx="109728" cy="786384"/>
          </a:xfrm>
          <a:prstGeom prst="rect">
            <a:avLst/>
          </a:prstGeom>
          <a:solidFill>
            <a:srgbClr val="28A7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20" y="5532120"/>
            <a:ext cx="4206240" cy="548640"/>
          </a:xfrm>
          <a:prstGeom prst="rect">
            <a:avLst/>
          </a:prstGeom>
          <a:noFill/>
        </p:spPr>
        <p:txBody>
          <a:bodyPr wrap="square" anchor="ctr" lIns="0" rIns="0" tIns="0" bIns="0">
            <a:spAutoFit/>
          </a:bodyPr>
          <a:lstStyle/>
          <a:p>
            <a:pPr algn="l">
              <a:spcBef>
                <a:spcPts val="0"/>
              </a:spcBef>
            </a:pPr>
            <a:r>
              <a:rPr sz="1500" b="1" i="0">
                <a:solidFill>
                  <a:srgbClr val="2D2D2D"/>
                </a:solidFill>
                <a:latin typeface="Open Sans"/>
              </a:rPr>
              <a:t>Solid self-serve portal</a:t>
            </a:r>
          </a:p>
        </p:txBody>
      </p:sp>
      <p:sp>
        <p:nvSpPr>
          <p:cNvPr id="28" name="TextBox 27"/>
          <p:cNvSpPr txBox="1"/>
          <p:nvPr/>
        </p:nvSpPr>
        <p:spPr>
          <a:xfrm>
            <a:off x="5303520" y="5532120"/>
            <a:ext cx="6309360" cy="566928"/>
          </a:xfrm>
          <a:prstGeom prst="rect">
            <a:avLst/>
          </a:prstGeom>
          <a:noFill/>
        </p:spPr>
        <p:txBody>
          <a:bodyPr wrap="square" anchor="ctr" lIns="0" rIns="0" tIns="0" bIns="0">
            <a:spAutoFit/>
          </a:bodyPr>
          <a:lstStyle/>
          <a:p>
            <a:pPr algn="l">
              <a:lnSpc>
                <a:spcPct val="115000"/>
              </a:lnSpc>
              <a:spcBef>
                <a:spcPts val="0"/>
              </a:spcBef>
            </a:pPr>
            <a:r>
              <a:rPr sz="1200" b="0" i="0">
                <a:solidFill>
                  <a:srgbClr val="59595B"/>
                </a:solidFill>
                <a:latin typeface="Open Sans"/>
              </a:rPr>
              <a:t>Rebates, e-receipts, transaction controls — a strong base to EXTEND, not rebuild.</a:t>
            </a:r>
          </a:p>
        </p:txBody>
      </p:sp>
      <p:sp>
        <p:nvSpPr>
          <p:cNvPr id="29" name="Rectangle 28"/>
          <p:cNvSpPr/>
          <p:nvPr/>
        </p:nvSpPr>
        <p:spPr>
          <a:xfrm>
            <a:off x="640080" y="6455664"/>
            <a:ext cx="10911535" cy="10972"/>
          </a:xfrm>
          <a:prstGeom prst="rect">
            <a:avLst/>
          </a:prstGeom>
          <a:solidFill>
            <a:srgbClr val="E9EC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6510528"/>
            <a:ext cx="7772400" cy="274320"/>
          </a:xfrm>
          <a:prstGeom prst="rect">
            <a:avLst/>
          </a:prstGeom>
          <a:noFill/>
        </p:spPr>
        <p:txBody>
          <a:bodyPr wrap="square" anchor="t" lIns="0" rIns="0" tIns="0" bIns="0">
            <a:spAutoFit/>
          </a:bodyPr>
          <a:lstStyle/>
          <a:p>
            <a:pPr algn="l">
              <a:spcBef>
                <a:spcPts val="0"/>
              </a:spcBef>
            </a:pPr>
            <a:r>
              <a:rPr sz="850" b="0" i="0">
                <a:solidFill>
                  <a:srgbClr val="9A9AA2"/>
                </a:solidFill>
                <a:latin typeface="Open Sans"/>
              </a:rPr>
              <a:t>AI-Driven Growth Blueprint  ·  Prepared for SC Fuels  ·  Confidential</a:t>
            </a:r>
          </a:p>
        </p:txBody>
      </p:sp>
      <p:sp>
        <p:nvSpPr>
          <p:cNvPr id="31" name="TextBox 30"/>
          <p:cNvSpPr txBox="1"/>
          <p:nvPr/>
        </p:nvSpPr>
        <p:spPr>
          <a:xfrm>
            <a:off x="8259775" y="6510528"/>
            <a:ext cx="2743200" cy="274320"/>
          </a:xfrm>
          <a:prstGeom prst="rect">
            <a:avLst/>
          </a:prstGeom>
          <a:noFill/>
        </p:spPr>
        <p:txBody>
          <a:bodyPr wrap="square" anchor="t" lIns="0" rIns="0" tIns="0" bIns="0">
            <a:spAutoFit/>
          </a:bodyPr>
          <a:lstStyle/>
          <a:p>
            <a:pPr algn="r">
              <a:spcBef>
                <a:spcPts val="0"/>
              </a:spcBef>
            </a:pPr>
            <a:r>
              <a:rPr sz="850" b="0" i="0">
                <a:solidFill>
                  <a:srgbClr val="9A9AA2"/>
                </a:solidFill>
                <a:latin typeface="Open Sans"/>
              </a:rPr>
              <a:t>technijian.com</a:t>
            </a:r>
          </a:p>
        </p:txBody>
      </p:sp>
      <p:sp>
        <p:nvSpPr>
          <p:cNvPr id="32" name="TextBox 31"/>
          <p:cNvSpPr txBox="1"/>
          <p:nvPr/>
        </p:nvSpPr>
        <p:spPr>
          <a:xfrm>
            <a:off x="11277295" y="6510528"/>
            <a:ext cx="274320" cy="274320"/>
          </a:xfrm>
          <a:prstGeom prst="rect">
            <a:avLst/>
          </a:prstGeom>
          <a:noFill/>
        </p:spPr>
        <p:txBody>
          <a:bodyPr wrap="square" anchor="t" lIns="0" rIns="0" tIns="0" bIns="0">
            <a:spAutoFit/>
          </a:bodyPr>
          <a:lstStyle/>
          <a:p>
            <a:pPr algn="r">
              <a:spcBef>
                <a:spcPts val="0"/>
              </a:spcBef>
            </a:pPr>
            <a:r>
              <a:rPr sz="850" b="1" i="0">
                <a:solidFill>
                  <a:srgbClr val="9A9AA2"/>
                </a:solidFill>
                <a:latin typeface="Open San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6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8016"/>
            <a:ext cx="12191695" cy="36576"/>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chnijian Logo 2.png"/>
          <p:cNvPicPr>
            <a:picLocks noChangeAspect="1"/>
          </p:cNvPicPr>
          <p:nvPr/>
        </p:nvPicPr>
        <p:blipFill>
          <a:blip r:embed="rId2"/>
          <a:stretch>
            <a:fillRect/>
          </a:stretch>
        </p:blipFill>
        <p:spPr>
          <a:xfrm>
            <a:off x="10362895" y="420624"/>
            <a:ext cx="1463040" cy="306170"/>
          </a:xfrm>
          <a:prstGeom prst="rect">
            <a:avLst/>
          </a:prstGeom>
        </p:spPr>
      </p:pic>
      <p:sp>
        <p:nvSpPr>
          <p:cNvPr id="6" name="TextBox 5"/>
          <p:cNvSpPr txBox="1"/>
          <p:nvPr/>
        </p:nvSpPr>
        <p:spPr>
          <a:xfrm>
            <a:off x="640080" y="475488"/>
            <a:ext cx="8686800" cy="274320"/>
          </a:xfrm>
          <a:prstGeom prst="rect">
            <a:avLst/>
          </a:prstGeom>
          <a:noFill/>
        </p:spPr>
        <p:txBody>
          <a:bodyPr wrap="square" anchor="t" lIns="0" rIns="0" tIns="0" bIns="0">
            <a:spAutoFit/>
          </a:bodyPr>
          <a:lstStyle/>
          <a:p>
            <a:pPr algn="l">
              <a:spcBef>
                <a:spcPts val="0"/>
              </a:spcBef>
            </a:pPr>
            <a:r>
              <a:rPr sz="1200" b="1" i="0">
                <a:solidFill>
                  <a:srgbClr val="F67D4B"/>
                </a:solidFill>
                <a:latin typeface="Open Sans"/>
              </a:rPr>
              <a:t>TECHNIJIAN CAPABILITY</a:t>
            </a:r>
          </a:p>
        </p:txBody>
      </p:sp>
      <p:sp>
        <p:nvSpPr>
          <p:cNvPr id="7" name="TextBox 6"/>
          <p:cNvSpPr txBox="1"/>
          <p:nvPr/>
        </p:nvSpPr>
        <p:spPr>
          <a:xfrm>
            <a:off x="640080" y="768096"/>
            <a:ext cx="9418320" cy="566928"/>
          </a:xfrm>
          <a:prstGeom prst="rect">
            <a:avLst/>
          </a:prstGeom>
          <a:noFill/>
        </p:spPr>
        <p:txBody>
          <a:bodyPr wrap="square" anchor="t" lIns="0" rIns="0" tIns="0" bIns="0">
            <a:spAutoFit/>
          </a:bodyPr>
          <a:lstStyle/>
          <a:p>
            <a:pPr algn="l">
              <a:spcBef>
                <a:spcPts val="0"/>
              </a:spcBef>
            </a:pPr>
            <a:r>
              <a:rPr sz="2600" b="1" i="0">
                <a:solidFill>
                  <a:srgbClr val="006DB6"/>
                </a:solidFill>
                <a:latin typeface="Open Sans"/>
              </a:rPr>
              <a:t>Five proven builds — mapped to SC Fuels</a:t>
            </a:r>
          </a:p>
        </p:txBody>
      </p:sp>
      <p:sp>
        <p:nvSpPr>
          <p:cNvPr id="8" name="Rectangle 7"/>
          <p:cNvSpPr/>
          <p:nvPr/>
        </p:nvSpPr>
        <p:spPr>
          <a:xfrm>
            <a:off x="658368" y="1481328"/>
            <a:ext cx="1371600" cy="41148"/>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0080" y="1828800"/>
            <a:ext cx="3529584" cy="2057400"/>
          </a:xfrm>
          <a:prstGeom prst="roundRect">
            <a:avLst>
              <a:gd name="adj" fmla="val 6000"/>
            </a:avLst>
          </a:prstGeom>
          <a:solidFill>
            <a:srgbClr val="FFFFFF"/>
          </a:solidFill>
          <a:ln w="12700">
            <a:solidFill>
              <a:srgbClr val="E9EC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828800"/>
            <a:ext cx="3529584" cy="118872"/>
          </a:xfrm>
          <a:prstGeom prst="rect">
            <a:avLst/>
          </a:prstGeom>
          <a:solidFill>
            <a:srgbClr val="006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157984"/>
            <a:ext cx="3026663" cy="640080"/>
          </a:xfrm>
          <a:prstGeom prst="rect">
            <a:avLst/>
          </a:prstGeom>
          <a:noFill/>
        </p:spPr>
        <p:txBody>
          <a:bodyPr wrap="square" anchor="t" lIns="0" rIns="0" tIns="0" bIns="0">
            <a:spAutoFit/>
          </a:bodyPr>
          <a:lstStyle/>
          <a:p>
            <a:pPr algn="l">
              <a:lnSpc>
                <a:spcPct val="100000"/>
              </a:lnSpc>
              <a:spcBef>
                <a:spcPts val="0"/>
              </a:spcBef>
            </a:pPr>
            <a:r>
              <a:rPr sz="1450" b="1" i="0">
                <a:solidFill>
                  <a:srgbClr val="2D2D2D"/>
                </a:solidFill>
                <a:latin typeface="Open Sans"/>
              </a:rPr>
              <a:t>Multi-Agent SEO + AEO</a:t>
            </a:r>
          </a:p>
        </p:txBody>
      </p:sp>
      <p:sp>
        <p:nvSpPr>
          <p:cNvPr id="12" name="TextBox 11"/>
          <p:cNvSpPr txBox="1"/>
          <p:nvPr/>
        </p:nvSpPr>
        <p:spPr>
          <a:xfrm>
            <a:off x="896112" y="2788920"/>
            <a:ext cx="3026663" cy="1005840"/>
          </a:xfrm>
          <a:prstGeom prst="rect">
            <a:avLst/>
          </a:prstGeom>
          <a:noFill/>
        </p:spPr>
        <p:txBody>
          <a:bodyPr wrap="square" anchor="t" lIns="0" rIns="0" tIns="0" bIns="0">
            <a:spAutoFit/>
          </a:bodyPr>
          <a:lstStyle/>
          <a:p>
            <a:pPr algn="l">
              <a:lnSpc>
                <a:spcPct val="120000"/>
              </a:lnSpc>
              <a:spcBef>
                <a:spcPts val="0"/>
              </a:spcBef>
            </a:pPr>
            <a:r>
              <a:rPr sz="1150" b="0" i="0">
                <a:solidFill>
                  <a:srgbClr val="59595B"/>
                </a:solidFill>
                <a:latin typeface="Open Sans"/>
              </a:rPr>
              <a:t>Own "bulk fuel delivery [city]", renewable, cardlock &amp; DEF queries in Google AND AI answers — plus per-branch location pages.</a:t>
            </a:r>
          </a:p>
        </p:txBody>
      </p:sp>
      <p:sp>
        <p:nvSpPr>
          <p:cNvPr id="13" name="Rounded Rectangle 12"/>
          <p:cNvSpPr/>
          <p:nvPr/>
        </p:nvSpPr>
        <p:spPr>
          <a:xfrm>
            <a:off x="4425696" y="1828800"/>
            <a:ext cx="3529584" cy="2057400"/>
          </a:xfrm>
          <a:prstGeom prst="roundRect">
            <a:avLst>
              <a:gd name="adj" fmla="val 6000"/>
            </a:avLst>
          </a:prstGeom>
          <a:solidFill>
            <a:srgbClr val="FFFFFF"/>
          </a:solidFill>
          <a:ln w="12700">
            <a:solidFill>
              <a:srgbClr val="E9EC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1828800"/>
            <a:ext cx="3529584" cy="118872"/>
          </a:xfrm>
          <a:prstGeom prst="rect">
            <a:avLst/>
          </a:prstGeom>
          <a:solidFill>
            <a:srgbClr val="1EA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81728" y="2157984"/>
            <a:ext cx="3026663" cy="640080"/>
          </a:xfrm>
          <a:prstGeom prst="rect">
            <a:avLst/>
          </a:prstGeom>
          <a:noFill/>
        </p:spPr>
        <p:txBody>
          <a:bodyPr wrap="square" anchor="t" lIns="0" rIns="0" tIns="0" bIns="0">
            <a:spAutoFit/>
          </a:bodyPr>
          <a:lstStyle/>
          <a:p>
            <a:pPr algn="l">
              <a:lnSpc>
                <a:spcPct val="100000"/>
              </a:lnSpc>
              <a:spcBef>
                <a:spcPts val="0"/>
              </a:spcBef>
            </a:pPr>
            <a:r>
              <a:rPr sz="1450" b="1" i="0">
                <a:solidFill>
                  <a:srgbClr val="2D2D2D"/>
                </a:solidFill>
                <a:latin typeface="Open Sans"/>
              </a:rPr>
              <a:t>AI Lead Gen — Account-Based</a:t>
            </a:r>
          </a:p>
        </p:txBody>
      </p:sp>
      <p:sp>
        <p:nvSpPr>
          <p:cNvPr id="16" name="TextBox 15"/>
          <p:cNvSpPr txBox="1"/>
          <p:nvPr/>
        </p:nvSpPr>
        <p:spPr>
          <a:xfrm>
            <a:off x="4681728" y="2788920"/>
            <a:ext cx="3026663" cy="1005840"/>
          </a:xfrm>
          <a:prstGeom prst="rect">
            <a:avLst/>
          </a:prstGeom>
          <a:noFill/>
        </p:spPr>
        <p:txBody>
          <a:bodyPr wrap="square" anchor="t" lIns="0" rIns="0" tIns="0" bIns="0">
            <a:spAutoFit/>
          </a:bodyPr>
          <a:lstStyle/>
          <a:p>
            <a:pPr algn="l">
              <a:lnSpc>
                <a:spcPct val="120000"/>
              </a:lnSpc>
              <a:spcBef>
                <a:spcPts val="0"/>
              </a:spcBef>
            </a:pPr>
            <a:r>
              <a:rPr sz="1150" b="0" i="0">
                <a:solidFill>
                  <a:srgbClr val="59595B"/>
                </a:solidFill>
                <a:latin typeface="Open Sans"/>
              </a:rPr>
              <a:t>Named commercial / fleet / construction / municipal target lists + per-account dossiers for reps across 15 states.</a:t>
            </a:r>
          </a:p>
        </p:txBody>
      </p:sp>
      <p:sp>
        <p:nvSpPr>
          <p:cNvPr id="17" name="Rounded Rectangle 16"/>
          <p:cNvSpPr/>
          <p:nvPr/>
        </p:nvSpPr>
        <p:spPr>
          <a:xfrm>
            <a:off x="8211312" y="1828800"/>
            <a:ext cx="3529584" cy="2057400"/>
          </a:xfrm>
          <a:prstGeom prst="roundRect">
            <a:avLst>
              <a:gd name="adj" fmla="val 6000"/>
            </a:avLst>
          </a:prstGeom>
          <a:solidFill>
            <a:srgbClr val="FFFFFF"/>
          </a:solidFill>
          <a:ln w="12700">
            <a:solidFill>
              <a:srgbClr val="E9EC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11312" y="1828800"/>
            <a:ext cx="3529584" cy="118872"/>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67344" y="2157984"/>
            <a:ext cx="3026663" cy="640080"/>
          </a:xfrm>
          <a:prstGeom prst="rect">
            <a:avLst/>
          </a:prstGeom>
          <a:noFill/>
        </p:spPr>
        <p:txBody>
          <a:bodyPr wrap="square" anchor="t" lIns="0" rIns="0" tIns="0" bIns="0">
            <a:spAutoFit/>
          </a:bodyPr>
          <a:lstStyle/>
          <a:p>
            <a:pPr algn="l">
              <a:lnSpc>
                <a:spcPct val="100000"/>
              </a:lnSpc>
              <a:spcBef>
                <a:spcPts val="0"/>
              </a:spcBef>
            </a:pPr>
            <a:r>
              <a:rPr sz="1450" b="1" i="0">
                <a:solidFill>
                  <a:srgbClr val="2D2D2D"/>
                </a:solidFill>
                <a:latin typeface="Open Sans"/>
              </a:rPr>
              <a:t>AI Document Intelligence</a:t>
            </a:r>
          </a:p>
        </p:txBody>
      </p:sp>
      <p:sp>
        <p:nvSpPr>
          <p:cNvPr id="20" name="TextBox 19"/>
          <p:cNvSpPr txBox="1"/>
          <p:nvPr/>
        </p:nvSpPr>
        <p:spPr>
          <a:xfrm>
            <a:off x="8467344" y="2788920"/>
            <a:ext cx="3026663" cy="1005840"/>
          </a:xfrm>
          <a:prstGeom prst="rect">
            <a:avLst/>
          </a:prstGeom>
          <a:noFill/>
        </p:spPr>
        <p:txBody>
          <a:bodyPr wrap="square" anchor="t" lIns="0" rIns="0" tIns="0" bIns="0">
            <a:spAutoFit/>
          </a:bodyPr>
          <a:lstStyle/>
          <a:p>
            <a:pPr algn="l">
              <a:lnSpc>
                <a:spcPct val="120000"/>
              </a:lnSpc>
              <a:spcBef>
                <a:spcPts val="0"/>
              </a:spcBef>
            </a:pPr>
            <a:r>
              <a:rPr sz="1150" b="0" i="0">
                <a:solidFill>
                  <a:srgbClr val="59595B"/>
                </a:solidFill>
                <a:latin typeface="Open Sans"/>
              </a:rPr>
              <a:t>Municipal &amp; large-fleet fuel RFP response — days to minutes. The speed answer to the diversity-wedge gap.</a:t>
            </a:r>
          </a:p>
        </p:txBody>
      </p:sp>
      <p:sp>
        <p:nvSpPr>
          <p:cNvPr id="21" name="Rounded Rectangle 20"/>
          <p:cNvSpPr/>
          <p:nvPr/>
        </p:nvSpPr>
        <p:spPr>
          <a:xfrm>
            <a:off x="2532888" y="4069080"/>
            <a:ext cx="3529584" cy="2057400"/>
          </a:xfrm>
          <a:prstGeom prst="roundRect">
            <a:avLst>
              <a:gd name="adj" fmla="val 6000"/>
            </a:avLst>
          </a:prstGeom>
          <a:solidFill>
            <a:srgbClr val="FFFFFF"/>
          </a:solidFill>
          <a:ln w="12700">
            <a:solidFill>
              <a:srgbClr val="E9EC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532888" y="4069080"/>
            <a:ext cx="3529584" cy="118872"/>
          </a:xfrm>
          <a:prstGeom prst="rect">
            <a:avLst/>
          </a:prstGeom>
          <a:solidFill>
            <a:srgbClr val="006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88920" y="4398264"/>
            <a:ext cx="3026663" cy="640080"/>
          </a:xfrm>
          <a:prstGeom prst="rect">
            <a:avLst/>
          </a:prstGeom>
          <a:noFill/>
        </p:spPr>
        <p:txBody>
          <a:bodyPr wrap="square" anchor="t" lIns="0" rIns="0" tIns="0" bIns="0">
            <a:spAutoFit/>
          </a:bodyPr>
          <a:lstStyle/>
          <a:p>
            <a:pPr algn="l">
              <a:lnSpc>
                <a:spcPct val="100000"/>
              </a:lnSpc>
              <a:spcBef>
                <a:spcPts val="0"/>
              </a:spcBef>
            </a:pPr>
            <a:r>
              <a:rPr sz="1450" b="1" i="0">
                <a:solidFill>
                  <a:srgbClr val="2D2D2D"/>
                </a:solidFill>
                <a:latin typeface="Open Sans"/>
              </a:rPr>
              <a:t>AI-Native Custom App (My Dev)</a:t>
            </a:r>
          </a:p>
        </p:txBody>
      </p:sp>
      <p:sp>
        <p:nvSpPr>
          <p:cNvPr id="24" name="TextBox 23"/>
          <p:cNvSpPr txBox="1"/>
          <p:nvPr/>
        </p:nvSpPr>
        <p:spPr>
          <a:xfrm>
            <a:off x="2788920" y="5029200"/>
            <a:ext cx="3026663" cy="1005840"/>
          </a:xfrm>
          <a:prstGeom prst="rect">
            <a:avLst/>
          </a:prstGeom>
          <a:noFill/>
        </p:spPr>
        <p:txBody>
          <a:bodyPr wrap="square" anchor="t" lIns="0" rIns="0" tIns="0" bIns="0">
            <a:spAutoFit/>
          </a:bodyPr>
          <a:lstStyle/>
          <a:p>
            <a:pPr algn="l">
              <a:lnSpc>
                <a:spcPct val="120000"/>
              </a:lnSpc>
              <a:spcBef>
                <a:spcPts val="0"/>
              </a:spcBef>
            </a:pPr>
            <a:r>
              <a:rPr sz="1150" b="0" i="0">
                <a:solidFill>
                  <a:srgbClr val="59595B"/>
                </a:solidFill>
                <a:latin typeface="Open Sans"/>
              </a:rPr>
              <a:t>Self-serve portal + AI chatbot + LCFS / RIN / IFTA automation + predictive tank monitoring.</a:t>
            </a:r>
          </a:p>
        </p:txBody>
      </p:sp>
      <p:sp>
        <p:nvSpPr>
          <p:cNvPr id="25" name="Rounded Rectangle 24"/>
          <p:cNvSpPr/>
          <p:nvPr/>
        </p:nvSpPr>
        <p:spPr>
          <a:xfrm>
            <a:off x="6318504" y="4069080"/>
            <a:ext cx="3529584" cy="2057400"/>
          </a:xfrm>
          <a:prstGeom prst="roundRect">
            <a:avLst>
              <a:gd name="adj" fmla="val 6000"/>
            </a:avLst>
          </a:prstGeom>
          <a:solidFill>
            <a:srgbClr val="FFFFFF"/>
          </a:solidFill>
          <a:ln w="12700">
            <a:solidFill>
              <a:srgbClr val="E9EC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318504" y="4069080"/>
            <a:ext cx="3529584" cy="118872"/>
          </a:xfrm>
          <a:prstGeom prst="rect">
            <a:avLst/>
          </a:prstGeom>
          <a:solidFill>
            <a:srgbClr val="1EA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74536" y="4398264"/>
            <a:ext cx="3026663" cy="640080"/>
          </a:xfrm>
          <a:prstGeom prst="rect">
            <a:avLst/>
          </a:prstGeom>
          <a:noFill/>
        </p:spPr>
        <p:txBody>
          <a:bodyPr wrap="square" anchor="t" lIns="0" rIns="0" tIns="0" bIns="0">
            <a:spAutoFit/>
          </a:bodyPr>
          <a:lstStyle/>
          <a:p>
            <a:pPr algn="l">
              <a:lnSpc>
                <a:spcPct val="100000"/>
              </a:lnSpc>
              <a:spcBef>
                <a:spcPts val="0"/>
              </a:spcBef>
            </a:pPr>
            <a:r>
              <a:rPr sz="1450" b="1" i="0">
                <a:solidFill>
                  <a:srgbClr val="2D2D2D"/>
                </a:solidFill>
                <a:latin typeface="Open Sans"/>
              </a:rPr>
              <a:t>Local SEO + Reputation</a:t>
            </a:r>
          </a:p>
        </p:txBody>
      </p:sp>
      <p:sp>
        <p:nvSpPr>
          <p:cNvPr id="28" name="TextBox 27"/>
          <p:cNvSpPr txBox="1"/>
          <p:nvPr/>
        </p:nvSpPr>
        <p:spPr>
          <a:xfrm>
            <a:off x="6574536" y="5029200"/>
            <a:ext cx="3026663" cy="1005840"/>
          </a:xfrm>
          <a:prstGeom prst="rect">
            <a:avLst/>
          </a:prstGeom>
          <a:noFill/>
        </p:spPr>
        <p:txBody>
          <a:bodyPr wrap="square" anchor="t" lIns="0" rIns="0" tIns="0" bIns="0">
            <a:spAutoFit/>
          </a:bodyPr>
          <a:lstStyle/>
          <a:p>
            <a:pPr algn="l">
              <a:lnSpc>
                <a:spcPct val="120000"/>
              </a:lnSpc>
              <a:spcBef>
                <a:spcPts val="0"/>
              </a:spcBef>
            </a:pPr>
            <a:r>
              <a:rPr sz="1150" b="0" i="0">
                <a:solidFill>
                  <a:srgbClr val="59595B"/>
                </a:solidFill>
                <a:latin typeface="Open Sans"/>
              </a:rPr>
              <a:t>Google Business Profiles + reviews across ~15 branches — lifts local capture and AI-citation trust.</a:t>
            </a:r>
          </a:p>
        </p:txBody>
      </p:sp>
      <p:sp>
        <p:nvSpPr>
          <p:cNvPr id="29" name="Rectangle 28"/>
          <p:cNvSpPr/>
          <p:nvPr/>
        </p:nvSpPr>
        <p:spPr>
          <a:xfrm>
            <a:off x="640080" y="6455664"/>
            <a:ext cx="10911535" cy="10972"/>
          </a:xfrm>
          <a:prstGeom prst="rect">
            <a:avLst/>
          </a:prstGeom>
          <a:solidFill>
            <a:srgbClr val="E9EC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6510528"/>
            <a:ext cx="7772400" cy="274320"/>
          </a:xfrm>
          <a:prstGeom prst="rect">
            <a:avLst/>
          </a:prstGeom>
          <a:noFill/>
        </p:spPr>
        <p:txBody>
          <a:bodyPr wrap="square" anchor="t" lIns="0" rIns="0" tIns="0" bIns="0">
            <a:spAutoFit/>
          </a:bodyPr>
          <a:lstStyle/>
          <a:p>
            <a:pPr algn="l">
              <a:spcBef>
                <a:spcPts val="0"/>
              </a:spcBef>
            </a:pPr>
            <a:r>
              <a:rPr sz="850" b="0" i="0">
                <a:solidFill>
                  <a:srgbClr val="9A9AA2"/>
                </a:solidFill>
                <a:latin typeface="Open Sans"/>
              </a:rPr>
              <a:t>AI-Driven Growth Blueprint  ·  Prepared for SC Fuels  ·  Confidential</a:t>
            </a:r>
          </a:p>
        </p:txBody>
      </p:sp>
      <p:sp>
        <p:nvSpPr>
          <p:cNvPr id="31" name="TextBox 30"/>
          <p:cNvSpPr txBox="1"/>
          <p:nvPr/>
        </p:nvSpPr>
        <p:spPr>
          <a:xfrm>
            <a:off x="8259775" y="6510528"/>
            <a:ext cx="2743200" cy="274320"/>
          </a:xfrm>
          <a:prstGeom prst="rect">
            <a:avLst/>
          </a:prstGeom>
          <a:noFill/>
        </p:spPr>
        <p:txBody>
          <a:bodyPr wrap="square" anchor="t" lIns="0" rIns="0" tIns="0" bIns="0">
            <a:spAutoFit/>
          </a:bodyPr>
          <a:lstStyle/>
          <a:p>
            <a:pPr algn="r">
              <a:spcBef>
                <a:spcPts val="0"/>
              </a:spcBef>
            </a:pPr>
            <a:r>
              <a:rPr sz="850" b="0" i="0">
                <a:solidFill>
                  <a:srgbClr val="9A9AA2"/>
                </a:solidFill>
                <a:latin typeface="Open Sans"/>
              </a:rPr>
              <a:t>technijian.com</a:t>
            </a:r>
          </a:p>
        </p:txBody>
      </p:sp>
      <p:sp>
        <p:nvSpPr>
          <p:cNvPr id="32" name="TextBox 31"/>
          <p:cNvSpPr txBox="1"/>
          <p:nvPr/>
        </p:nvSpPr>
        <p:spPr>
          <a:xfrm>
            <a:off x="11277295" y="6510528"/>
            <a:ext cx="274320" cy="274320"/>
          </a:xfrm>
          <a:prstGeom prst="rect">
            <a:avLst/>
          </a:prstGeom>
          <a:noFill/>
        </p:spPr>
        <p:txBody>
          <a:bodyPr wrap="square" anchor="t" lIns="0" rIns="0" tIns="0" bIns="0">
            <a:spAutoFit/>
          </a:bodyPr>
          <a:lstStyle/>
          <a:p>
            <a:pPr algn="r">
              <a:spcBef>
                <a:spcPts val="0"/>
              </a:spcBef>
            </a:pPr>
            <a:r>
              <a:rPr sz="850" b="1" i="0">
                <a:solidFill>
                  <a:srgbClr val="9A9AA2"/>
                </a:solidFill>
                <a:latin typeface="Open San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6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8016"/>
            <a:ext cx="12191695" cy="36576"/>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chnijian Logo 2.png"/>
          <p:cNvPicPr>
            <a:picLocks noChangeAspect="1"/>
          </p:cNvPicPr>
          <p:nvPr/>
        </p:nvPicPr>
        <p:blipFill>
          <a:blip r:embed="rId2"/>
          <a:stretch>
            <a:fillRect/>
          </a:stretch>
        </p:blipFill>
        <p:spPr>
          <a:xfrm>
            <a:off x="10362895" y="420624"/>
            <a:ext cx="1463040" cy="306170"/>
          </a:xfrm>
          <a:prstGeom prst="rect">
            <a:avLst/>
          </a:prstGeom>
        </p:spPr>
      </p:pic>
      <p:sp>
        <p:nvSpPr>
          <p:cNvPr id="6" name="TextBox 5"/>
          <p:cNvSpPr txBox="1"/>
          <p:nvPr/>
        </p:nvSpPr>
        <p:spPr>
          <a:xfrm>
            <a:off x="640080" y="475488"/>
            <a:ext cx="8686800" cy="274320"/>
          </a:xfrm>
          <a:prstGeom prst="rect">
            <a:avLst/>
          </a:prstGeom>
          <a:noFill/>
        </p:spPr>
        <p:txBody>
          <a:bodyPr wrap="square" anchor="t" lIns="0" rIns="0" tIns="0" bIns="0">
            <a:spAutoFit/>
          </a:bodyPr>
          <a:lstStyle/>
          <a:p>
            <a:pPr algn="l">
              <a:spcBef>
                <a:spcPts val="0"/>
              </a:spcBef>
            </a:pPr>
            <a:r>
              <a:rPr sz="1200" b="1" i="0">
                <a:solidFill>
                  <a:srgbClr val="F67D4B"/>
                </a:solidFill>
                <a:latin typeface="Open Sans"/>
              </a:rPr>
              <a:t>THE ENGINE</a:t>
            </a:r>
          </a:p>
        </p:txBody>
      </p:sp>
      <p:sp>
        <p:nvSpPr>
          <p:cNvPr id="7" name="TextBox 6"/>
          <p:cNvSpPr txBox="1"/>
          <p:nvPr/>
        </p:nvSpPr>
        <p:spPr>
          <a:xfrm>
            <a:off x="640080" y="768096"/>
            <a:ext cx="9418320" cy="566928"/>
          </a:xfrm>
          <a:prstGeom prst="rect">
            <a:avLst/>
          </a:prstGeom>
          <a:noFill/>
        </p:spPr>
        <p:txBody>
          <a:bodyPr wrap="square" anchor="t" lIns="0" rIns="0" tIns="0" bIns="0">
            <a:spAutoFit/>
          </a:bodyPr>
          <a:lstStyle/>
          <a:p>
            <a:pPr algn="l">
              <a:spcBef>
                <a:spcPts val="0"/>
              </a:spcBef>
            </a:pPr>
            <a:r>
              <a:rPr sz="2600" b="1" i="0">
                <a:solidFill>
                  <a:srgbClr val="006DB6"/>
                </a:solidFill>
                <a:latin typeface="Open Sans"/>
              </a:rPr>
              <a:t>How AI transforms the growth engine</a:t>
            </a:r>
          </a:p>
        </p:txBody>
      </p:sp>
      <p:sp>
        <p:nvSpPr>
          <p:cNvPr id="8" name="Rectangle 7"/>
          <p:cNvSpPr/>
          <p:nvPr/>
        </p:nvSpPr>
        <p:spPr>
          <a:xfrm>
            <a:off x="658368" y="1481328"/>
            <a:ext cx="1371600" cy="41148"/>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rchitecture.png"/>
          <p:cNvPicPr>
            <a:picLocks noChangeAspect="1"/>
          </p:cNvPicPr>
          <p:nvPr/>
        </p:nvPicPr>
        <p:blipFill>
          <a:blip r:embed="rId3"/>
          <a:stretch>
            <a:fillRect/>
          </a:stretch>
        </p:blipFill>
        <p:spPr>
          <a:xfrm>
            <a:off x="2447975" y="1645920"/>
            <a:ext cx="7295744" cy="4572000"/>
          </a:xfrm>
          <a:prstGeom prst="rect">
            <a:avLst/>
          </a:prstGeom>
        </p:spPr>
      </p:pic>
      <p:sp>
        <p:nvSpPr>
          <p:cNvPr id="10" name="Rectangle 9"/>
          <p:cNvSpPr/>
          <p:nvPr/>
        </p:nvSpPr>
        <p:spPr>
          <a:xfrm>
            <a:off x="640080" y="6455664"/>
            <a:ext cx="10911535" cy="10972"/>
          </a:xfrm>
          <a:prstGeom prst="rect">
            <a:avLst/>
          </a:prstGeom>
          <a:solidFill>
            <a:srgbClr val="E9EC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510528"/>
            <a:ext cx="7772400" cy="274320"/>
          </a:xfrm>
          <a:prstGeom prst="rect">
            <a:avLst/>
          </a:prstGeom>
          <a:noFill/>
        </p:spPr>
        <p:txBody>
          <a:bodyPr wrap="square" anchor="t" lIns="0" rIns="0" tIns="0" bIns="0">
            <a:spAutoFit/>
          </a:bodyPr>
          <a:lstStyle/>
          <a:p>
            <a:pPr algn="l">
              <a:spcBef>
                <a:spcPts val="0"/>
              </a:spcBef>
            </a:pPr>
            <a:r>
              <a:rPr sz="850" b="0" i="0">
                <a:solidFill>
                  <a:srgbClr val="9A9AA2"/>
                </a:solidFill>
                <a:latin typeface="Open Sans"/>
              </a:rPr>
              <a:t>AI-Driven Growth Blueprint  ·  Prepared for SC Fuels  ·  Confidential</a:t>
            </a:r>
          </a:p>
        </p:txBody>
      </p:sp>
      <p:sp>
        <p:nvSpPr>
          <p:cNvPr id="12" name="TextBox 11"/>
          <p:cNvSpPr txBox="1"/>
          <p:nvPr/>
        </p:nvSpPr>
        <p:spPr>
          <a:xfrm>
            <a:off x="8259775" y="6510528"/>
            <a:ext cx="2743200" cy="274320"/>
          </a:xfrm>
          <a:prstGeom prst="rect">
            <a:avLst/>
          </a:prstGeom>
          <a:noFill/>
        </p:spPr>
        <p:txBody>
          <a:bodyPr wrap="square" anchor="t" lIns="0" rIns="0" tIns="0" bIns="0">
            <a:spAutoFit/>
          </a:bodyPr>
          <a:lstStyle/>
          <a:p>
            <a:pPr algn="r">
              <a:spcBef>
                <a:spcPts val="0"/>
              </a:spcBef>
            </a:pPr>
            <a:r>
              <a:rPr sz="850" b="0" i="0">
                <a:solidFill>
                  <a:srgbClr val="9A9AA2"/>
                </a:solidFill>
                <a:latin typeface="Open Sans"/>
              </a:rPr>
              <a:t>technijian.com</a:t>
            </a:r>
          </a:p>
        </p:txBody>
      </p:sp>
      <p:sp>
        <p:nvSpPr>
          <p:cNvPr id="13" name="TextBox 12"/>
          <p:cNvSpPr txBox="1"/>
          <p:nvPr/>
        </p:nvSpPr>
        <p:spPr>
          <a:xfrm>
            <a:off x="11277295" y="6510528"/>
            <a:ext cx="274320" cy="274320"/>
          </a:xfrm>
          <a:prstGeom prst="rect">
            <a:avLst/>
          </a:prstGeom>
          <a:noFill/>
        </p:spPr>
        <p:txBody>
          <a:bodyPr wrap="square" anchor="t" lIns="0" rIns="0" tIns="0" bIns="0">
            <a:spAutoFit/>
          </a:bodyPr>
          <a:lstStyle/>
          <a:p>
            <a:pPr algn="r">
              <a:spcBef>
                <a:spcPts val="0"/>
              </a:spcBef>
            </a:pPr>
            <a:r>
              <a:rPr sz="850" b="1" i="0">
                <a:solidFill>
                  <a:srgbClr val="9A9AA2"/>
                </a:solidFill>
                <a:latin typeface="Open San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6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8016"/>
            <a:ext cx="12191695" cy="36576"/>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chnijian Logo 2.png"/>
          <p:cNvPicPr>
            <a:picLocks noChangeAspect="1"/>
          </p:cNvPicPr>
          <p:nvPr/>
        </p:nvPicPr>
        <p:blipFill>
          <a:blip r:embed="rId2"/>
          <a:stretch>
            <a:fillRect/>
          </a:stretch>
        </p:blipFill>
        <p:spPr>
          <a:xfrm>
            <a:off x="10362895" y="420624"/>
            <a:ext cx="1463040" cy="306170"/>
          </a:xfrm>
          <a:prstGeom prst="rect">
            <a:avLst/>
          </a:prstGeom>
        </p:spPr>
      </p:pic>
      <p:sp>
        <p:nvSpPr>
          <p:cNvPr id="6" name="TextBox 5"/>
          <p:cNvSpPr txBox="1"/>
          <p:nvPr/>
        </p:nvSpPr>
        <p:spPr>
          <a:xfrm>
            <a:off x="640080" y="475488"/>
            <a:ext cx="8686800" cy="274320"/>
          </a:xfrm>
          <a:prstGeom prst="rect">
            <a:avLst/>
          </a:prstGeom>
          <a:noFill/>
        </p:spPr>
        <p:txBody>
          <a:bodyPr wrap="square" anchor="t" lIns="0" rIns="0" tIns="0" bIns="0">
            <a:spAutoFit/>
          </a:bodyPr>
          <a:lstStyle/>
          <a:p>
            <a:pPr algn="l">
              <a:spcBef>
                <a:spcPts val="0"/>
              </a:spcBef>
            </a:pPr>
            <a:r>
              <a:rPr sz="1200" b="1" i="0">
                <a:solidFill>
                  <a:srgbClr val="F67D4B"/>
                </a:solidFill>
                <a:latin typeface="Open Sans"/>
              </a:rPr>
              <a:t>INVESTMENT</a:t>
            </a:r>
          </a:p>
        </p:txBody>
      </p:sp>
      <p:sp>
        <p:nvSpPr>
          <p:cNvPr id="7" name="TextBox 6"/>
          <p:cNvSpPr txBox="1"/>
          <p:nvPr/>
        </p:nvSpPr>
        <p:spPr>
          <a:xfrm>
            <a:off x="640080" y="768096"/>
            <a:ext cx="9418320" cy="566928"/>
          </a:xfrm>
          <a:prstGeom prst="rect">
            <a:avLst/>
          </a:prstGeom>
          <a:noFill/>
        </p:spPr>
        <p:txBody>
          <a:bodyPr wrap="square" anchor="t" lIns="0" rIns="0" tIns="0" bIns="0">
            <a:spAutoFit/>
          </a:bodyPr>
          <a:lstStyle/>
          <a:p>
            <a:pPr algn="l">
              <a:spcBef>
                <a:spcPts val="0"/>
              </a:spcBef>
            </a:pPr>
            <a:r>
              <a:rPr sz="2600" b="1" i="0">
                <a:solidFill>
                  <a:srgbClr val="006DB6"/>
                </a:solidFill>
                <a:latin typeface="Open Sans"/>
              </a:rPr>
              <a:t>Built on published rates — scoped in discovery</a:t>
            </a:r>
          </a:p>
        </p:txBody>
      </p:sp>
      <p:sp>
        <p:nvSpPr>
          <p:cNvPr id="8" name="Rectangle 7"/>
          <p:cNvSpPr/>
          <p:nvPr/>
        </p:nvSpPr>
        <p:spPr>
          <a:xfrm>
            <a:off x="658368" y="1481328"/>
            <a:ext cx="1371600" cy="41148"/>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828800"/>
            <a:ext cx="6812280" cy="384048"/>
          </a:xfrm>
          <a:prstGeom prst="rect">
            <a:avLst/>
          </a:prstGeom>
          <a:solidFill>
            <a:srgbClr val="006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828800"/>
            <a:ext cx="3931920" cy="384048"/>
          </a:xfrm>
          <a:prstGeom prst="rect">
            <a:avLst/>
          </a:prstGeom>
          <a:noFill/>
        </p:spPr>
        <p:txBody>
          <a:bodyPr wrap="square" anchor="ctr" lIns="0" rIns="0" tIns="0" bIns="0">
            <a:spAutoFit/>
          </a:bodyPr>
          <a:lstStyle/>
          <a:p>
            <a:pPr algn="l">
              <a:spcBef>
                <a:spcPts val="0"/>
              </a:spcBef>
            </a:pPr>
            <a:r>
              <a:rPr sz="1150" b="1" i="0">
                <a:solidFill>
                  <a:srgbClr val="FFFFFF"/>
                </a:solidFill>
                <a:latin typeface="Open Sans"/>
              </a:rPr>
              <a:t>SERVICE</a:t>
            </a:r>
          </a:p>
        </p:txBody>
      </p:sp>
      <p:sp>
        <p:nvSpPr>
          <p:cNvPr id="11" name="TextBox 10"/>
          <p:cNvSpPr txBox="1"/>
          <p:nvPr/>
        </p:nvSpPr>
        <p:spPr>
          <a:xfrm>
            <a:off x="4846320" y="1828800"/>
            <a:ext cx="2423160" cy="384048"/>
          </a:xfrm>
          <a:prstGeom prst="rect">
            <a:avLst/>
          </a:prstGeom>
          <a:noFill/>
        </p:spPr>
        <p:txBody>
          <a:bodyPr wrap="square" anchor="ctr" lIns="0" rIns="0" tIns="0" bIns="0">
            <a:spAutoFit/>
          </a:bodyPr>
          <a:lstStyle/>
          <a:p>
            <a:pPr algn="r">
              <a:spcBef>
                <a:spcPts val="0"/>
              </a:spcBef>
            </a:pPr>
            <a:r>
              <a:rPr sz="1150" b="1" i="0">
                <a:solidFill>
                  <a:srgbClr val="FFFFFF"/>
                </a:solidFill>
                <a:latin typeface="Open Sans"/>
              </a:rPr>
              <a:t>INVESTMENT</a:t>
            </a:r>
          </a:p>
        </p:txBody>
      </p:sp>
      <p:sp>
        <p:nvSpPr>
          <p:cNvPr id="12" name="Rectangle 11"/>
          <p:cNvSpPr/>
          <p:nvPr/>
        </p:nvSpPr>
        <p:spPr>
          <a:xfrm>
            <a:off x="640080" y="2212848"/>
            <a:ext cx="681228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 y="2304288"/>
            <a:ext cx="4572000" cy="274320"/>
          </a:xfrm>
          <a:prstGeom prst="rect">
            <a:avLst/>
          </a:prstGeom>
          <a:noFill/>
        </p:spPr>
        <p:txBody>
          <a:bodyPr wrap="square" anchor="t" lIns="0" rIns="0" tIns="0" bIns="0">
            <a:spAutoFit/>
          </a:bodyPr>
          <a:lstStyle/>
          <a:p>
            <a:pPr algn="l">
              <a:spcBef>
                <a:spcPts val="0"/>
              </a:spcBef>
            </a:pPr>
            <a:r>
              <a:rPr sz="1150" b="1" i="0">
                <a:solidFill>
                  <a:srgbClr val="2D2D2D"/>
                </a:solidFill>
                <a:latin typeface="Open Sans"/>
              </a:rPr>
              <a:t>My SEO</a:t>
            </a:r>
          </a:p>
        </p:txBody>
      </p:sp>
      <p:sp>
        <p:nvSpPr>
          <p:cNvPr id="14" name="TextBox 13"/>
          <p:cNvSpPr txBox="1"/>
          <p:nvPr/>
        </p:nvSpPr>
        <p:spPr>
          <a:xfrm>
            <a:off x="822959" y="2523744"/>
            <a:ext cx="4572000" cy="219456"/>
          </a:xfrm>
          <a:prstGeom prst="rect">
            <a:avLst/>
          </a:prstGeom>
          <a:noFill/>
        </p:spPr>
        <p:txBody>
          <a:bodyPr wrap="square" anchor="t" lIns="0" rIns="0" tIns="0" bIns="0">
            <a:spAutoFit/>
          </a:bodyPr>
          <a:lstStyle/>
          <a:p>
            <a:pPr algn="l">
              <a:spcBef>
                <a:spcPts val="0"/>
              </a:spcBef>
            </a:pPr>
            <a:r>
              <a:rPr sz="950" b="0" i="0">
                <a:solidFill>
                  <a:srgbClr val="59595B"/>
                </a:solidFill>
                <a:latin typeface="Open Sans"/>
              </a:rPr>
              <a:t>Local + AEO + location/branch pages</a:t>
            </a:r>
          </a:p>
        </p:txBody>
      </p:sp>
      <p:sp>
        <p:nvSpPr>
          <p:cNvPr id="15" name="TextBox 14"/>
          <p:cNvSpPr txBox="1"/>
          <p:nvPr/>
        </p:nvSpPr>
        <p:spPr>
          <a:xfrm>
            <a:off x="4846320" y="2212848"/>
            <a:ext cx="2423160" cy="548640"/>
          </a:xfrm>
          <a:prstGeom prst="rect">
            <a:avLst/>
          </a:prstGeom>
          <a:noFill/>
        </p:spPr>
        <p:txBody>
          <a:bodyPr wrap="square" anchor="ctr" lIns="0" rIns="0" tIns="0" bIns="0">
            <a:spAutoFit/>
          </a:bodyPr>
          <a:lstStyle/>
          <a:p>
            <a:pPr algn="r">
              <a:spcBef>
                <a:spcPts val="0"/>
              </a:spcBef>
            </a:pPr>
            <a:r>
              <a:rPr sz="1250" b="1" i="0">
                <a:solidFill>
                  <a:srgbClr val="006DB6"/>
                </a:solidFill>
                <a:latin typeface="Open Sans"/>
              </a:rPr>
              <a:t>$500–$1,500/mo</a:t>
            </a:r>
          </a:p>
        </p:txBody>
      </p:sp>
      <p:sp>
        <p:nvSpPr>
          <p:cNvPr id="16" name="Rectangle 15"/>
          <p:cNvSpPr/>
          <p:nvPr/>
        </p:nvSpPr>
        <p:spPr>
          <a:xfrm>
            <a:off x="640080" y="2761488"/>
            <a:ext cx="6812280" cy="54864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59" y="2852928"/>
            <a:ext cx="4572000" cy="274320"/>
          </a:xfrm>
          <a:prstGeom prst="rect">
            <a:avLst/>
          </a:prstGeom>
          <a:noFill/>
        </p:spPr>
        <p:txBody>
          <a:bodyPr wrap="square" anchor="t" lIns="0" rIns="0" tIns="0" bIns="0">
            <a:spAutoFit/>
          </a:bodyPr>
          <a:lstStyle/>
          <a:p>
            <a:pPr algn="l">
              <a:spcBef>
                <a:spcPts val="0"/>
              </a:spcBef>
            </a:pPr>
            <a:r>
              <a:rPr sz="1150" b="1" i="0">
                <a:solidFill>
                  <a:srgbClr val="2D2D2D"/>
                </a:solidFill>
                <a:latin typeface="Open Sans"/>
              </a:rPr>
              <a:t>My AI Lead Gen</a:t>
            </a:r>
          </a:p>
        </p:txBody>
      </p:sp>
      <p:sp>
        <p:nvSpPr>
          <p:cNvPr id="18" name="TextBox 17"/>
          <p:cNvSpPr txBox="1"/>
          <p:nvPr/>
        </p:nvSpPr>
        <p:spPr>
          <a:xfrm>
            <a:off x="822959" y="3072384"/>
            <a:ext cx="4572000" cy="219456"/>
          </a:xfrm>
          <a:prstGeom prst="rect">
            <a:avLst/>
          </a:prstGeom>
          <a:noFill/>
        </p:spPr>
        <p:txBody>
          <a:bodyPr wrap="square" anchor="t" lIns="0" rIns="0" tIns="0" bIns="0">
            <a:spAutoFit/>
          </a:bodyPr>
          <a:lstStyle/>
          <a:p>
            <a:pPr algn="l">
              <a:spcBef>
                <a:spcPts val="0"/>
              </a:spcBef>
            </a:pPr>
            <a:r>
              <a:rPr sz="950" b="0" i="0">
                <a:solidFill>
                  <a:srgbClr val="59595B"/>
                </a:solidFill>
                <a:latin typeface="Open Sans"/>
              </a:rPr>
              <a:t>Account intelligence &amp; outbound</a:t>
            </a:r>
          </a:p>
        </p:txBody>
      </p:sp>
      <p:sp>
        <p:nvSpPr>
          <p:cNvPr id="19" name="TextBox 18"/>
          <p:cNvSpPr txBox="1"/>
          <p:nvPr/>
        </p:nvSpPr>
        <p:spPr>
          <a:xfrm>
            <a:off x="4846320" y="2761488"/>
            <a:ext cx="2423160" cy="548640"/>
          </a:xfrm>
          <a:prstGeom prst="rect">
            <a:avLst/>
          </a:prstGeom>
          <a:noFill/>
        </p:spPr>
        <p:txBody>
          <a:bodyPr wrap="square" anchor="ctr" lIns="0" rIns="0" tIns="0" bIns="0">
            <a:spAutoFit/>
          </a:bodyPr>
          <a:lstStyle/>
          <a:p>
            <a:pPr algn="r">
              <a:spcBef>
                <a:spcPts val="0"/>
              </a:spcBef>
            </a:pPr>
            <a:r>
              <a:rPr sz="1250" b="1" i="0">
                <a:solidFill>
                  <a:srgbClr val="006DB6"/>
                </a:solidFill>
                <a:latin typeface="Open Sans"/>
              </a:rPr>
              <a:t>$1,499–$6,999/mo</a:t>
            </a:r>
          </a:p>
        </p:txBody>
      </p:sp>
      <p:sp>
        <p:nvSpPr>
          <p:cNvPr id="20" name="Rectangle 19"/>
          <p:cNvSpPr/>
          <p:nvPr/>
        </p:nvSpPr>
        <p:spPr>
          <a:xfrm>
            <a:off x="640080" y="3310128"/>
            <a:ext cx="681228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 y="3401568"/>
            <a:ext cx="4572000" cy="274320"/>
          </a:xfrm>
          <a:prstGeom prst="rect">
            <a:avLst/>
          </a:prstGeom>
          <a:noFill/>
        </p:spPr>
        <p:txBody>
          <a:bodyPr wrap="square" anchor="t" lIns="0" rIns="0" tIns="0" bIns="0">
            <a:spAutoFit/>
          </a:bodyPr>
          <a:lstStyle/>
          <a:p>
            <a:pPr algn="l">
              <a:spcBef>
                <a:spcPts val="0"/>
              </a:spcBef>
            </a:pPr>
            <a:r>
              <a:rPr sz="1150" b="1" i="0">
                <a:solidFill>
                  <a:srgbClr val="2D2D2D"/>
                </a:solidFill>
                <a:latin typeface="Open Sans"/>
              </a:rPr>
              <a:t>My AI — Fractional AI Advisor</a:t>
            </a:r>
          </a:p>
        </p:txBody>
      </p:sp>
      <p:sp>
        <p:nvSpPr>
          <p:cNvPr id="22" name="TextBox 21"/>
          <p:cNvSpPr txBox="1"/>
          <p:nvPr/>
        </p:nvSpPr>
        <p:spPr>
          <a:xfrm>
            <a:off x="822959" y="3621024"/>
            <a:ext cx="4572000" cy="219456"/>
          </a:xfrm>
          <a:prstGeom prst="rect">
            <a:avLst/>
          </a:prstGeom>
          <a:noFill/>
        </p:spPr>
        <p:txBody>
          <a:bodyPr wrap="square" anchor="t" lIns="0" rIns="0" tIns="0" bIns="0">
            <a:spAutoFit/>
          </a:bodyPr>
          <a:lstStyle/>
          <a:p>
            <a:pPr algn="l">
              <a:spcBef>
                <a:spcPts val="0"/>
              </a:spcBef>
            </a:pPr>
            <a:r>
              <a:rPr sz="950" b="0" i="0">
                <a:solidFill>
                  <a:srgbClr val="59595B"/>
                </a:solidFill>
                <a:latin typeface="Open Sans"/>
              </a:rPr>
              <a:t>Program leadership &amp; governance</a:t>
            </a:r>
          </a:p>
        </p:txBody>
      </p:sp>
      <p:sp>
        <p:nvSpPr>
          <p:cNvPr id="23" name="TextBox 22"/>
          <p:cNvSpPr txBox="1"/>
          <p:nvPr/>
        </p:nvSpPr>
        <p:spPr>
          <a:xfrm>
            <a:off x="4846320" y="3310128"/>
            <a:ext cx="2423160" cy="548640"/>
          </a:xfrm>
          <a:prstGeom prst="rect">
            <a:avLst/>
          </a:prstGeom>
          <a:noFill/>
        </p:spPr>
        <p:txBody>
          <a:bodyPr wrap="square" anchor="ctr" lIns="0" rIns="0" tIns="0" bIns="0">
            <a:spAutoFit/>
          </a:bodyPr>
          <a:lstStyle/>
          <a:p>
            <a:pPr algn="r">
              <a:spcBef>
                <a:spcPts val="0"/>
              </a:spcBef>
            </a:pPr>
            <a:r>
              <a:rPr sz="1200" b="1" i="1">
                <a:solidFill>
                  <a:srgbClr val="59595B"/>
                </a:solidFill>
                <a:latin typeface="Open Sans"/>
              </a:rPr>
              <a:t>TBD</a:t>
            </a:r>
          </a:p>
        </p:txBody>
      </p:sp>
      <p:sp>
        <p:nvSpPr>
          <p:cNvPr id="24" name="Rectangle 23"/>
          <p:cNvSpPr/>
          <p:nvPr/>
        </p:nvSpPr>
        <p:spPr>
          <a:xfrm>
            <a:off x="640080" y="3858768"/>
            <a:ext cx="6812280" cy="54864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59" y="3950207"/>
            <a:ext cx="4572000" cy="274320"/>
          </a:xfrm>
          <a:prstGeom prst="rect">
            <a:avLst/>
          </a:prstGeom>
          <a:noFill/>
        </p:spPr>
        <p:txBody>
          <a:bodyPr wrap="square" anchor="t" lIns="0" rIns="0" tIns="0" bIns="0">
            <a:spAutoFit/>
          </a:bodyPr>
          <a:lstStyle/>
          <a:p>
            <a:pPr algn="l">
              <a:spcBef>
                <a:spcPts val="0"/>
              </a:spcBef>
            </a:pPr>
            <a:r>
              <a:rPr sz="1150" b="1" i="0">
                <a:solidFill>
                  <a:srgbClr val="2D2D2D"/>
                </a:solidFill>
                <a:latin typeface="Open Sans"/>
              </a:rPr>
              <a:t>My Dev — Custom build</a:t>
            </a:r>
          </a:p>
        </p:txBody>
      </p:sp>
      <p:sp>
        <p:nvSpPr>
          <p:cNvPr id="26" name="TextBox 25"/>
          <p:cNvSpPr txBox="1"/>
          <p:nvPr/>
        </p:nvSpPr>
        <p:spPr>
          <a:xfrm>
            <a:off x="822959" y="4169663"/>
            <a:ext cx="4572000" cy="219456"/>
          </a:xfrm>
          <a:prstGeom prst="rect">
            <a:avLst/>
          </a:prstGeom>
          <a:noFill/>
        </p:spPr>
        <p:txBody>
          <a:bodyPr wrap="square" anchor="t" lIns="0" rIns="0" tIns="0" bIns="0">
            <a:spAutoFit/>
          </a:bodyPr>
          <a:lstStyle/>
          <a:p>
            <a:pPr algn="l">
              <a:spcBef>
                <a:spcPts val="0"/>
              </a:spcBef>
            </a:pPr>
            <a:r>
              <a:rPr sz="950" b="0" i="0">
                <a:solidFill>
                  <a:srgbClr val="59595B"/>
                </a:solidFill>
                <a:latin typeface="Open Sans"/>
              </a:rPr>
              <a:t>Portal · chatbot · LCFS/IFTA automation</a:t>
            </a:r>
          </a:p>
        </p:txBody>
      </p:sp>
      <p:sp>
        <p:nvSpPr>
          <p:cNvPr id="27" name="TextBox 26"/>
          <p:cNvSpPr txBox="1"/>
          <p:nvPr/>
        </p:nvSpPr>
        <p:spPr>
          <a:xfrm>
            <a:off x="4846320" y="3858768"/>
            <a:ext cx="2423160" cy="548640"/>
          </a:xfrm>
          <a:prstGeom prst="rect">
            <a:avLst/>
          </a:prstGeom>
          <a:noFill/>
        </p:spPr>
        <p:txBody>
          <a:bodyPr wrap="square" anchor="ctr" lIns="0" rIns="0" tIns="0" bIns="0">
            <a:spAutoFit/>
          </a:bodyPr>
          <a:lstStyle/>
          <a:p>
            <a:pPr algn="r">
              <a:spcBef>
                <a:spcPts val="0"/>
              </a:spcBef>
            </a:pPr>
            <a:r>
              <a:rPr sz="1200" b="1" i="1">
                <a:solidFill>
                  <a:srgbClr val="59595B"/>
                </a:solidFill>
                <a:latin typeface="Open Sans"/>
              </a:rPr>
              <a:t>TBD</a:t>
            </a:r>
          </a:p>
        </p:txBody>
      </p:sp>
      <p:sp>
        <p:nvSpPr>
          <p:cNvPr id="28" name="Rectangle 27"/>
          <p:cNvSpPr/>
          <p:nvPr/>
        </p:nvSpPr>
        <p:spPr>
          <a:xfrm>
            <a:off x="640080" y="4407407"/>
            <a:ext cx="681228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59" y="4498847"/>
            <a:ext cx="4572000" cy="274320"/>
          </a:xfrm>
          <a:prstGeom prst="rect">
            <a:avLst/>
          </a:prstGeom>
          <a:noFill/>
        </p:spPr>
        <p:txBody>
          <a:bodyPr wrap="square" anchor="t" lIns="0" rIns="0" tIns="0" bIns="0">
            <a:spAutoFit/>
          </a:bodyPr>
          <a:lstStyle/>
          <a:p>
            <a:pPr algn="l">
              <a:spcBef>
                <a:spcPts val="0"/>
              </a:spcBef>
            </a:pPr>
            <a:r>
              <a:rPr sz="1150" b="1" i="0">
                <a:solidFill>
                  <a:srgbClr val="2D2D2D"/>
                </a:solidFill>
                <a:latin typeface="Open Sans"/>
              </a:rPr>
              <a:t>My Dev — Managed app services</a:t>
            </a:r>
          </a:p>
        </p:txBody>
      </p:sp>
      <p:sp>
        <p:nvSpPr>
          <p:cNvPr id="30" name="TextBox 29"/>
          <p:cNvSpPr txBox="1"/>
          <p:nvPr/>
        </p:nvSpPr>
        <p:spPr>
          <a:xfrm>
            <a:off x="822959" y="4718303"/>
            <a:ext cx="4572000" cy="219456"/>
          </a:xfrm>
          <a:prstGeom prst="rect">
            <a:avLst/>
          </a:prstGeom>
          <a:noFill/>
        </p:spPr>
        <p:txBody>
          <a:bodyPr wrap="square" anchor="t" lIns="0" rIns="0" tIns="0" bIns="0">
            <a:spAutoFit/>
          </a:bodyPr>
          <a:lstStyle/>
          <a:p>
            <a:pPr algn="l">
              <a:spcBef>
                <a:spcPts val="0"/>
              </a:spcBef>
            </a:pPr>
            <a:r>
              <a:rPr sz="950" b="0" i="0">
                <a:solidFill>
                  <a:srgbClr val="59595B"/>
                </a:solidFill>
                <a:latin typeface="Open Sans"/>
              </a:rPr>
              <a:t>Hosting · monitoring · support</a:t>
            </a:r>
          </a:p>
        </p:txBody>
      </p:sp>
      <p:sp>
        <p:nvSpPr>
          <p:cNvPr id="31" name="TextBox 30"/>
          <p:cNvSpPr txBox="1"/>
          <p:nvPr/>
        </p:nvSpPr>
        <p:spPr>
          <a:xfrm>
            <a:off x="4846320" y="4407407"/>
            <a:ext cx="2423160" cy="548640"/>
          </a:xfrm>
          <a:prstGeom prst="rect">
            <a:avLst/>
          </a:prstGeom>
          <a:noFill/>
        </p:spPr>
        <p:txBody>
          <a:bodyPr wrap="square" anchor="ctr" lIns="0" rIns="0" tIns="0" bIns="0">
            <a:spAutoFit/>
          </a:bodyPr>
          <a:lstStyle/>
          <a:p>
            <a:pPr algn="r">
              <a:spcBef>
                <a:spcPts val="0"/>
              </a:spcBef>
            </a:pPr>
            <a:r>
              <a:rPr sz="1200" b="1" i="1">
                <a:solidFill>
                  <a:srgbClr val="59595B"/>
                </a:solidFill>
                <a:latin typeface="Open Sans"/>
              </a:rPr>
              <a:t>TBD</a:t>
            </a:r>
          </a:p>
        </p:txBody>
      </p:sp>
      <p:sp>
        <p:nvSpPr>
          <p:cNvPr id="32" name="Rectangle 31"/>
          <p:cNvSpPr/>
          <p:nvPr/>
        </p:nvSpPr>
        <p:spPr>
          <a:xfrm>
            <a:off x="640080" y="4956047"/>
            <a:ext cx="6812280" cy="54864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59" y="5047487"/>
            <a:ext cx="4572000" cy="274320"/>
          </a:xfrm>
          <a:prstGeom prst="rect">
            <a:avLst/>
          </a:prstGeom>
          <a:noFill/>
        </p:spPr>
        <p:txBody>
          <a:bodyPr wrap="square" anchor="t" lIns="0" rIns="0" tIns="0" bIns="0">
            <a:spAutoFit/>
          </a:bodyPr>
          <a:lstStyle/>
          <a:p>
            <a:pPr algn="l">
              <a:spcBef>
                <a:spcPts val="0"/>
              </a:spcBef>
            </a:pPr>
            <a:r>
              <a:rPr sz="1150" b="1" i="0">
                <a:solidFill>
                  <a:srgbClr val="2D2D2D"/>
                </a:solidFill>
                <a:latin typeface="Open Sans"/>
              </a:rPr>
              <a:t>My AI — Executive Workshop</a:t>
            </a:r>
          </a:p>
        </p:txBody>
      </p:sp>
      <p:sp>
        <p:nvSpPr>
          <p:cNvPr id="34" name="TextBox 33"/>
          <p:cNvSpPr txBox="1"/>
          <p:nvPr/>
        </p:nvSpPr>
        <p:spPr>
          <a:xfrm>
            <a:off x="822959" y="5266943"/>
            <a:ext cx="4572000" cy="219456"/>
          </a:xfrm>
          <a:prstGeom prst="rect">
            <a:avLst/>
          </a:prstGeom>
          <a:noFill/>
        </p:spPr>
        <p:txBody>
          <a:bodyPr wrap="square" anchor="t" lIns="0" rIns="0" tIns="0" bIns="0">
            <a:spAutoFit/>
          </a:bodyPr>
          <a:lstStyle/>
          <a:p>
            <a:pPr algn="l">
              <a:spcBef>
                <a:spcPts val="0"/>
              </a:spcBef>
            </a:pPr>
            <a:r>
              <a:rPr sz="950" b="0" i="0">
                <a:solidFill>
                  <a:srgbClr val="59595B"/>
                </a:solidFill>
                <a:latin typeface="Open Sans"/>
              </a:rPr>
              <a:t>Leadership alignment + roadmap</a:t>
            </a:r>
          </a:p>
        </p:txBody>
      </p:sp>
      <p:sp>
        <p:nvSpPr>
          <p:cNvPr id="35" name="TextBox 34"/>
          <p:cNvSpPr txBox="1"/>
          <p:nvPr/>
        </p:nvSpPr>
        <p:spPr>
          <a:xfrm>
            <a:off x="4846320" y="4956047"/>
            <a:ext cx="2423160" cy="548640"/>
          </a:xfrm>
          <a:prstGeom prst="rect">
            <a:avLst/>
          </a:prstGeom>
          <a:noFill/>
        </p:spPr>
        <p:txBody>
          <a:bodyPr wrap="square" anchor="ctr" lIns="0" rIns="0" tIns="0" bIns="0">
            <a:spAutoFit/>
          </a:bodyPr>
          <a:lstStyle/>
          <a:p>
            <a:pPr algn="r">
              <a:spcBef>
                <a:spcPts val="0"/>
              </a:spcBef>
            </a:pPr>
            <a:r>
              <a:rPr sz="1200" b="1" i="1">
                <a:solidFill>
                  <a:srgbClr val="59595B"/>
                </a:solidFill>
                <a:latin typeface="Open Sans"/>
              </a:rPr>
              <a:t>TBD</a:t>
            </a:r>
          </a:p>
        </p:txBody>
      </p:sp>
      <p:sp>
        <p:nvSpPr>
          <p:cNvPr id="36" name="Rectangle 35"/>
          <p:cNvSpPr/>
          <p:nvPr/>
        </p:nvSpPr>
        <p:spPr>
          <a:xfrm>
            <a:off x="640080" y="5504687"/>
            <a:ext cx="6812280" cy="475488"/>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59" y="5504687"/>
            <a:ext cx="3657600" cy="475488"/>
          </a:xfrm>
          <a:prstGeom prst="rect">
            <a:avLst/>
          </a:prstGeom>
          <a:noFill/>
        </p:spPr>
        <p:txBody>
          <a:bodyPr wrap="square" anchor="ctr" lIns="0" rIns="0" tIns="0" bIns="0">
            <a:spAutoFit/>
          </a:bodyPr>
          <a:lstStyle/>
          <a:p>
            <a:pPr algn="l">
              <a:spcBef>
                <a:spcPts val="0"/>
              </a:spcBef>
            </a:pPr>
            <a:r>
              <a:rPr sz="1250" b="1" i="0">
                <a:solidFill>
                  <a:srgbClr val="FFFFFF"/>
                </a:solidFill>
                <a:latin typeface="Open Sans"/>
              </a:rPr>
              <a:t>YEAR-1 TOTAL</a:t>
            </a:r>
          </a:p>
        </p:txBody>
      </p:sp>
      <p:sp>
        <p:nvSpPr>
          <p:cNvPr id="38" name="TextBox 37"/>
          <p:cNvSpPr txBox="1"/>
          <p:nvPr/>
        </p:nvSpPr>
        <p:spPr>
          <a:xfrm>
            <a:off x="3840480" y="5504687"/>
            <a:ext cx="3429000" cy="475488"/>
          </a:xfrm>
          <a:prstGeom prst="rect">
            <a:avLst/>
          </a:prstGeom>
          <a:noFill/>
        </p:spPr>
        <p:txBody>
          <a:bodyPr wrap="square" anchor="ctr" lIns="0" rIns="0" tIns="0" bIns="0">
            <a:spAutoFit/>
          </a:bodyPr>
          <a:lstStyle/>
          <a:p>
            <a:pPr algn="r">
              <a:spcBef>
                <a:spcPts val="0"/>
              </a:spcBef>
            </a:pPr>
            <a:r>
              <a:rPr sz="1200" b="1" i="0">
                <a:solidFill>
                  <a:srgbClr val="CBDB2D"/>
                </a:solidFill>
                <a:latin typeface="Open Sans"/>
              </a:rPr>
              <a:t>TBD — finalized after discovery</a:t>
            </a:r>
          </a:p>
        </p:txBody>
      </p:sp>
      <p:sp>
        <p:nvSpPr>
          <p:cNvPr id="39" name="TextBox 38"/>
          <p:cNvSpPr txBox="1"/>
          <p:nvPr/>
        </p:nvSpPr>
        <p:spPr>
          <a:xfrm>
            <a:off x="640080" y="6071615"/>
            <a:ext cx="6812280" cy="457200"/>
          </a:xfrm>
          <a:prstGeom prst="rect">
            <a:avLst/>
          </a:prstGeom>
          <a:noFill/>
        </p:spPr>
        <p:txBody>
          <a:bodyPr wrap="square" anchor="t" lIns="0" rIns="0" tIns="0" bIns="0">
            <a:spAutoFit/>
          </a:bodyPr>
          <a:lstStyle/>
          <a:p>
            <a:pPr algn="l">
              <a:lnSpc>
                <a:spcPct val="110000"/>
              </a:lnSpc>
              <a:spcBef>
                <a:spcPts val="0"/>
              </a:spcBef>
            </a:pPr>
            <a:r>
              <a:rPr sz="850" b="0" i="1">
                <a:solidFill>
                  <a:srgbClr val="59595B"/>
                </a:solidFill>
                <a:latin typeface="Open Sans"/>
              </a:rPr>
              <a:t>Published Technijian list rates. SEO/Lead-Gen tier + custom-build scope set in discovery; Lead Gen adds one-time setup ($2,500 / $5,000 / $15,000).</a:t>
            </a:r>
          </a:p>
        </p:txBody>
      </p:sp>
      <p:sp>
        <p:nvSpPr>
          <p:cNvPr id="40" name="Rounded Rectangle 39"/>
          <p:cNvSpPr/>
          <p:nvPr/>
        </p:nvSpPr>
        <p:spPr>
          <a:xfrm>
            <a:off x="7726679" y="1828800"/>
            <a:ext cx="3794760" cy="4334256"/>
          </a:xfrm>
          <a:prstGeom prst="roundRect">
            <a:avLst>
              <a:gd name="adj" fmla="val 5000"/>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26679" y="1828800"/>
            <a:ext cx="3794760" cy="128016"/>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19288" y="2103120"/>
            <a:ext cx="3246120" cy="365760"/>
          </a:xfrm>
          <a:prstGeom prst="rect">
            <a:avLst/>
          </a:prstGeom>
          <a:noFill/>
        </p:spPr>
        <p:txBody>
          <a:bodyPr wrap="square" anchor="t" lIns="0" rIns="0" tIns="0" bIns="0">
            <a:spAutoFit/>
          </a:bodyPr>
          <a:lstStyle/>
          <a:p>
            <a:pPr algn="l">
              <a:spcBef>
                <a:spcPts val="0"/>
              </a:spcBef>
            </a:pPr>
            <a:r>
              <a:rPr sz="1250" b="1" i="0">
                <a:solidFill>
                  <a:srgbClr val="F67D4B"/>
                </a:solidFill>
                <a:latin typeface="Open Sans"/>
              </a:rPr>
              <a:t>HOW WE'LL MEASURE ROI</a:t>
            </a:r>
          </a:p>
        </p:txBody>
      </p:sp>
      <p:sp>
        <p:nvSpPr>
          <p:cNvPr id="43" name="TextBox 42"/>
          <p:cNvSpPr txBox="1"/>
          <p:nvPr/>
        </p:nvSpPr>
        <p:spPr>
          <a:xfrm>
            <a:off x="8019288" y="2505456"/>
            <a:ext cx="3246120" cy="548640"/>
          </a:xfrm>
          <a:prstGeom prst="rect">
            <a:avLst/>
          </a:prstGeom>
          <a:noFill/>
        </p:spPr>
        <p:txBody>
          <a:bodyPr wrap="square" anchor="t" lIns="0" rIns="0" tIns="0" bIns="0">
            <a:spAutoFit/>
          </a:bodyPr>
          <a:lstStyle/>
          <a:p>
            <a:pPr algn="l">
              <a:lnSpc>
                <a:spcPct val="115000"/>
              </a:lnSpc>
              <a:spcBef>
                <a:spcPts val="0"/>
              </a:spcBef>
            </a:pPr>
            <a:r>
              <a:rPr sz="1050" b="0" i="1">
                <a:solidFill>
                  <a:srgbClr val="C9CBD6"/>
                </a:solidFill>
                <a:latin typeface="Open Sans"/>
              </a:rPr>
              <a:t>Modeled on gross profit — a thin-margin fuel business, never on revenue.</a:t>
            </a:r>
          </a:p>
        </p:txBody>
      </p:sp>
      <p:sp>
        <p:nvSpPr>
          <p:cNvPr id="44" name="Rectangle 43"/>
          <p:cNvSpPr/>
          <p:nvPr/>
        </p:nvSpPr>
        <p:spPr>
          <a:xfrm>
            <a:off x="8019288" y="3438144"/>
            <a:ext cx="91440" cy="91440"/>
          </a:xfrm>
          <a:prstGeom prst="rect">
            <a:avLst/>
          </a:prstGeom>
          <a:solidFill>
            <a:srgbClr val="1EA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20455" y="3401568"/>
            <a:ext cx="3017520" cy="502920"/>
          </a:xfrm>
          <a:prstGeom prst="rect">
            <a:avLst/>
          </a:prstGeom>
          <a:noFill/>
        </p:spPr>
        <p:txBody>
          <a:bodyPr wrap="square" anchor="t" lIns="0" rIns="0" tIns="0" bIns="0">
            <a:spAutoFit/>
          </a:bodyPr>
          <a:lstStyle/>
          <a:p>
            <a:pPr algn="l">
              <a:lnSpc>
                <a:spcPct val="110000"/>
              </a:lnSpc>
              <a:spcBef>
                <a:spcPts val="0"/>
              </a:spcBef>
            </a:pPr>
            <a:r>
              <a:rPr sz="1050" b="0" i="0">
                <a:solidFill>
                  <a:srgbClr val="FFFFFF"/>
                </a:solidFill>
                <a:latin typeface="Open Sans"/>
              </a:rPr>
              <a:t>New commercial accounts  ×  gross profit per account</a:t>
            </a:r>
          </a:p>
        </p:txBody>
      </p:sp>
      <p:sp>
        <p:nvSpPr>
          <p:cNvPr id="46" name="Rectangle 45"/>
          <p:cNvSpPr/>
          <p:nvPr/>
        </p:nvSpPr>
        <p:spPr>
          <a:xfrm>
            <a:off x="8019288" y="4005072"/>
            <a:ext cx="91440" cy="91440"/>
          </a:xfrm>
          <a:prstGeom prst="rect">
            <a:avLst/>
          </a:prstGeom>
          <a:solidFill>
            <a:srgbClr val="1EA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20455" y="3968496"/>
            <a:ext cx="3017520" cy="502920"/>
          </a:xfrm>
          <a:prstGeom prst="rect">
            <a:avLst/>
          </a:prstGeom>
          <a:noFill/>
        </p:spPr>
        <p:txBody>
          <a:bodyPr wrap="square" anchor="t" lIns="0" rIns="0" tIns="0" bIns="0">
            <a:spAutoFit/>
          </a:bodyPr>
          <a:lstStyle/>
          <a:p>
            <a:pPr algn="l">
              <a:lnSpc>
                <a:spcPct val="110000"/>
              </a:lnSpc>
              <a:spcBef>
                <a:spcPts val="0"/>
              </a:spcBef>
            </a:pPr>
            <a:r>
              <a:rPr sz="1050" b="0" i="0">
                <a:solidFill>
                  <a:srgbClr val="FFFFFF"/>
                </a:solidFill>
                <a:latin typeface="Open Sans"/>
              </a:rPr>
              <a:t>+  Retained / expanded volume on the 11,000-account base</a:t>
            </a:r>
          </a:p>
        </p:txBody>
      </p:sp>
      <p:sp>
        <p:nvSpPr>
          <p:cNvPr id="48" name="Rectangle 47"/>
          <p:cNvSpPr/>
          <p:nvPr/>
        </p:nvSpPr>
        <p:spPr>
          <a:xfrm>
            <a:off x="8019288" y="4572000"/>
            <a:ext cx="91440" cy="91440"/>
          </a:xfrm>
          <a:prstGeom prst="rect">
            <a:avLst/>
          </a:prstGeom>
          <a:solidFill>
            <a:srgbClr val="1EA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220455" y="4535424"/>
            <a:ext cx="3017520" cy="502920"/>
          </a:xfrm>
          <a:prstGeom prst="rect">
            <a:avLst/>
          </a:prstGeom>
          <a:noFill/>
        </p:spPr>
        <p:txBody>
          <a:bodyPr wrap="square" anchor="t" lIns="0" rIns="0" tIns="0" bIns="0">
            <a:spAutoFit/>
          </a:bodyPr>
          <a:lstStyle/>
          <a:p>
            <a:pPr algn="l">
              <a:lnSpc>
                <a:spcPct val="110000"/>
              </a:lnSpc>
              <a:spcBef>
                <a:spcPts val="0"/>
              </a:spcBef>
            </a:pPr>
            <a:r>
              <a:rPr sz="1050" b="0" i="0">
                <a:solidFill>
                  <a:srgbClr val="FFFFFF"/>
                </a:solidFill>
                <a:latin typeface="Open Sans"/>
              </a:rPr>
              <a:t>−  Program investment</a:t>
            </a:r>
          </a:p>
        </p:txBody>
      </p:sp>
      <p:sp>
        <p:nvSpPr>
          <p:cNvPr id="50" name="TextBox 49"/>
          <p:cNvSpPr txBox="1"/>
          <p:nvPr/>
        </p:nvSpPr>
        <p:spPr>
          <a:xfrm>
            <a:off x="8019288" y="5175504"/>
            <a:ext cx="3246120" cy="548640"/>
          </a:xfrm>
          <a:prstGeom prst="rect">
            <a:avLst/>
          </a:prstGeom>
          <a:noFill/>
        </p:spPr>
        <p:txBody>
          <a:bodyPr wrap="square" anchor="t" lIns="0" rIns="0" tIns="0" bIns="0">
            <a:spAutoFit/>
          </a:bodyPr>
          <a:lstStyle/>
          <a:p>
            <a:pPr algn="l">
              <a:lnSpc>
                <a:spcPct val="112000"/>
              </a:lnSpc>
              <a:spcBef>
                <a:spcPts val="0"/>
              </a:spcBef>
            </a:pPr>
            <a:r>
              <a:rPr sz="1000" b="0" i="0">
                <a:solidFill>
                  <a:srgbClr val="C9CBD6"/>
                </a:solidFill>
                <a:latin typeface="Open Sans"/>
              </a:rPr>
              <a:t>Targets are set from YOUR baseline — GP/account, new-accounts/mo, churn — captured in discovery.</a:t>
            </a:r>
          </a:p>
        </p:txBody>
      </p:sp>
      <p:sp>
        <p:nvSpPr>
          <p:cNvPr id="51" name="TextBox 50"/>
          <p:cNvSpPr txBox="1"/>
          <p:nvPr/>
        </p:nvSpPr>
        <p:spPr>
          <a:xfrm>
            <a:off x="8019288" y="5852160"/>
            <a:ext cx="3246120" cy="274320"/>
          </a:xfrm>
          <a:prstGeom prst="rect">
            <a:avLst/>
          </a:prstGeom>
          <a:noFill/>
        </p:spPr>
        <p:txBody>
          <a:bodyPr wrap="square" anchor="t" lIns="0" rIns="0" tIns="0" bIns="0">
            <a:spAutoFit/>
          </a:bodyPr>
          <a:lstStyle/>
          <a:p>
            <a:pPr algn="l">
              <a:spcBef>
                <a:spcPts val="0"/>
              </a:spcBef>
            </a:pPr>
            <a:r>
              <a:rPr sz="1050" b="1" i="1">
                <a:solidFill>
                  <a:srgbClr val="CBDB2D"/>
                </a:solidFill>
                <a:latin typeface="Open Sans"/>
              </a:rPr>
              <a:t>Illustrative until then — no number we can't back.</a:t>
            </a:r>
          </a:p>
        </p:txBody>
      </p:sp>
      <p:sp>
        <p:nvSpPr>
          <p:cNvPr id="52" name="Rectangle 51"/>
          <p:cNvSpPr/>
          <p:nvPr/>
        </p:nvSpPr>
        <p:spPr>
          <a:xfrm>
            <a:off x="640080" y="6455664"/>
            <a:ext cx="10911535" cy="10972"/>
          </a:xfrm>
          <a:prstGeom prst="rect">
            <a:avLst/>
          </a:prstGeom>
          <a:solidFill>
            <a:srgbClr val="E9EC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0080" y="6510528"/>
            <a:ext cx="7772400" cy="274320"/>
          </a:xfrm>
          <a:prstGeom prst="rect">
            <a:avLst/>
          </a:prstGeom>
          <a:noFill/>
        </p:spPr>
        <p:txBody>
          <a:bodyPr wrap="square" anchor="t" lIns="0" rIns="0" tIns="0" bIns="0">
            <a:spAutoFit/>
          </a:bodyPr>
          <a:lstStyle/>
          <a:p>
            <a:pPr algn="l">
              <a:spcBef>
                <a:spcPts val="0"/>
              </a:spcBef>
            </a:pPr>
            <a:r>
              <a:rPr sz="850" b="0" i="0">
                <a:solidFill>
                  <a:srgbClr val="9A9AA2"/>
                </a:solidFill>
                <a:latin typeface="Open Sans"/>
              </a:rPr>
              <a:t>AI-Driven Growth Blueprint  ·  Prepared for SC Fuels  ·  Confidential</a:t>
            </a:r>
          </a:p>
        </p:txBody>
      </p:sp>
      <p:sp>
        <p:nvSpPr>
          <p:cNvPr id="54" name="TextBox 53"/>
          <p:cNvSpPr txBox="1"/>
          <p:nvPr/>
        </p:nvSpPr>
        <p:spPr>
          <a:xfrm>
            <a:off x="8259775" y="6510528"/>
            <a:ext cx="2743200" cy="274320"/>
          </a:xfrm>
          <a:prstGeom prst="rect">
            <a:avLst/>
          </a:prstGeom>
          <a:noFill/>
        </p:spPr>
        <p:txBody>
          <a:bodyPr wrap="square" anchor="t" lIns="0" rIns="0" tIns="0" bIns="0">
            <a:spAutoFit/>
          </a:bodyPr>
          <a:lstStyle/>
          <a:p>
            <a:pPr algn="r">
              <a:spcBef>
                <a:spcPts val="0"/>
              </a:spcBef>
            </a:pPr>
            <a:r>
              <a:rPr sz="850" b="0" i="0">
                <a:solidFill>
                  <a:srgbClr val="9A9AA2"/>
                </a:solidFill>
                <a:latin typeface="Open Sans"/>
              </a:rPr>
              <a:t>technijian.com</a:t>
            </a:r>
          </a:p>
        </p:txBody>
      </p:sp>
      <p:sp>
        <p:nvSpPr>
          <p:cNvPr id="55" name="TextBox 54"/>
          <p:cNvSpPr txBox="1"/>
          <p:nvPr/>
        </p:nvSpPr>
        <p:spPr>
          <a:xfrm>
            <a:off x="11277295" y="6510528"/>
            <a:ext cx="274320" cy="274320"/>
          </a:xfrm>
          <a:prstGeom prst="rect">
            <a:avLst/>
          </a:prstGeom>
          <a:noFill/>
        </p:spPr>
        <p:txBody>
          <a:bodyPr wrap="square" anchor="t" lIns="0" rIns="0" tIns="0" bIns="0">
            <a:spAutoFit/>
          </a:bodyPr>
          <a:lstStyle/>
          <a:p>
            <a:pPr algn="r">
              <a:spcBef>
                <a:spcPts val="0"/>
              </a:spcBef>
            </a:pPr>
            <a:r>
              <a:rPr sz="850" b="1" i="0">
                <a:solidFill>
                  <a:srgbClr val="9A9AA2"/>
                </a:solidFill>
                <a:latin typeface="Open San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6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8016"/>
            <a:ext cx="12191695" cy="36576"/>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chnijian Logo 2.png"/>
          <p:cNvPicPr>
            <a:picLocks noChangeAspect="1"/>
          </p:cNvPicPr>
          <p:nvPr/>
        </p:nvPicPr>
        <p:blipFill>
          <a:blip r:embed="rId2"/>
          <a:stretch>
            <a:fillRect/>
          </a:stretch>
        </p:blipFill>
        <p:spPr>
          <a:xfrm>
            <a:off x="10362895" y="420624"/>
            <a:ext cx="1463040" cy="306170"/>
          </a:xfrm>
          <a:prstGeom prst="rect">
            <a:avLst/>
          </a:prstGeom>
        </p:spPr>
      </p:pic>
      <p:sp>
        <p:nvSpPr>
          <p:cNvPr id="6" name="TextBox 5"/>
          <p:cNvSpPr txBox="1"/>
          <p:nvPr/>
        </p:nvSpPr>
        <p:spPr>
          <a:xfrm>
            <a:off x="640080" y="475488"/>
            <a:ext cx="8686800" cy="274320"/>
          </a:xfrm>
          <a:prstGeom prst="rect">
            <a:avLst/>
          </a:prstGeom>
          <a:noFill/>
        </p:spPr>
        <p:txBody>
          <a:bodyPr wrap="square" anchor="t" lIns="0" rIns="0" tIns="0" bIns="0">
            <a:spAutoFit/>
          </a:bodyPr>
          <a:lstStyle/>
          <a:p>
            <a:pPr algn="l">
              <a:spcBef>
                <a:spcPts val="0"/>
              </a:spcBef>
            </a:pPr>
            <a:r>
              <a:rPr sz="1200" b="1" i="0">
                <a:solidFill>
                  <a:srgbClr val="F67D4B"/>
                </a:solidFill>
                <a:latin typeface="Open Sans"/>
              </a:rPr>
              <a:t>THE PLAN</a:t>
            </a:r>
          </a:p>
        </p:txBody>
      </p:sp>
      <p:sp>
        <p:nvSpPr>
          <p:cNvPr id="7" name="TextBox 6"/>
          <p:cNvSpPr txBox="1"/>
          <p:nvPr/>
        </p:nvSpPr>
        <p:spPr>
          <a:xfrm>
            <a:off x="640080" y="768096"/>
            <a:ext cx="9418320" cy="566928"/>
          </a:xfrm>
          <a:prstGeom prst="rect">
            <a:avLst/>
          </a:prstGeom>
          <a:noFill/>
        </p:spPr>
        <p:txBody>
          <a:bodyPr wrap="square" anchor="t" lIns="0" rIns="0" tIns="0" bIns="0">
            <a:spAutoFit/>
          </a:bodyPr>
          <a:lstStyle/>
          <a:p>
            <a:pPr algn="l">
              <a:spcBef>
                <a:spcPts val="0"/>
              </a:spcBef>
            </a:pPr>
            <a:r>
              <a:rPr sz="2600" b="1" i="0">
                <a:solidFill>
                  <a:srgbClr val="006DB6"/>
                </a:solidFill>
                <a:latin typeface="Open Sans"/>
              </a:rPr>
              <a:t>Implementation roadmap — 90 / 180 / 365</a:t>
            </a:r>
          </a:p>
        </p:txBody>
      </p:sp>
      <p:sp>
        <p:nvSpPr>
          <p:cNvPr id="8" name="Rectangle 7"/>
          <p:cNvSpPr/>
          <p:nvPr/>
        </p:nvSpPr>
        <p:spPr>
          <a:xfrm>
            <a:off x="658368" y="1481328"/>
            <a:ext cx="1371600" cy="41148"/>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imeline.png"/>
          <p:cNvPicPr>
            <a:picLocks noChangeAspect="1"/>
          </p:cNvPicPr>
          <p:nvPr/>
        </p:nvPicPr>
        <p:blipFill>
          <a:blip r:embed="rId3"/>
          <a:stretch>
            <a:fillRect/>
          </a:stretch>
        </p:blipFill>
        <p:spPr>
          <a:xfrm>
            <a:off x="1419938" y="1783080"/>
            <a:ext cx="9351818" cy="4114800"/>
          </a:xfrm>
          <a:prstGeom prst="rect">
            <a:avLst/>
          </a:prstGeom>
        </p:spPr>
      </p:pic>
      <p:sp>
        <p:nvSpPr>
          <p:cNvPr id="10" name="Rectangle 9"/>
          <p:cNvSpPr/>
          <p:nvPr/>
        </p:nvSpPr>
        <p:spPr>
          <a:xfrm>
            <a:off x="640080" y="6455664"/>
            <a:ext cx="10911535" cy="10972"/>
          </a:xfrm>
          <a:prstGeom prst="rect">
            <a:avLst/>
          </a:prstGeom>
          <a:solidFill>
            <a:srgbClr val="E9EC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510528"/>
            <a:ext cx="7772400" cy="274320"/>
          </a:xfrm>
          <a:prstGeom prst="rect">
            <a:avLst/>
          </a:prstGeom>
          <a:noFill/>
        </p:spPr>
        <p:txBody>
          <a:bodyPr wrap="square" anchor="t" lIns="0" rIns="0" tIns="0" bIns="0">
            <a:spAutoFit/>
          </a:bodyPr>
          <a:lstStyle/>
          <a:p>
            <a:pPr algn="l">
              <a:spcBef>
                <a:spcPts val="0"/>
              </a:spcBef>
            </a:pPr>
            <a:r>
              <a:rPr sz="850" b="0" i="0">
                <a:solidFill>
                  <a:srgbClr val="9A9AA2"/>
                </a:solidFill>
                <a:latin typeface="Open Sans"/>
              </a:rPr>
              <a:t>AI-Driven Growth Blueprint  ·  Prepared for SC Fuels  ·  Confidential</a:t>
            </a:r>
          </a:p>
        </p:txBody>
      </p:sp>
      <p:sp>
        <p:nvSpPr>
          <p:cNvPr id="12" name="TextBox 11"/>
          <p:cNvSpPr txBox="1"/>
          <p:nvPr/>
        </p:nvSpPr>
        <p:spPr>
          <a:xfrm>
            <a:off x="8259775" y="6510528"/>
            <a:ext cx="2743200" cy="274320"/>
          </a:xfrm>
          <a:prstGeom prst="rect">
            <a:avLst/>
          </a:prstGeom>
          <a:noFill/>
        </p:spPr>
        <p:txBody>
          <a:bodyPr wrap="square" anchor="t" lIns="0" rIns="0" tIns="0" bIns="0">
            <a:spAutoFit/>
          </a:bodyPr>
          <a:lstStyle/>
          <a:p>
            <a:pPr algn="r">
              <a:spcBef>
                <a:spcPts val="0"/>
              </a:spcBef>
            </a:pPr>
            <a:r>
              <a:rPr sz="850" b="0" i="0">
                <a:solidFill>
                  <a:srgbClr val="9A9AA2"/>
                </a:solidFill>
                <a:latin typeface="Open Sans"/>
              </a:rPr>
              <a:t>technijian.com</a:t>
            </a:r>
          </a:p>
        </p:txBody>
      </p:sp>
      <p:sp>
        <p:nvSpPr>
          <p:cNvPr id="13" name="TextBox 12"/>
          <p:cNvSpPr txBox="1"/>
          <p:nvPr/>
        </p:nvSpPr>
        <p:spPr>
          <a:xfrm>
            <a:off x="11277295" y="6510528"/>
            <a:ext cx="274320" cy="274320"/>
          </a:xfrm>
          <a:prstGeom prst="rect">
            <a:avLst/>
          </a:prstGeom>
          <a:noFill/>
        </p:spPr>
        <p:txBody>
          <a:bodyPr wrap="square" anchor="t" lIns="0" rIns="0" tIns="0" bIns="0">
            <a:spAutoFit/>
          </a:bodyPr>
          <a:lstStyle/>
          <a:p>
            <a:pPr algn="r">
              <a:spcBef>
                <a:spcPts val="0"/>
              </a:spcBef>
            </a:pPr>
            <a:r>
              <a:rPr sz="850" b="1" i="0">
                <a:solidFill>
                  <a:srgbClr val="9A9AA2"/>
                </a:solidFill>
                <a:latin typeface="Open San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8016"/>
            <a:ext cx="12191695" cy="36576"/>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chnijian Logo 2.png"/>
          <p:cNvPicPr>
            <a:picLocks noChangeAspect="1"/>
          </p:cNvPicPr>
          <p:nvPr/>
        </p:nvPicPr>
        <p:blipFill>
          <a:blip r:embed="rId2"/>
          <a:stretch>
            <a:fillRect/>
          </a:stretch>
        </p:blipFill>
        <p:spPr>
          <a:xfrm>
            <a:off x="10362895" y="420624"/>
            <a:ext cx="1463040" cy="306170"/>
          </a:xfrm>
          <a:prstGeom prst="rect">
            <a:avLst/>
          </a:prstGeom>
        </p:spPr>
      </p:pic>
      <p:sp>
        <p:nvSpPr>
          <p:cNvPr id="6" name="TextBox 5"/>
          <p:cNvSpPr txBox="1"/>
          <p:nvPr/>
        </p:nvSpPr>
        <p:spPr>
          <a:xfrm>
            <a:off x="640080" y="475488"/>
            <a:ext cx="8686800" cy="274320"/>
          </a:xfrm>
          <a:prstGeom prst="rect">
            <a:avLst/>
          </a:prstGeom>
          <a:noFill/>
        </p:spPr>
        <p:txBody>
          <a:bodyPr wrap="square" anchor="t" lIns="0" rIns="0" tIns="0" bIns="0">
            <a:spAutoFit/>
          </a:bodyPr>
          <a:lstStyle/>
          <a:p>
            <a:pPr algn="l">
              <a:spcBef>
                <a:spcPts val="0"/>
              </a:spcBef>
            </a:pPr>
            <a:r>
              <a:rPr sz="1200" b="1" i="0">
                <a:solidFill>
                  <a:srgbClr val="F67D4B"/>
                </a:solidFill>
                <a:latin typeface="Open Sans"/>
              </a:rPr>
              <a:t>START THIS WEEK</a:t>
            </a:r>
          </a:p>
        </p:txBody>
      </p:sp>
      <p:sp>
        <p:nvSpPr>
          <p:cNvPr id="7" name="TextBox 6"/>
          <p:cNvSpPr txBox="1"/>
          <p:nvPr/>
        </p:nvSpPr>
        <p:spPr>
          <a:xfrm>
            <a:off x="640080" y="768096"/>
            <a:ext cx="9418320" cy="566928"/>
          </a:xfrm>
          <a:prstGeom prst="rect">
            <a:avLst/>
          </a:prstGeom>
          <a:noFill/>
        </p:spPr>
        <p:txBody>
          <a:bodyPr wrap="square" anchor="t" lIns="0" rIns="0" tIns="0" bIns="0">
            <a:spAutoFit/>
          </a:bodyPr>
          <a:lstStyle/>
          <a:p>
            <a:pPr algn="l">
              <a:spcBef>
                <a:spcPts val="0"/>
              </a:spcBef>
            </a:pPr>
            <a:r>
              <a:rPr sz="2600" b="1" i="0">
                <a:solidFill>
                  <a:srgbClr val="006DB6"/>
                </a:solidFill>
                <a:latin typeface="Open Sans"/>
              </a:rPr>
              <a:t>Five quick wins — zero commitment</a:t>
            </a:r>
          </a:p>
        </p:txBody>
      </p:sp>
      <p:sp>
        <p:nvSpPr>
          <p:cNvPr id="8" name="Rectangle 7"/>
          <p:cNvSpPr/>
          <p:nvPr/>
        </p:nvSpPr>
        <p:spPr>
          <a:xfrm>
            <a:off x="658368" y="1481328"/>
            <a:ext cx="1371600" cy="41148"/>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0080" y="1874519"/>
            <a:ext cx="10911535" cy="768096"/>
          </a:xfrm>
          <a:prstGeom prst="roundRect">
            <a:avLst>
              <a:gd name="adj" fmla="val 7000"/>
            </a:avLst>
          </a:prstGeom>
          <a:solidFill>
            <a:srgbClr val="F8F9FA"/>
          </a:solidFill>
          <a:ln w="12700">
            <a:solidFill>
              <a:srgbClr val="E9EC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41248" y="2048255"/>
            <a:ext cx="420624" cy="420624"/>
          </a:xfrm>
          <a:prstGeom prst="roundRect">
            <a:avLst>
              <a:gd name="adj" fmla="val 22000"/>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2048255"/>
            <a:ext cx="420624" cy="420624"/>
          </a:xfrm>
          <a:prstGeom prst="rect">
            <a:avLst/>
          </a:prstGeom>
          <a:noFill/>
        </p:spPr>
        <p:txBody>
          <a:bodyPr wrap="square" anchor="ctr" lIns="0" rIns="0" tIns="0" bIns="0">
            <a:spAutoFit/>
          </a:bodyPr>
          <a:lstStyle/>
          <a:p>
            <a:pPr algn="ctr">
              <a:spcBef>
                <a:spcPts val="0"/>
              </a:spcBef>
            </a:pPr>
            <a:r>
              <a:rPr sz="1600" b="1" i="0">
                <a:solidFill>
                  <a:srgbClr val="FFFFFF"/>
                </a:solidFill>
                <a:latin typeface="Open Sans"/>
              </a:rPr>
              <a:t>1</a:t>
            </a:r>
          </a:p>
        </p:txBody>
      </p:sp>
      <p:sp>
        <p:nvSpPr>
          <p:cNvPr id="12" name="TextBox 11"/>
          <p:cNvSpPr txBox="1"/>
          <p:nvPr/>
        </p:nvSpPr>
        <p:spPr>
          <a:xfrm>
            <a:off x="1463040" y="1993391"/>
            <a:ext cx="4572000" cy="548640"/>
          </a:xfrm>
          <a:prstGeom prst="rect">
            <a:avLst/>
          </a:prstGeom>
          <a:noFill/>
        </p:spPr>
        <p:txBody>
          <a:bodyPr wrap="square" anchor="ctr" lIns="0" rIns="0" tIns="0" bIns="0">
            <a:spAutoFit/>
          </a:bodyPr>
          <a:lstStyle/>
          <a:p>
            <a:pPr algn="l">
              <a:spcBef>
                <a:spcPts val="0"/>
              </a:spcBef>
            </a:pPr>
            <a:r>
              <a:rPr sz="1500" b="1" i="0">
                <a:solidFill>
                  <a:srgbClr val="2D2D2D"/>
                </a:solidFill>
                <a:latin typeface="Open Sans"/>
              </a:rPr>
              <a:t>Build one location page</a:t>
            </a:r>
          </a:p>
        </p:txBody>
      </p:sp>
      <p:sp>
        <p:nvSpPr>
          <p:cNvPr id="13" name="TextBox 12"/>
          <p:cNvSpPr txBox="1"/>
          <p:nvPr/>
        </p:nvSpPr>
        <p:spPr>
          <a:xfrm>
            <a:off x="6126480" y="1993391"/>
            <a:ext cx="5486400" cy="548640"/>
          </a:xfrm>
          <a:prstGeom prst="rect">
            <a:avLst/>
          </a:prstGeom>
          <a:noFill/>
        </p:spPr>
        <p:txBody>
          <a:bodyPr wrap="square" anchor="ctr" lIns="0" rIns="0" tIns="0" bIns="0">
            <a:spAutoFit/>
          </a:bodyPr>
          <a:lstStyle/>
          <a:p>
            <a:pPr algn="l">
              <a:lnSpc>
                <a:spcPct val="112000"/>
              </a:lnSpc>
              <a:spcBef>
                <a:spcPts val="0"/>
              </a:spcBef>
            </a:pPr>
            <a:r>
              <a:rPr sz="1200" b="0" i="0">
                <a:solidFill>
                  <a:srgbClr val="59595B"/>
                </a:solidFill>
                <a:latin typeface="Open Sans"/>
              </a:rPr>
              <a:t>For your largest branch — a template that proves the local-capture gap.</a:t>
            </a:r>
          </a:p>
        </p:txBody>
      </p:sp>
      <p:sp>
        <p:nvSpPr>
          <p:cNvPr id="14" name="Rounded Rectangle 13"/>
          <p:cNvSpPr/>
          <p:nvPr/>
        </p:nvSpPr>
        <p:spPr>
          <a:xfrm>
            <a:off x="640080" y="2752344"/>
            <a:ext cx="10911535" cy="768096"/>
          </a:xfrm>
          <a:prstGeom prst="roundRect">
            <a:avLst>
              <a:gd name="adj" fmla="val 7000"/>
            </a:avLst>
          </a:prstGeom>
          <a:solidFill>
            <a:srgbClr val="F8F9FA"/>
          </a:solidFill>
          <a:ln w="12700">
            <a:solidFill>
              <a:srgbClr val="E9EC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41248" y="2926079"/>
            <a:ext cx="420624" cy="420624"/>
          </a:xfrm>
          <a:prstGeom prst="roundRect">
            <a:avLst>
              <a:gd name="adj" fmla="val 22000"/>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 y="2926079"/>
            <a:ext cx="420624" cy="420624"/>
          </a:xfrm>
          <a:prstGeom prst="rect">
            <a:avLst/>
          </a:prstGeom>
          <a:noFill/>
        </p:spPr>
        <p:txBody>
          <a:bodyPr wrap="square" anchor="ctr" lIns="0" rIns="0" tIns="0" bIns="0">
            <a:spAutoFit/>
          </a:bodyPr>
          <a:lstStyle/>
          <a:p>
            <a:pPr algn="ctr">
              <a:spcBef>
                <a:spcPts val="0"/>
              </a:spcBef>
            </a:pPr>
            <a:r>
              <a:rPr sz="1600" b="1" i="0">
                <a:solidFill>
                  <a:srgbClr val="FFFFFF"/>
                </a:solidFill>
                <a:latin typeface="Open Sans"/>
              </a:rPr>
              <a:t>2</a:t>
            </a:r>
          </a:p>
        </p:txBody>
      </p:sp>
      <p:sp>
        <p:nvSpPr>
          <p:cNvPr id="17" name="TextBox 16"/>
          <p:cNvSpPr txBox="1"/>
          <p:nvPr/>
        </p:nvSpPr>
        <p:spPr>
          <a:xfrm>
            <a:off x="1463040" y="2871215"/>
            <a:ext cx="4572000" cy="548640"/>
          </a:xfrm>
          <a:prstGeom prst="rect">
            <a:avLst/>
          </a:prstGeom>
          <a:noFill/>
        </p:spPr>
        <p:txBody>
          <a:bodyPr wrap="square" anchor="ctr" lIns="0" rIns="0" tIns="0" bIns="0">
            <a:spAutoFit/>
          </a:bodyPr>
          <a:lstStyle/>
          <a:p>
            <a:pPr algn="l">
              <a:spcBef>
                <a:spcPts val="0"/>
              </a:spcBef>
            </a:pPr>
            <a:r>
              <a:rPr sz="1500" b="1" i="0">
                <a:solidFill>
                  <a:srgbClr val="2D2D2D"/>
                </a:solidFill>
                <a:latin typeface="Open Sans"/>
              </a:rPr>
              <a:t>Claim Google Business Profiles</a:t>
            </a:r>
          </a:p>
        </p:txBody>
      </p:sp>
      <p:sp>
        <p:nvSpPr>
          <p:cNvPr id="18" name="TextBox 17"/>
          <p:cNvSpPr txBox="1"/>
          <p:nvPr/>
        </p:nvSpPr>
        <p:spPr>
          <a:xfrm>
            <a:off x="6126480" y="2871215"/>
            <a:ext cx="5486400" cy="548640"/>
          </a:xfrm>
          <a:prstGeom prst="rect">
            <a:avLst/>
          </a:prstGeom>
          <a:noFill/>
        </p:spPr>
        <p:txBody>
          <a:bodyPr wrap="square" anchor="ctr" lIns="0" rIns="0" tIns="0" bIns="0">
            <a:spAutoFit/>
          </a:bodyPr>
          <a:lstStyle/>
          <a:p>
            <a:pPr algn="l">
              <a:lnSpc>
                <a:spcPct val="112000"/>
              </a:lnSpc>
              <a:spcBef>
                <a:spcPts val="0"/>
              </a:spcBef>
            </a:pPr>
            <a:r>
              <a:rPr sz="1200" b="0" i="0">
                <a:solidFill>
                  <a:srgbClr val="59595B"/>
                </a:solidFill>
                <a:latin typeface="Open Sans"/>
              </a:rPr>
              <a:t>Across all ~15 branches — fast, visible local-search lift.</a:t>
            </a:r>
          </a:p>
        </p:txBody>
      </p:sp>
      <p:sp>
        <p:nvSpPr>
          <p:cNvPr id="19" name="Rounded Rectangle 18"/>
          <p:cNvSpPr/>
          <p:nvPr/>
        </p:nvSpPr>
        <p:spPr>
          <a:xfrm>
            <a:off x="640080" y="3630168"/>
            <a:ext cx="10911535" cy="768096"/>
          </a:xfrm>
          <a:prstGeom prst="roundRect">
            <a:avLst>
              <a:gd name="adj" fmla="val 7000"/>
            </a:avLst>
          </a:prstGeom>
          <a:solidFill>
            <a:srgbClr val="F8F9FA"/>
          </a:solidFill>
          <a:ln w="12700">
            <a:solidFill>
              <a:srgbClr val="E9EC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41248" y="3803904"/>
            <a:ext cx="420624" cy="420624"/>
          </a:xfrm>
          <a:prstGeom prst="roundRect">
            <a:avLst>
              <a:gd name="adj" fmla="val 22000"/>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 y="3803904"/>
            <a:ext cx="420624" cy="420624"/>
          </a:xfrm>
          <a:prstGeom prst="rect">
            <a:avLst/>
          </a:prstGeom>
          <a:noFill/>
        </p:spPr>
        <p:txBody>
          <a:bodyPr wrap="square" anchor="ctr" lIns="0" rIns="0" tIns="0" bIns="0">
            <a:spAutoFit/>
          </a:bodyPr>
          <a:lstStyle/>
          <a:p>
            <a:pPr algn="ctr">
              <a:spcBef>
                <a:spcPts val="0"/>
              </a:spcBef>
            </a:pPr>
            <a:r>
              <a:rPr sz="1600" b="1" i="0">
                <a:solidFill>
                  <a:srgbClr val="FFFFFF"/>
                </a:solidFill>
                <a:latin typeface="Open Sans"/>
              </a:rPr>
              <a:t>3</a:t>
            </a:r>
          </a:p>
        </p:txBody>
      </p:sp>
      <p:sp>
        <p:nvSpPr>
          <p:cNvPr id="22" name="TextBox 21"/>
          <p:cNvSpPr txBox="1"/>
          <p:nvPr/>
        </p:nvSpPr>
        <p:spPr>
          <a:xfrm>
            <a:off x="1463040" y="3749039"/>
            <a:ext cx="4572000" cy="548640"/>
          </a:xfrm>
          <a:prstGeom prst="rect">
            <a:avLst/>
          </a:prstGeom>
          <a:noFill/>
        </p:spPr>
        <p:txBody>
          <a:bodyPr wrap="square" anchor="ctr" lIns="0" rIns="0" tIns="0" bIns="0">
            <a:spAutoFit/>
          </a:bodyPr>
          <a:lstStyle/>
          <a:p>
            <a:pPr algn="l">
              <a:spcBef>
                <a:spcPts val="0"/>
              </a:spcBef>
            </a:pPr>
            <a:r>
              <a:rPr sz="1500" b="1" i="0">
                <a:solidFill>
                  <a:srgbClr val="2D2D2D"/>
                </a:solidFill>
                <a:latin typeface="Open Sans"/>
              </a:rPr>
              <a:t>Publish one LCFS / renewable FAQ</a:t>
            </a:r>
          </a:p>
        </p:txBody>
      </p:sp>
      <p:sp>
        <p:nvSpPr>
          <p:cNvPr id="23" name="TextBox 22"/>
          <p:cNvSpPr txBox="1"/>
          <p:nvPr/>
        </p:nvSpPr>
        <p:spPr>
          <a:xfrm>
            <a:off x="6126480" y="3749039"/>
            <a:ext cx="5486400" cy="548640"/>
          </a:xfrm>
          <a:prstGeom prst="rect">
            <a:avLst/>
          </a:prstGeom>
          <a:noFill/>
        </p:spPr>
        <p:txBody>
          <a:bodyPr wrap="square" anchor="ctr" lIns="0" rIns="0" tIns="0" bIns="0">
            <a:spAutoFit/>
          </a:bodyPr>
          <a:lstStyle/>
          <a:p>
            <a:pPr algn="l">
              <a:lnSpc>
                <a:spcPct val="112000"/>
              </a:lnSpc>
              <a:spcBef>
                <a:spcPts val="0"/>
              </a:spcBef>
            </a:pPr>
            <a:r>
              <a:rPr sz="1200" b="0" i="0">
                <a:solidFill>
                  <a:srgbClr val="59595B"/>
                </a:solidFill>
                <a:latin typeface="Open Sans"/>
              </a:rPr>
              <a:t>Own the AI answer competitors haven't claimed yet.</a:t>
            </a:r>
          </a:p>
        </p:txBody>
      </p:sp>
      <p:sp>
        <p:nvSpPr>
          <p:cNvPr id="24" name="Rounded Rectangle 23"/>
          <p:cNvSpPr/>
          <p:nvPr/>
        </p:nvSpPr>
        <p:spPr>
          <a:xfrm>
            <a:off x="640080" y="4507992"/>
            <a:ext cx="10911535" cy="768096"/>
          </a:xfrm>
          <a:prstGeom prst="roundRect">
            <a:avLst>
              <a:gd name="adj" fmla="val 7000"/>
            </a:avLst>
          </a:prstGeom>
          <a:solidFill>
            <a:srgbClr val="F8F9FA"/>
          </a:solidFill>
          <a:ln w="12700">
            <a:solidFill>
              <a:srgbClr val="E9EC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41248" y="4681728"/>
            <a:ext cx="420624" cy="420624"/>
          </a:xfrm>
          <a:prstGeom prst="roundRect">
            <a:avLst>
              <a:gd name="adj" fmla="val 22000"/>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 y="4681728"/>
            <a:ext cx="420624" cy="420624"/>
          </a:xfrm>
          <a:prstGeom prst="rect">
            <a:avLst/>
          </a:prstGeom>
          <a:noFill/>
        </p:spPr>
        <p:txBody>
          <a:bodyPr wrap="square" anchor="ctr" lIns="0" rIns="0" tIns="0" bIns="0">
            <a:spAutoFit/>
          </a:bodyPr>
          <a:lstStyle/>
          <a:p>
            <a:pPr algn="ctr">
              <a:spcBef>
                <a:spcPts val="0"/>
              </a:spcBef>
            </a:pPr>
            <a:r>
              <a:rPr sz="1600" b="1" i="0">
                <a:solidFill>
                  <a:srgbClr val="FFFFFF"/>
                </a:solidFill>
                <a:latin typeface="Open Sans"/>
              </a:rPr>
              <a:t>4</a:t>
            </a:r>
          </a:p>
        </p:txBody>
      </p:sp>
      <p:sp>
        <p:nvSpPr>
          <p:cNvPr id="27" name="TextBox 26"/>
          <p:cNvSpPr txBox="1"/>
          <p:nvPr/>
        </p:nvSpPr>
        <p:spPr>
          <a:xfrm>
            <a:off x="1463040" y="4626864"/>
            <a:ext cx="4572000" cy="548640"/>
          </a:xfrm>
          <a:prstGeom prst="rect">
            <a:avLst/>
          </a:prstGeom>
          <a:noFill/>
        </p:spPr>
        <p:txBody>
          <a:bodyPr wrap="square" anchor="ctr" lIns="0" rIns="0" tIns="0" bIns="0">
            <a:spAutoFit/>
          </a:bodyPr>
          <a:lstStyle/>
          <a:p>
            <a:pPr algn="l">
              <a:spcBef>
                <a:spcPts val="0"/>
              </a:spcBef>
            </a:pPr>
            <a:r>
              <a:rPr sz="1500" b="1" i="0">
                <a:solidFill>
                  <a:srgbClr val="2D2D2D"/>
                </a:solidFill>
                <a:latin typeface="Open Sans"/>
              </a:rPr>
              <a:t>Refresh the ownership story</a:t>
            </a:r>
          </a:p>
        </p:txBody>
      </p:sp>
      <p:sp>
        <p:nvSpPr>
          <p:cNvPr id="28" name="TextBox 27"/>
          <p:cNvSpPr txBox="1"/>
          <p:nvPr/>
        </p:nvSpPr>
        <p:spPr>
          <a:xfrm>
            <a:off x="6126480" y="4626864"/>
            <a:ext cx="5486400" cy="548640"/>
          </a:xfrm>
          <a:prstGeom prst="rect">
            <a:avLst/>
          </a:prstGeom>
          <a:noFill/>
        </p:spPr>
        <p:txBody>
          <a:bodyPr wrap="square" anchor="ctr" lIns="0" rIns="0" tIns="0" bIns="0">
            <a:spAutoFit/>
          </a:bodyPr>
          <a:lstStyle/>
          <a:p>
            <a:pPr algn="l">
              <a:lnSpc>
                <a:spcPct val="112000"/>
              </a:lnSpc>
              <a:spcBef>
                <a:spcPts val="0"/>
              </a:spcBef>
            </a:pPr>
            <a:r>
              <a:rPr sz="1200" b="0" i="0">
                <a:solidFill>
                  <a:srgbClr val="59595B"/>
                </a:solidFill>
                <a:latin typeface="Open Sans"/>
              </a:rPr>
              <a:t>Align the website with the Pilot-backed reality — liability into selling point.</a:t>
            </a:r>
          </a:p>
        </p:txBody>
      </p:sp>
      <p:sp>
        <p:nvSpPr>
          <p:cNvPr id="29" name="Rounded Rectangle 28"/>
          <p:cNvSpPr/>
          <p:nvPr/>
        </p:nvSpPr>
        <p:spPr>
          <a:xfrm>
            <a:off x="640080" y="5385816"/>
            <a:ext cx="10911535" cy="768096"/>
          </a:xfrm>
          <a:prstGeom prst="roundRect">
            <a:avLst>
              <a:gd name="adj" fmla="val 7000"/>
            </a:avLst>
          </a:prstGeom>
          <a:solidFill>
            <a:srgbClr val="F8F9FA"/>
          </a:solidFill>
          <a:ln w="12700">
            <a:solidFill>
              <a:srgbClr val="E9EC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41248" y="5559552"/>
            <a:ext cx="420624" cy="420624"/>
          </a:xfrm>
          <a:prstGeom prst="roundRect">
            <a:avLst>
              <a:gd name="adj" fmla="val 22000"/>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1248" y="5559552"/>
            <a:ext cx="420624" cy="420624"/>
          </a:xfrm>
          <a:prstGeom prst="rect">
            <a:avLst/>
          </a:prstGeom>
          <a:noFill/>
        </p:spPr>
        <p:txBody>
          <a:bodyPr wrap="square" anchor="ctr" lIns="0" rIns="0" tIns="0" bIns="0">
            <a:spAutoFit/>
          </a:bodyPr>
          <a:lstStyle/>
          <a:p>
            <a:pPr algn="ctr">
              <a:spcBef>
                <a:spcPts val="0"/>
              </a:spcBef>
            </a:pPr>
            <a:r>
              <a:rPr sz="1600" b="1" i="0">
                <a:solidFill>
                  <a:srgbClr val="FFFFFF"/>
                </a:solidFill>
                <a:latin typeface="Open Sans"/>
              </a:rPr>
              <a:t>5</a:t>
            </a:r>
          </a:p>
        </p:txBody>
      </p:sp>
      <p:sp>
        <p:nvSpPr>
          <p:cNvPr id="32" name="TextBox 31"/>
          <p:cNvSpPr txBox="1"/>
          <p:nvPr/>
        </p:nvSpPr>
        <p:spPr>
          <a:xfrm>
            <a:off x="1463040" y="5504688"/>
            <a:ext cx="4572000" cy="548640"/>
          </a:xfrm>
          <a:prstGeom prst="rect">
            <a:avLst/>
          </a:prstGeom>
          <a:noFill/>
        </p:spPr>
        <p:txBody>
          <a:bodyPr wrap="square" anchor="ctr" lIns="0" rIns="0" tIns="0" bIns="0">
            <a:spAutoFit/>
          </a:bodyPr>
          <a:lstStyle/>
          <a:p>
            <a:pPr algn="l">
              <a:spcBef>
                <a:spcPts val="0"/>
              </a:spcBef>
            </a:pPr>
            <a:r>
              <a:rPr sz="1500" b="1" i="0">
                <a:solidFill>
                  <a:srgbClr val="2D2D2D"/>
                </a:solidFill>
                <a:latin typeface="Open Sans"/>
              </a:rPr>
              <a:t>Capture 5 account testimonials</a:t>
            </a:r>
          </a:p>
        </p:txBody>
      </p:sp>
      <p:sp>
        <p:nvSpPr>
          <p:cNvPr id="33" name="TextBox 32"/>
          <p:cNvSpPr txBox="1"/>
          <p:nvPr/>
        </p:nvSpPr>
        <p:spPr>
          <a:xfrm>
            <a:off x="6126480" y="5504688"/>
            <a:ext cx="5486400" cy="548640"/>
          </a:xfrm>
          <a:prstGeom prst="rect">
            <a:avLst/>
          </a:prstGeom>
          <a:noFill/>
        </p:spPr>
        <p:txBody>
          <a:bodyPr wrap="square" anchor="ctr" lIns="0" rIns="0" tIns="0" bIns="0">
            <a:spAutoFit/>
          </a:bodyPr>
          <a:lstStyle/>
          <a:p>
            <a:pPr algn="l">
              <a:lnSpc>
                <a:spcPct val="112000"/>
              </a:lnSpc>
              <a:spcBef>
                <a:spcPts val="0"/>
              </a:spcBef>
            </a:pPr>
            <a:r>
              <a:rPr sz="1200" b="0" i="0">
                <a:solidFill>
                  <a:srgbClr val="59595B"/>
                </a:solidFill>
                <a:latin typeface="Open Sans"/>
              </a:rPr>
              <a:t>Proof assets for account-based selling.</a:t>
            </a:r>
          </a:p>
        </p:txBody>
      </p:sp>
      <p:sp>
        <p:nvSpPr>
          <p:cNvPr id="34" name="Rectangle 33"/>
          <p:cNvSpPr/>
          <p:nvPr/>
        </p:nvSpPr>
        <p:spPr>
          <a:xfrm>
            <a:off x="640080" y="6455664"/>
            <a:ext cx="10911535" cy="10972"/>
          </a:xfrm>
          <a:prstGeom prst="rect">
            <a:avLst/>
          </a:prstGeom>
          <a:solidFill>
            <a:srgbClr val="E9EC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6510528"/>
            <a:ext cx="7772400" cy="274320"/>
          </a:xfrm>
          <a:prstGeom prst="rect">
            <a:avLst/>
          </a:prstGeom>
          <a:noFill/>
        </p:spPr>
        <p:txBody>
          <a:bodyPr wrap="square" anchor="t" lIns="0" rIns="0" tIns="0" bIns="0">
            <a:spAutoFit/>
          </a:bodyPr>
          <a:lstStyle/>
          <a:p>
            <a:pPr algn="l">
              <a:spcBef>
                <a:spcPts val="0"/>
              </a:spcBef>
            </a:pPr>
            <a:r>
              <a:rPr sz="850" b="0" i="0">
                <a:solidFill>
                  <a:srgbClr val="9A9AA2"/>
                </a:solidFill>
                <a:latin typeface="Open Sans"/>
              </a:rPr>
              <a:t>AI-Driven Growth Blueprint  ·  Prepared for SC Fuels  ·  Confidential</a:t>
            </a:r>
          </a:p>
        </p:txBody>
      </p:sp>
      <p:sp>
        <p:nvSpPr>
          <p:cNvPr id="36" name="TextBox 35"/>
          <p:cNvSpPr txBox="1"/>
          <p:nvPr/>
        </p:nvSpPr>
        <p:spPr>
          <a:xfrm>
            <a:off x="8259775" y="6510528"/>
            <a:ext cx="2743200" cy="274320"/>
          </a:xfrm>
          <a:prstGeom prst="rect">
            <a:avLst/>
          </a:prstGeom>
          <a:noFill/>
        </p:spPr>
        <p:txBody>
          <a:bodyPr wrap="square" anchor="t" lIns="0" rIns="0" tIns="0" bIns="0">
            <a:spAutoFit/>
          </a:bodyPr>
          <a:lstStyle/>
          <a:p>
            <a:pPr algn="r">
              <a:spcBef>
                <a:spcPts val="0"/>
              </a:spcBef>
            </a:pPr>
            <a:r>
              <a:rPr sz="850" b="0" i="0">
                <a:solidFill>
                  <a:srgbClr val="9A9AA2"/>
                </a:solidFill>
                <a:latin typeface="Open Sans"/>
              </a:rPr>
              <a:t>technijian.com</a:t>
            </a:r>
          </a:p>
        </p:txBody>
      </p:sp>
      <p:sp>
        <p:nvSpPr>
          <p:cNvPr id="37" name="TextBox 36"/>
          <p:cNvSpPr txBox="1"/>
          <p:nvPr/>
        </p:nvSpPr>
        <p:spPr>
          <a:xfrm>
            <a:off x="11277295" y="6510528"/>
            <a:ext cx="274320" cy="274320"/>
          </a:xfrm>
          <a:prstGeom prst="rect">
            <a:avLst/>
          </a:prstGeom>
          <a:noFill/>
        </p:spPr>
        <p:txBody>
          <a:bodyPr wrap="square" anchor="t" lIns="0" rIns="0" tIns="0" bIns="0">
            <a:spAutoFit/>
          </a:bodyPr>
          <a:lstStyle/>
          <a:p>
            <a:pPr algn="r">
              <a:spcBef>
                <a:spcPts val="0"/>
              </a:spcBef>
            </a:pPr>
            <a:r>
              <a:rPr sz="850" b="1" i="0">
                <a:solidFill>
                  <a:srgbClr val="9A9AA2"/>
                </a:solidFill>
                <a:latin typeface="Open San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6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8016"/>
            <a:ext cx="12191695" cy="36576"/>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chnijian Logo 2.png"/>
          <p:cNvPicPr>
            <a:picLocks noChangeAspect="1"/>
          </p:cNvPicPr>
          <p:nvPr/>
        </p:nvPicPr>
        <p:blipFill>
          <a:blip r:embed="rId2"/>
          <a:stretch>
            <a:fillRect/>
          </a:stretch>
        </p:blipFill>
        <p:spPr>
          <a:xfrm>
            <a:off x="10362895" y="420624"/>
            <a:ext cx="1463040" cy="306170"/>
          </a:xfrm>
          <a:prstGeom prst="rect">
            <a:avLst/>
          </a:prstGeom>
        </p:spPr>
      </p:pic>
      <p:sp>
        <p:nvSpPr>
          <p:cNvPr id="6" name="TextBox 5"/>
          <p:cNvSpPr txBox="1"/>
          <p:nvPr/>
        </p:nvSpPr>
        <p:spPr>
          <a:xfrm>
            <a:off x="640080" y="475488"/>
            <a:ext cx="8686800" cy="274320"/>
          </a:xfrm>
          <a:prstGeom prst="rect">
            <a:avLst/>
          </a:prstGeom>
          <a:noFill/>
        </p:spPr>
        <p:txBody>
          <a:bodyPr wrap="square" anchor="t" lIns="0" rIns="0" tIns="0" bIns="0">
            <a:spAutoFit/>
          </a:bodyPr>
          <a:lstStyle/>
          <a:p>
            <a:pPr algn="l">
              <a:spcBef>
                <a:spcPts val="0"/>
              </a:spcBef>
            </a:pPr>
            <a:r>
              <a:rPr sz="1200" b="1" i="0">
                <a:solidFill>
                  <a:srgbClr val="F67D4B"/>
                </a:solidFill>
                <a:latin typeface="Open Sans"/>
              </a:rPr>
              <a:t>CALIBRATE THE PLAN</a:t>
            </a:r>
          </a:p>
        </p:txBody>
      </p:sp>
      <p:sp>
        <p:nvSpPr>
          <p:cNvPr id="7" name="TextBox 6"/>
          <p:cNvSpPr txBox="1"/>
          <p:nvPr/>
        </p:nvSpPr>
        <p:spPr>
          <a:xfrm>
            <a:off x="640080" y="768096"/>
            <a:ext cx="9418320" cy="566928"/>
          </a:xfrm>
          <a:prstGeom prst="rect">
            <a:avLst/>
          </a:prstGeom>
          <a:noFill/>
        </p:spPr>
        <p:txBody>
          <a:bodyPr wrap="square" anchor="t" lIns="0" rIns="0" tIns="0" bIns="0">
            <a:spAutoFit/>
          </a:bodyPr>
          <a:lstStyle/>
          <a:p>
            <a:pPr algn="l">
              <a:spcBef>
                <a:spcPts val="0"/>
              </a:spcBef>
            </a:pPr>
            <a:r>
              <a:rPr sz="2600" b="1" i="0">
                <a:solidFill>
                  <a:srgbClr val="006DB6"/>
                </a:solidFill>
                <a:latin typeface="Open Sans"/>
              </a:rPr>
              <a:t>What we need from you to firm up the numbers</a:t>
            </a:r>
          </a:p>
        </p:txBody>
      </p:sp>
      <p:sp>
        <p:nvSpPr>
          <p:cNvPr id="8" name="Rectangle 7"/>
          <p:cNvSpPr/>
          <p:nvPr/>
        </p:nvSpPr>
        <p:spPr>
          <a:xfrm>
            <a:off x="658368" y="1481328"/>
            <a:ext cx="1371600" cy="41148"/>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13232" y="1847088"/>
            <a:ext cx="128016" cy="128016"/>
          </a:xfrm>
          <a:prstGeom prst="rect">
            <a:avLst/>
          </a:prstGeom>
          <a:solidFill>
            <a:srgbClr val="006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1783080"/>
            <a:ext cx="10424160" cy="457200"/>
          </a:xfrm>
          <a:prstGeom prst="rect">
            <a:avLst/>
          </a:prstGeom>
          <a:noFill/>
        </p:spPr>
        <p:txBody>
          <a:bodyPr wrap="square" anchor="t" lIns="0" rIns="0" tIns="0" bIns="0">
            <a:spAutoFit/>
          </a:bodyPr>
          <a:lstStyle/>
          <a:p>
            <a:pPr algn="l">
              <a:lnSpc>
                <a:spcPct val="110000"/>
              </a:lnSpc>
              <a:spcBef>
                <a:spcPts val="0"/>
              </a:spcBef>
            </a:pPr>
            <a:r>
              <a:rPr sz="1350" b="0" i="0">
                <a:solidFill>
                  <a:srgbClr val="2D2D2D"/>
                </a:solidFill>
                <a:latin typeface="Open Sans"/>
              </a:rPr>
              <a:t>Current gallons/yr, active accounts, new-accounts/month, and sales headcount by territory</a:t>
            </a:r>
          </a:p>
        </p:txBody>
      </p:sp>
      <p:sp>
        <p:nvSpPr>
          <p:cNvPr id="11" name="Rectangle 10"/>
          <p:cNvSpPr/>
          <p:nvPr/>
        </p:nvSpPr>
        <p:spPr>
          <a:xfrm>
            <a:off x="713232" y="2450591"/>
            <a:ext cx="128016" cy="128016"/>
          </a:xfrm>
          <a:prstGeom prst="rect">
            <a:avLst/>
          </a:prstGeom>
          <a:solidFill>
            <a:srgbClr val="006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2386584"/>
            <a:ext cx="10424160" cy="457200"/>
          </a:xfrm>
          <a:prstGeom prst="rect">
            <a:avLst/>
          </a:prstGeom>
          <a:noFill/>
        </p:spPr>
        <p:txBody>
          <a:bodyPr wrap="square" anchor="t" lIns="0" rIns="0" tIns="0" bIns="0">
            <a:spAutoFit/>
          </a:bodyPr>
          <a:lstStyle/>
          <a:p>
            <a:pPr algn="l">
              <a:lnSpc>
                <a:spcPct val="110000"/>
              </a:lnSpc>
              <a:spcBef>
                <a:spcPts val="0"/>
              </a:spcBef>
            </a:pPr>
            <a:r>
              <a:rPr sz="1350" b="0" i="0">
                <a:solidFill>
                  <a:srgbClr val="2D2D2D"/>
                </a:solidFill>
                <a:latin typeface="Open Sans"/>
              </a:rPr>
              <a:t>Churn rate on cardlock and commercial accounts (baselines the retention story)</a:t>
            </a:r>
          </a:p>
        </p:txBody>
      </p:sp>
      <p:sp>
        <p:nvSpPr>
          <p:cNvPr id="13" name="Rectangle 12"/>
          <p:cNvSpPr/>
          <p:nvPr/>
        </p:nvSpPr>
        <p:spPr>
          <a:xfrm>
            <a:off x="713232" y="3054096"/>
            <a:ext cx="128016" cy="128016"/>
          </a:xfrm>
          <a:prstGeom prst="rect">
            <a:avLst/>
          </a:prstGeom>
          <a:solidFill>
            <a:srgbClr val="006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2990088"/>
            <a:ext cx="10424160" cy="457200"/>
          </a:xfrm>
          <a:prstGeom prst="rect">
            <a:avLst/>
          </a:prstGeom>
          <a:noFill/>
        </p:spPr>
        <p:txBody>
          <a:bodyPr wrap="square" anchor="t" lIns="0" rIns="0" tIns="0" bIns="0">
            <a:spAutoFit/>
          </a:bodyPr>
          <a:lstStyle/>
          <a:p>
            <a:pPr algn="l">
              <a:lnSpc>
                <a:spcPct val="110000"/>
              </a:lnSpc>
              <a:spcBef>
                <a:spcPts val="0"/>
              </a:spcBef>
            </a:pPr>
            <a:r>
              <a:rPr sz="1350" b="0" i="0">
                <a:solidFill>
                  <a:srgbClr val="2D2D2D"/>
                </a:solidFill>
                <a:latin typeface="Open Sans"/>
              </a:rPr>
              <a:t>Hours and cost spent on LCFS + RIN + IFTA today (the compliance-ROI anchors)</a:t>
            </a:r>
          </a:p>
        </p:txBody>
      </p:sp>
      <p:sp>
        <p:nvSpPr>
          <p:cNvPr id="15" name="Rectangle 14"/>
          <p:cNvSpPr/>
          <p:nvPr/>
        </p:nvSpPr>
        <p:spPr>
          <a:xfrm>
            <a:off x="713232" y="3657600"/>
            <a:ext cx="128016" cy="128016"/>
          </a:xfrm>
          <a:prstGeom prst="rect">
            <a:avLst/>
          </a:prstGeom>
          <a:solidFill>
            <a:srgbClr val="006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3593592"/>
            <a:ext cx="10424160" cy="457200"/>
          </a:xfrm>
          <a:prstGeom prst="rect">
            <a:avLst/>
          </a:prstGeom>
          <a:noFill/>
        </p:spPr>
        <p:txBody>
          <a:bodyPr wrap="square" anchor="t" lIns="0" rIns="0" tIns="0" bIns="0">
            <a:spAutoFit/>
          </a:bodyPr>
          <a:lstStyle/>
          <a:p>
            <a:pPr algn="l">
              <a:lnSpc>
                <a:spcPct val="110000"/>
              </a:lnSpc>
              <a:spcBef>
                <a:spcPts val="0"/>
              </a:spcBef>
            </a:pPr>
            <a:r>
              <a:rPr sz="1350" b="0" i="0">
                <a:solidFill>
                  <a:srgbClr val="2D2D2D"/>
                </a:solidFill>
                <a:latin typeface="Open Sans"/>
              </a:rPr>
              <a:t>CRM and billing/back-office systems (the integration surface for AI)</a:t>
            </a:r>
          </a:p>
        </p:txBody>
      </p:sp>
      <p:sp>
        <p:nvSpPr>
          <p:cNvPr id="17" name="Rectangle 16"/>
          <p:cNvSpPr/>
          <p:nvPr/>
        </p:nvSpPr>
        <p:spPr>
          <a:xfrm>
            <a:off x="713232" y="4261104"/>
            <a:ext cx="128016" cy="128016"/>
          </a:xfrm>
          <a:prstGeom prst="rect">
            <a:avLst/>
          </a:prstGeom>
          <a:solidFill>
            <a:srgbClr val="006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4197096"/>
            <a:ext cx="10424160" cy="457200"/>
          </a:xfrm>
          <a:prstGeom prst="rect">
            <a:avLst/>
          </a:prstGeom>
          <a:noFill/>
        </p:spPr>
        <p:txBody>
          <a:bodyPr wrap="square" anchor="t" lIns="0" rIns="0" tIns="0" bIns="0">
            <a:spAutoFit/>
          </a:bodyPr>
          <a:lstStyle/>
          <a:p>
            <a:pPr algn="l">
              <a:lnSpc>
                <a:spcPct val="110000"/>
              </a:lnSpc>
              <a:spcBef>
                <a:spcPts val="0"/>
              </a:spcBef>
            </a:pPr>
            <a:r>
              <a:rPr sz="1350" b="0" i="0">
                <a:solidFill>
                  <a:srgbClr val="2D2D2D"/>
                </a:solidFill>
                <a:latin typeface="Open Sans"/>
              </a:rPr>
              <a:t>Branch count + exact states, and renewable-diesel as a % of total volume</a:t>
            </a:r>
          </a:p>
        </p:txBody>
      </p:sp>
      <p:sp>
        <p:nvSpPr>
          <p:cNvPr id="19" name="Rectangle 18"/>
          <p:cNvSpPr/>
          <p:nvPr/>
        </p:nvSpPr>
        <p:spPr>
          <a:xfrm>
            <a:off x="713232" y="4864608"/>
            <a:ext cx="128016" cy="128016"/>
          </a:xfrm>
          <a:prstGeom prst="rect">
            <a:avLst/>
          </a:prstGeom>
          <a:solidFill>
            <a:srgbClr val="006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 y="4800600"/>
            <a:ext cx="10424160" cy="457200"/>
          </a:xfrm>
          <a:prstGeom prst="rect">
            <a:avLst/>
          </a:prstGeom>
          <a:noFill/>
        </p:spPr>
        <p:txBody>
          <a:bodyPr wrap="square" anchor="t" lIns="0" rIns="0" tIns="0" bIns="0">
            <a:spAutoFit/>
          </a:bodyPr>
          <a:lstStyle/>
          <a:p>
            <a:pPr algn="l">
              <a:lnSpc>
                <a:spcPct val="110000"/>
              </a:lnSpc>
              <a:spcBef>
                <a:spcPts val="0"/>
              </a:spcBef>
            </a:pPr>
            <a:r>
              <a:rPr sz="1350" b="0" i="0">
                <a:solidFill>
                  <a:srgbClr val="2D2D2D"/>
                </a:solidFill>
                <a:latin typeface="Open Sans"/>
              </a:rPr>
              <a:t>Who owns marketing/web today — and the relationship to Pilot's central marketing</a:t>
            </a:r>
          </a:p>
        </p:txBody>
      </p:sp>
      <p:sp>
        <p:nvSpPr>
          <p:cNvPr id="21" name="Rectangle 20"/>
          <p:cNvSpPr/>
          <p:nvPr/>
        </p:nvSpPr>
        <p:spPr>
          <a:xfrm>
            <a:off x="713232" y="5468112"/>
            <a:ext cx="128016" cy="128016"/>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4128" y="5404104"/>
            <a:ext cx="10424160" cy="457200"/>
          </a:xfrm>
          <a:prstGeom prst="rect">
            <a:avLst/>
          </a:prstGeom>
          <a:noFill/>
        </p:spPr>
        <p:txBody>
          <a:bodyPr wrap="square" anchor="t" lIns="0" rIns="0" tIns="0" bIns="0">
            <a:spAutoFit/>
          </a:bodyPr>
          <a:lstStyle/>
          <a:p>
            <a:pPr algn="l">
              <a:lnSpc>
                <a:spcPct val="110000"/>
              </a:lnSpc>
              <a:spcBef>
                <a:spcPts val="0"/>
              </a:spcBef>
            </a:pPr>
            <a:r>
              <a:rPr sz="1350" b="1" i="0">
                <a:solidFill>
                  <a:srgbClr val="F67D4B"/>
                </a:solidFill>
                <a:latin typeface="Open Sans"/>
              </a:rPr>
              <a:t>The engagement sponsor — SC Fuels leadership, or routed through Pilot?</a:t>
            </a:r>
          </a:p>
        </p:txBody>
      </p:sp>
      <p:sp>
        <p:nvSpPr>
          <p:cNvPr id="23" name="TextBox 22"/>
          <p:cNvSpPr txBox="1"/>
          <p:nvPr/>
        </p:nvSpPr>
        <p:spPr>
          <a:xfrm>
            <a:off x="640080" y="6126480"/>
            <a:ext cx="10911535" cy="365760"/>
          </a:xfrm>
          <a:prstGeom prst="rect">
            <a:avLst/>
          </a:prstGeom>
          <a:noFill/>
        </p:spPr>
        <p:txBody>
          <a:bodyPr wrap="square" anchor="t" lIns="0" rIns="0" tIns="0" bIns="0">
            <a:spAutoFit/>
          </a:bodyPr>
          <a:lstStyle/>
          <a:p>
            <a:pPr algn="l">
              <a:spcBef>
                <a:spcPts val="0"/>
              </a:spcBef>
            </a:pPr>
            <a:r>
              <a:rPr sz="1200" b="0" i="1">
                <a:solidFill>
                  <a:srgbClr val="59595B"/>
                </a:solidFill>
                <a:latin typeface="Open Sans"/>
              </a:rPr>
              <a:t>Every projection in this deck is an estimate until we answer these together. </a:t>
            </a:r>
            <a:r>
              <a:rPr sz="1200" b="1" i="0">
                <a:solidFill>
                  <a:srgbClr val="F67D4B"/>
                </a:solidFill>
                <a:latin typeface="Open Sans"/>
              </a:rPr>
              <a:t>The sponsor question changes the whole motion.</a:t>
            </a:r>
          </a:p>
        </p:txBody>
      </p:sp>
      <p:sp>
        <p:nvSpPr>
          <p:cNvPr id="24" name="Rectangle 23"/>
          <p:cNvSpPr/>
          <p:nvPr/>
        </p:nvSpPr>
        <p:spPr>
          <a:xfrm>
            <a:off x="640080" y="6455664"/>
            <a:ext cx="10911535" cy="10972"/>
          </a:xfrm>
          <a:prstGeom prst="rect">
            <a:avLst/>
          </a:prstGeom>
          <a:solidFill>
            <a:srgbClr val="E9EC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6510528"/>
            <a:ext cx="7772400" cy="274320"/>
          </a:xfrm>
          <a:prstGeom prst="rect">
            <a:avLst/>
          </a:prstGeom>
          <a:noFill/>
        </p:spPr>
        <p:txBody>
          <a:bodyPr wrap="square" anchor="t" lIns="0" rIns="0" tIns="0" bIns="0">
            <a:spAutoFit/>
          </a:bodyPr>
          <a:lstStyle/>
          <a:p>
            <a:pPr algn="l">
              <a:spcBef>
                <a:spcPts val="0"/>
              </a:spcBef>
            </a:pPr>
            <a:r>
              <a:rPr sz="850" b="0" i="0">
                <a:solidFill>
                  <a:srgbClr val="9A9AA2"/>
                </a:solidFill>
                <a:latin typeface="Open Sans"/>
              </a:rPr>
              <a:t>AI-Driven Growth Blueprint  ·  Prepared for SC Fuels  ·  Confidential</a:t>
            </a:r>
          </a:p>
        </p:txBody>
      </p:sp>
      <p:sp>
        <p:nvSpPr>
          <p:cNvPr id="26" name="TextBox 25"/>
          <p:cNvSpPr txBox="1"/>
          <p:nvPr/>
        </p:nvSpPr>
        <p:spPr>
          <a:xfrm>
            <a:off x="8259775" y="6510528"/>
            <a:ext cx="2743200" cy="274320"/>
          </a:xfrm>
          <a:prstGeom prst="rect">
            <a:avLst/>
          </a:prstGeom>
          <a:noFill/>
        </p:spPr>
        <p:txBody>
          <a:bodyPr wrap="square" anchor="t" lIns="0" rIns="0" tIns="0" bIns="0">
            <a:spAutoFit/>
          </a:bodyPr>
          <a:lstStyle/>
          <a:p>
            <a:pPr algn="r">
              <a:spcBef>
                <a:spcPts val="0"/>
              </a:spcBef>
            </a:pPr>
            <a:r>
              <a:rPr sz="850" b="0" i="0">
                <a:solidFill>
                  <a:srgbClr val="9A9AA2"/>
                </a:solidFill>
                <a:latin typeface="Open Sans"/>
              </a:rPr>
              <a:t>technijian.com</a:t>
            </a:r>
          </a:p>
        </p:txBody>
      </p:sp>
      <p:sp>
        <p:nvSpPr>
          <p:cNvPr id="27" name="TextBox 26"/>
          <p:cNvSpPr txBox="1"/>
          <p:nvPr/>
        </p:nvSpPr>
        <p:spPr>
          <a:xfrm>
            <a:off x="11277295" y="6510528"/>
            <a:ext cx="274320" cy="274320"/>
          </a:xfrm>
          <a:prstGeom prst="rect">
            <a:avLst/>
          </a:prstGeom>
          <a:noFill/>
        </p:spPr>
        <p:txBody>
          <a:bodyPr wrap="square" anchor="t" lIns="0" rIns="0" tIns="0" bIns="0">
            <a:spAutoFit/>
          </a:bodyPr>
          <a:lstStyle/>
          <a:p>
            <a:pPr algn="r">
              <a:spcBef>
                <a:spcPts val="0"/>
              </a:spcBef>
            </a:pPr>
            <a:r>
              <a:rPr sz="850" b="1" i="0">
                <a:solidFill>
                  <a:srgbClr val="9A9AA2"/>
                </a:solidFill>
                <a:latin typeface="Open San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93408"/>
            <a:ext cx="3047923" cy="164592"/>
          </a:xfrm>
          <a:prstGeom prst="rect">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047923" y="6693408"/>
            <a:ext cx="3047923" cy="164592"/>
          </a:xfrm>
          <a:prstGeom prst="rect">
            <a:avLst/>
          </a:prstGeom>
          <a:solidFill>
            <a:srgbClr val="CBD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6693408"/>
            <a:ext cx="3047923" cy="164592"/>
          </a:xfrm>
          <a:prstGeom prst="rect">
            <a:avLst/>
          </a:prstGeom>
          <a:solidFill>
            <a:srgbClr val="1EA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3771" y="6693408"/>
            <a:ext cx="3047923" cy="164592"/>
          </a:xfrm>
          <a:prstGeom prst="rect">
            <a:avLst/>
          </a:prstGeom>
          <a:solidFill>
            <a:srgbClr val="006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echnijian Logo - white text.png"/>
          <p:cNvPicPr>
            <a:picLocks noChangeAspect="1"/>
          </p:cNvPicPr>
          <p:nvPr/>
        </p:nvPicPr>
        <p:blipFill>
          <a:blip r:embed="rId2"/>
          <a:stretch>
            <a:fillRect/>
          </a:stretch>
        </p:blipFill>
        <p:spPr>
          <a:xfrm>
            <a:off x="868680" y="731520"/>
            <a:ext cx="3108960" cy="650597"/>
          </a:xfrm>
          <a:prstGeom prst="rect">
            <a:avLst/>
          </a:prstGeom>
        </p:spPr>
      </p:pic>
      <p:sp>
        <p:nvSpPr>
          <p:cNvPr id="8" name="TextBox 7"/>
          <p:cNvSpPr txBox="1"/>
          <p:nvPr/>
        </p:nvSpPr>
        <p:spPr>
          <a:xfrm>
            <a:off x="896112" y="1828800"/>
            <a:ext cx="10058400" cy="365760"/>
          </a:xfrm>
          <a:prstGeom prst="rect">
            <a:avLst/>
          </a:prstGeom>
          <a:noFill/>
        </p:spPr>
        <p:txBody>
          <a:bodyPr wrap="square" anchor="t" lIns="0" rIns="0" tIns="0" bIns="0">
            <a:spAutoFit/>
          </a:bodyPr>
          <a:lstStyle/>
          <a:p>
            <a:pPr algn="l">
              <a:spcBef>
                <a:spcPts val="0"/>
              </a:spcBef>
            </a:pPr>
            <a:r>
              <a:rPr sz="1400" b="1" i="0">
                <a:solidFill>
                  <a:srgbClr val="1EAAC8"/>
                </a:solidFill>
                <a:latin typeface="Open Sans"/>
              </a:rPr>
              <a:t>WHERE WE GO FROM HERE</a:t>
            </a:r>
          </a:p>
        </p:txBody>
      </p:sp>
      <p:sp>
        <p:nvSpPr>
          <p:cNvPr id="9" name="TextBox 8"/>
          <p:cNvSpPr txBox="1"/>
          <p:nvPr/>
        </p:nvSpPr>
        <p:spPr>
          <a:xfrm>
            <a:off x="868680" y="2240280"/>
            <a:ext cx="10424160" cy="731520"/>
          </a:xfrm>
          <a:prstGeom prst="rect">
            <a:avLst/>
          </a:prstGeom>
          <a:noFill/>
        </p:spPr>
        <p:txBody>
          <a:bodyPr wrap="square" anchor="t" lIns="0" rIns="0" tIns="0" bIns="0">
            <a:spAutoFit/>
          </a:bodyPr>
          <a:lstStyle/>
          <a:p>
            <a:pPr algn="l">
              <a:spcBef>
                <a:spcPts val="0"/>
              </a:spcBef>
            </a:pPr>
            <a:r>
              <a:rPr sz="3400" b="1" i="0">
                <a:solidFill>
                  <a:srgbClr val="FFFFFF"/>
                </a:solidFill>
                <a:latin typeface="Open Sans"/>
              </a:rPr>
              <a:t>Three small steps — no big commitment</a:t>
            </a:r>
          </a:p>
        </p:txBody>
      </p:sp>
      <p:sp>
        <p:nvSpPr>
          <p:cNvPr id="10" name="Rounded Rectangle 9"/>
          <p:cNvSpPr/>
          <p:nvPr/>
        </p:nvSpPr>
        <p:spPr>
          <a:xfrm>
            <a:off x="896112" y="3337560"/>
            <a:ext cx="3383280" cy="1417320"/>
          </a:xfrm>
          <a:prstGeom prst="roundRect">
            <a:avLst>
              <a:gd name="adj" fmla="val 6000"/>
            </a:avLst>
          </a:prstGeom>
          <a:solidFill>
            <a:srgbClr val="24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152144" y="3566160"/>
            <a:ext cx="457200" cy="457200"/>
          </a:xfrm>
          <a:prstGeom prst="roundRect">
            <a:avLst>
              <a:gd name="adj" fmla="val 22000"/>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52144" y="3566160"/>
            <a:ext cx="457200" cy="457200"/>
          </a:xfrm>
          <a:prstGeom prst="rect">
            <a:avLst/>
          </a:prstGeom>
          <a:noFill/>
        </p:spPr>
        <p:txBody>
          <a:bodyPr wrap="square" anchor="ctr" lIns="0" rIns="0" tIns="0" bIns="0">
            <a:spAutoFit/>
          </a:bodyPr>
          <a:lstStyle/>
          <a:p>
            <a:pPr algn="ctr">
              <a:spcBef>
                <a:spcPts val="0"/>
              </a:spcBef>
            </a:pPr>
            <a:r>
              <a:rPr sz="1700" b="1" i="0">
                <a:solidFill>
                  <a:srgbClr val="FFFFFF"/>
                </a:solidFill>
                <a:latin typeface="Open Sans"/>
              </a:rPr>
              <a:t>1</a:t>
            </a:r>
          </a:p>
        </p:txBody>
      </p:sp>
      <p:sp>
        <p:nvSpPr>
          <p:cNvPr id="13" name="TextBox 12"/>
          <p:cNvSpPr txBox="1"/>
          <p:nvPr/>
        </p:nvSpPr>
        <p:spPr>
          <a:xfrm>
            <a:off x="1764792" y="3611880"/>
            <a:ext cx="2377440" cy="457200"/>
          </a:xfrm>
          <a:prstGeom prst="rect">
            <a:avLst/>
          </a:prstGeom>
          <a:noFill/>
        </p:spPr>
        <p:txBody>
          <a:bodyPr wrap="square" anchor="t" lIns="0" rIns="0" tIns="0" bIns="0">
            <a:spAutoFit/>
          </a:bodyPr>
          <a:lstStyle/>
          <a:p>
            <a:pPr algn="l">
              <a:lnSpc>
                <a:spcPct val="100000"/>
              </a:lnSpc>
              <a:spcBef>
                <a:spcPts val="0"/>
              </a:spcBef>
            </a:pPr>
            <a:r>
              <a:rPr sz="1500" b="1" i="0">
                <a:solidFill>
                  <a:srgbClr val="FFFFFF"/>
                </a:solidFill>
                <a:latin typeface="Open Sans"/>
              </a:rPr>
              <a:t>Pick 1–2 quick wins</a:t>
            </a:r>
          </a:p>
        </p:txBody>
      </p:sp>
      <p:sp>
        <p:nvSpPr>
          <p:cNvPr id="14" name="TextBox 13"/>
          <p:cNvSpPr txBox="1"/>
          <p:nvPr/>
        </p:nvSpPr>
        <p:spPr>
          <a:xfrm>
            <a:off x="1170432" y="4160520"/>
            <a:ext cx="2926080" cy="548640"/>
          </a:xfrm>
          <a:prstGeom prst="rect">
            <a:avLst/>
          </a:prstGeom>
          <a:noFill/>
        </p:spPr>
        <p:txBody>
          <a:bodyPr wrap="square" anchor="t" lIns="0" rIns="0" tIns="0" bIns="0">
            <a:spAutoFit/>
          </a:bodyPr>
          <a:lstStyle/>
          <a:p>
            <a:pPr algn="l">
              <a:lnSpc>
                <a:spcPct val="115000"/>
              </a:lnSpc>
              <a:spcBef>
                <a:spcPts val="0"/>
              </a:spcBef>
            </a:pPr>
            <a:r>
              <a:rPr sz="1150" b="0" i="0">
                <a:solidFill>
                  <a:srgbClr val="C2C4D2"/>
                </a:solidFill>
                <a:latin typeface="Open Sans"/>
              </a:rPr>
              <a:t>We start this week — zero commitment.</a:t>
            </a:r>
          </a:p>
        </p:txBody>
      </p:sp>
      <p:sp>
        <p:nvSpPr>
          <p:cNvPr id="15" name="Rounded Rectangle 14"/>
          <p:cNvSpPr/>
          <p:nvPr/>
        </p:nvSpPr>
        <p:spPr>
          <a:xfrm>
            <a:off x="4480560" y="3337560"/>
            <a:ext cx="3383280" cy="1417320"/>
          </a:xfrm>
          <a:prstGeom prst="roundRect">
            <a:avLst>
              <a:gd name="adj" fmla="val 6000"/>
            </a:avLst>
          </a:prstGeom>
          <a:solidFill>
            <a:srgbClr val="24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736592" y="3566160"/>
            <a:ext cx="457200" cy="457200"/>
          </a:xfrm>
          <a:prstGeom prst="roundRect">
            <a:avLst>
              <a:gd name="adj" fmla="val 22000"/>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36592" y="3566160"/>
            <a:ext cx="457200" cy="457200"/>
          </a:xfrm>
          <a:prstGeom prst="rect">
            <a:avLst/>
          </a:prstGeom>
          <a:noFill/>
        </p:spPr>
        <p:txBody>
          <a:bodyPr wrap="square" anchor="ctr" lIns="0" rIns="0" tIns="0" bIns="0">
            <a:spAutoFit/>
          </a:bodyPr>
          <a:lstStyle/>
          <a:p>
            <a:pPr algn="ctr">
              <a:spcBef>
                <a:spcPts val="0"/>
              </a:spcBef>
            </a:pPr>
            <a:r>
              <a:rPr sz="1700" b="1" i="0">
                <a:solidFill>
                  <a:srgbClr val="FFFFFF"/>
                </a:solidFill>
                <a:latin typeface="Open Sans"/>
              </a:rPr>
              <a:t>2</a:t>
            </a:r>
          </a:p>
        </p:txBody>
      </p:sp>
      <p:sp>
        <p:nvSpPr>
          <p:cNvPr id="18" name="TextBox 17"/>
          <p:cNvSpPr txBox="1"/>
          <p:nvPr/>
        </p:nvSpPr>
        <p:spPr>
          <a:xfrm>
            <a:off x="5349240" y="3611880"/>
            <a:ext cx="2377440" cy="457200"/>
          </a:xfrm>
          <a:prstGeom prst="rect">
            <a:avLst/>
          </a:prstGeom>
          <a:noFill/>
        </p:spPr>
        <p:txBody>
          <a:bodyPr wrap="square" anchor="t" lIns="0" rIns="0" tIns="0" bIns="0">
            <a:spAutoFit/>
          </a:bodyPr>
          <a:lstStyle/>
          <a:p>
            <a:pPr algn="l">
              <a:lnSpc>
                <a:spcPct val="100000"/>
              </a:lnSpc>
              <a:spcBef>
                <a:spcPts val="0"/>
              </a:spcBef>
            </a:pPr>
            <a:r>
              <a:rPr sz="1500" b="1" i="0">
                <a:solidFill>
                  <a:srgbClr val="FFFFFF"/>
                </a:solidFill>
                <a:latin typeface="Open Sans"/>
              </a:rPr>
              <a:t>60-minute discovery</a:t>
            </a:r>
          </a:p>
        </p:txBody>
      </p:sp>
      <p:sp>
        <p:nvSpPr>
          <p:cNvPr id="19" name="TextBox 18"/>
          <p:cNvSpPr txBox="1"/>
          <p:nvPr/>
        </p:nvSpPr>
        <p:spPr>
          <a:xfrm>
            <a:off x="4754880" y="4160520"/>
            <a:ext cx="2926080" cy="548640"/>
          </a:xfrm>
          <a:prstGeom prst="rect">
            <a:avLst/>
          </a:prstGeom>
          <a:noFill/>
        </p:spPr>
        <p:txBody>
          <a:bodyPr wrap="square" anchor="t" lIns="0" rIns="0" tIns="0" bIns="0">
            <a:spAutoFit/>
          </a:bodyPr>
          <a:lstStyle/>
          <a:p>
            <a:pPr algn="l">
              <a:lnSpc>
                <a:spcPct val="115000"/>
              </a:lnSpc>
              <a:spcBef>
                <a:spcPts val="0"/>
              </a:spcBef>
            </a:pPr>
            <a:r>
              <a:rPr sz="1150" b="0" i="0">
                <a:solidFill>
                  <a:srgbClr val="C2C4D2"/>
                </a:solidFill>
                <a:latin typeface="Open Sans"/>
              </a:rPr>
              <a:t>Firm up the numbers behind the plan.</a:t>
            </a:r>
          </a:p>
        </p:txBody>
      </p:sp>
      <p:sp>
        <p:nvSpPr>
          <p:cNvPr id="20" name="Rounded Rectangle 19"/>
          <p:cNvSpPr/>
          <p:nvPr/>
        </p:nvSpPr>
        <p:spPr>
          <a:xfrm>
            <a:off x="8065008" y="3337560"/>
            <a:ext cx="3383280" cy="1417320"/>
          </a:xfrm>
          <a:prstGeom prst="roundRect">
            <a:avLst>
              <a:gd name="adj" fmla="val 6000"/>
            </a:avLst>
          </a:prstGeom>
          <a:solidFill>
            <a:srgbClr val="24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321040" y="3566160"/>
            <a:ext cx="457200" cy="457200"/>
          </a:xfrm>
          <a:prstGeom prst="roundRect">
            <a:avLst>
              <a:gd name="adj" fmla="val 22000"/>
            </a:avLst>
          </a:prstGeom>
          <a:solidFill>
            <a:srgbClr val="F67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40" y="3566160"/>
            <a:ext cx="457200" cy="457200"/>
          </a:xfrm>
          <a:prstGeom prst="rect">
            <a:avLst/>
          </a:prstGeom>
          <a:noFill/>
        </p:spPr>
        <p:txBody>
          <a:bodyPr wrap="square" anchor="ctr" lIns="0" rIns="0" tIns="0" bIns="0">
            <a:spAutoFit/>
          </a:bodyPr>
          <a:lstStyle/>
          <a:p>
            <a:pPr algn="ctr">
              <a:spcBef>
                <a:spcPts val="0"/>
              </a:spcBef>
            </a:pPr>
            <a:r>
              <a:rPr sz="1700" b="1" i="0">
                <a:solidFill>
                  <a:srgbClr val="FFFFFF"/>
                </a:solidFill>
                <a:latin typeface="Open Sans"/>
              </a:rPr>
              <a:t>3</a:t>
            </a:r>
          </a:p>
        </p:txBody>
      </p:sp>
      <p:sp>
        <p:nvSpPr>
          <p:cNvPr id="23" name="TextBox 22"/>
          <p:cNvSpPr txBox="1"/>
          <p:nvPr/>
        </p:nvSpPr>
        <p:spPr>
          <a:xfrm>
            <a:off x="8933688" y="3611880"/>
            <a:ext cx="2377440" cy="457200"/>
          </a:xfrm>
          <a:prstGeom prst="rect">
            <a:avLst/>
          </a:prstGeom>
          <a:noFill/>
        </p:spPr>
        <p:txBody>
          <a:bodyPr wrap="square" anchor="t" lIns="0" rIns="0" tIns="0" bIns="0">
            <a:spAutoFit/>
          </a:bodyPr>
          <a:lstStyle/>
          <a:p>
            <a:pPr algn="l">
              <a:lnSpc>
                <a:spcPct val="100000"/>
              </a:lnSpc>
              <a:spcBef>
                <a:spcPts val="0"/>
              </a:spcBef>
            </a:pPr>
            <a:r>
              <a:rPr sz="1500" b="1" i="0">
                <a:solidFill>
                  <a:srgbClr val="FFFFFF"/>
                </a:solidFill>
                <a:latin typeface="Open Sans"/>
              </a:rPr>
              <a:t>Executive AI Workshop</a:t>
            </a:r>
          </a:p>
        </p:txBody>
      </p:sp>
      <p:sp>
        <p:nvSpPr>
          <p:cNvPr id="24" name="TextBox 23"/>
          <p:cNvSpPr txBox="1"/>
          <p:nvPr/>
        </p:nvSpPr>
        <p:spPr>
          <a:xfrm>
            <a:off x="8339328" y="4160520"/>
            <a:ext cx="2926080" cy="548640"/>
          </a:xfrm>
          <a:prstGeom prst="rect">
            <a:avLst/>
          </a:prstGeom>
          <a:noFill/>
        </p:spPr>
        <p:txBody>
          <a:bodyPr wrap="square" anchor="t" lIns="0" rIns="0" tIns="0" bIns="0">
            <a:spAutoFit/>
          </a:bodyPr>
          <a:lstStyle/>
          <a:p>
            <a:pPr algn="l">
              <a:lnSpc>
                <a:spcPct val="115000"/>
              </a:lnSpc>
              <a:spcBef>
                <a:spcPts val="0"/>
              </a:spcBef>
            </a:pPr>
            <a:r>
              <a:rPr sz="1150" b="0" i="0">
                <a:solidFill>
                  <a:srgbClr val="C2C4D2"/>
                </a:solidFill>
                <a:latin typeface="Open Sans"/>
              </a:rPr>
              <a:t>Align leadership on the roadmap.</a:t>
            </a:r>
          </a:p>
        </p:txBody>
      </p:sp>
      <p:sp>
        <p:nvSpPr>
          <p:cNvPr id="25" name="Rounded Rectangle 24"/>
          <p:cNvSpPr/>
          <p:nvPr/>
        </p:nvSpPr>
        <p:spPr>
          <a:xfrm>
            <a:off x="896112" y="5074920"/>
            <a:ext cx="10396728" cy="841248"/>
          </a:xfrm>
          <a:prstGeom prst="roundRect">
            <a:avLst>
              <a:gd name="adj" fmla="val 5000"/>
            </a:avLst>
          </a:prstGeom>
          <a:solidFill>
            <a:srgbClr val="121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88720" y="5212080"/>
            <a:ext cx="6858000" cy="274320"/>
          </a:xfrm>
          <a:prstGeom prst="rect">
            <a:avLst/>
          </a:prstGeom>
          <a:noFill/>
        </p:spPr>
        <p:txBody>
          <a:bodyPr wrap="square" anchor="t" lIns="0" rIns="0" tIns="0" bIns="0">
            <a:spAutoFit/>
          </a:bodyPr>
          <a:lstStyle/>
          <a:p>
            <a:pPr algn="l">
              <a:spcBef>
                <a:spcPts val="0"/>
              </a:spcBef>
            </a:pPr>
            <a:r>
              <a:rPr sz="1500" b="1" i="0">
                <a:solidFill>
                  <a:srgbClr val="FFFFFF"/>
                </a:solidFill>
                <a:latin typeface="Open Sans"/>
              </a:rPr>
              <a:t>Ravi Jain</a:t>
            </a:r>
            <a:r>
              <a:rPr sz="1200" b="0" i="0">
                <a:solidFill>
                  <a:srgbClr val="B9BDCC"/>
                </a:solidFill>
                <a:latin typeface="Open Sans"/>
              </a:rPr>
              <a:t>   Founder &amp; CEO, Technijian</a:t>
            </a:r>
          </a:p>
        </p:txBody>
      </p:sp>
      <p:sp>
        <p:nvSpPr>
          <p:cNvPr id="27" name="TextBox 26"/>
          <p:cNvSpPr txBox="1"/>
          <p:nvPr/>
        </p:nvSpPr>
        <p:spPr>
          <a:xfrm>
            <a:off x="1188720" y="5541264"/>
            <a:ext cx="9601200" cy="292608"/>
          </a:xfrm>
          <a:prstGeom prst="rect">
            <a:avLst/>
          </a:prstGeom>
          <a:noFill/>
        </p:spPr>
        <p:txBody>
          <a:bodyPr wrap="square" anchor="t" lIns="0" rIns="0" tIns="0" bIns="0">
            <a:spAutoFit/>
          </a:bodyPr>
          <a:lstStyle/>
          <a:p>
            <a:pPr algn="l">
              <a:spcBef>
                <a:spcPts val="0"/>
              </a:spcBef>
            </a:pPr>
            <a:r>
              <a:rPr sz="1200" b="0" i="0">
                <a:solidFill>
                  <a:srgbClr val="1EAAC8"/>
                </a:solidFill>
                <a:latin typeface="Open Sans"/>
              </a:rPr>
              <a:t>rjain@technijian.com    |    949.379.8499    |    technijian.com    |    </a:t>
            </a:r>
            <a:r>
              <a:rPr sz="1200" b="1" i="1">
                <a:solidFill>
                  <a:srgbClr val="F67D4B"/>
                </a:solidFill>
                <a:latin typeface="Open Sans"/>
              </a:rPr>
              <a:t>technology as a solution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