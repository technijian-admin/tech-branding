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Thank Deric for the time and thank Lewis for the introduction. You're Ravi, Founder &amp; CEO of Technijian — Irvine-based, 25+ years, security-first. Frame the whole meeting in one sentence: "This is a working conversation about how an outside team could COMPLEMENT what you already run — not replace it." Deric is the Network Administrator with an in-house team; the fastest way to lose him is to sound like a rip-and-replace MSP. He came to learn and to size up fit — keep it relaxed and peer-to-peer (tech-to-tech). VERIFY-LIVE (do not assert on slides): confirm ~60 endpoints; how many servers and what they run; on-prem vs Microsoft 365 split; team size; that he's HIPAA/Knox-Keene/URAC regulated (public, but confirm scope); who else weighs in (CFO/CEO Kwasi Holman/compliance). NOTE: their email domain is holmangroup.com (not 'holemangroup') — confirm Deric's correct address before any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20 seconds: six quick stops, ending on the part that matters most — YOUR questions — and a free, no-commitment next step. Say it plainly: "I'm not here to take over your network. I'm here to find the two or three places a partner actually takes work off your plate." Then hand him the wheel: "Before I talk — what made you take this call? What would make the next 40 minutes worth it?" Let his answer reorder the deck. The dark card is the promise: he keeps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what we know so he sees we listened and prepared. Confirm each number LIVE — still ~60 computers? how many physical/virtual servers, and what's on them (file, AD/DC, app, SQL, line-of-business)? what's already in Microsoft 365 vs still on-prem? Is it just him, or a small team? Good probes: "What's the oldest thing in the rack you worry about?" / "When something breaks at 2 AM, who gets the call?" / "What's the one project you can never get to?" Behavioral-health + Knox-Keene + URAC means PHI everywhere — acknowledge the compliance weight but DON'T lecture him on his own regulations; ask how he handles the IT-side evidence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 the right to keep talking — 20 seconds, not a history lesson. The four proof points that matter to a fellow technician: (1) 25+ years, we're not going anywhere; (2) the POD model — a named team that learns YOUR environment, not a different stranger every ticket; (3) security-first, CISSP-led, our own 24/7 MDR; (4) AI-forward, we actually build, not just resell. Land the pod model hardest — it's the antidote to every bad MSP experience he's had. If he's quiet, ask: "Have you worked with an outside IT shop before — what did you like or hate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BEFORE pitch. These are anonymized industry profiles — scope and effort only, no client names, no invented metrics. Pick the ONE closest to his world and go deeper on it; don't read all three. The point isn't to brag, it's to signal "we've stood inside a regulated, on-prem, in-house-IT shop exactly like yours and added value without stepping on the admin." If he leans in on one, ask what part of that maps to his reality. Honesty rule: if he asks for references or specifics we can't share live, promise a proper case study in the follow-up — never fabricate a number or a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credibility story for HIM specifically. The fear in the room is "is this guy here to make me redundant?" Kill it directly: co-managed means he stays in charge and we plug specific gaps. Walk the left column (the old all-or-nothing outsourcing he's right to distrust) vs the right (co-managed). Then the three takeaways — lead with #1 (you keep control) and #3 (augment, not replace). Concrete examples: we take nights/weekends so his team sleeps; we run the SOC he can't staff 24/7; we add hands for the server refresh he keeps postponing. Say: "On your worst week, we're the bench. On a normal week, you barely notice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2–3 seeds, then SHUT UP and watch which one he reacts to — that tells you what actually hurts. Don't pitch all three equally; read the room. For most in-house admins the live wire is #1 (give me my nights back) or #2 (I'm scared about a breach I can't see). #3 (strategic + AI) is the differentiator nobody else brings — mention the EAP/claims AI angle lightly as "the kind of thing we'd explore once the basics are solid," not a hard pitch. Frame each as a hypothesis: "teams your size usually feel X — true for you?" Leave room for him to correct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Highest-stakes slide — they're a Knox-Keene behavioral-health plan, so PHI and 42 CFR Part 2 (substance-use records) raise the bar above ordinary HIPAA. Walk the six layers fast; do NOT lecture a network admin on security basics — instead ask which layers he already feels good about and which keep him up at night. The honest hook: "You can probably build any one of these. The hard part is staffing all six, 24/7, with audit evidence a regulator will accept — that's where a partner earns its keep." WHY NOW (strong, dated triggers): (1) the HIPAA Security Rule update (OCR NPRM, Jan 2025) is expected to make MFA, encryption at rest + in transit, annual penetration testing, and vulnerability scans every 6 months MANDATORY — the 'addressable' escape hatch goes away; (2) 42 CFR Part 2 enforcement with civil money penalties became active Feb 2026. Use these to make 'do nothing' costly without fear-mongering. VERIFY-LIVE: current EDR/SIEM/email-security tools; last HIPAA risk assessment + pen test; how 42 CFR Part 2 / CMIA evidence is produced today; whether QuickCap and the provider/member portals are in scope. Don't assert gaps you haven't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MEETING. Put the deck down here and let him talk — aim for him doing 70% of the talking. Questions are ordered easy→strategic; skip any he already answered earlier. The must-learns: (a) real environment shape (servers/endpoints, on-prem vs cloud), (b) where his hours go / after-hours pain, (c) security + compliance posture and evidence burden, (d) roadmap projects he wants bandwidth for, (e) the decision chain (CFO? CEO Kwasi Holman? compliance officer?). End on "what would make this worth your time" so you close on HIS terms. Never ask something you should already know — that signals you didn't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stakes to near zero. The only ask today is the free Nexus Assess — internal + external vulnerability scan, dark-web credential check, and a Microsoft 365 security review, handed back as a prioritized roadmap MAPPED TO HIPAA that's his to keep whether or not we ever work together. It gives him a real artifact to take to his CFO/CEO, and it gives us the data to scope a right-sized co-managed proposal. Reassure: "This isn't a sales trap — it's a read of your environment you can act on with your own team." If he asks price: give a verbal range only, and say the fixed number comes after the assessment. NEVER discuss our cost basis or how we staff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concrete, dated thing: book the free Nexus Assess, roadmap back within ~10 business days. Pair it with the risk-reversal out loud — free, no contract, no obligation, the roadmap is yours to keep. Broaden the topic slightly so you're a peer strategist, not a one-deal pitch: "...and I'm happy to share the broader security + AI playbook we run for ourselves and our other clients." Confirm the best email (verify holmangroup.com address), propose a specific time this week, and send a short recap email TODAY with the booking link and your signature. End warm, zero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F67D4B"/>
          </a:solidFill>
          <a:ln w="12700">
            <a:solidFill>
              <a:srgbClr val="F67D4B">
                <a:alpha val="0"/>
              </a:srgbClr>
            </a:solidFill>
            <a:prstDash val="solid"/>
          </a:ln>
        </p:spPr>
      </p:sp>
      <p:sp>
        <p:nvSpPr>
          <p:cNvPr id="3" name="Shape 1"/>
          <p:cNvSpPr/>
          <p:nvPr/>
        </p:nvSpPr>
        <p:spPr>
          <a:xfrm>
            <a:off x="0" y="6492240"/>
            <a:ext cx="12188952" cy="365760"/>
          </a:xfrm>
          <a:prstGeom prst="rect">
            <a:avLst/>
          </a:prstGeom>
          <a:solidFill>
            <a:srgbClr val="006DB6"/>
          </a:solidFill>
          <a:ln w="12700">
            <a:solidFill>
              <a:srgbClr val="006DB6">
                <a:alpha val="0"/>
              </a:srgbClr>
            </a:solidFill>
            <a:prstDash val="solid"/>
          </a:ln>
        </p:spPr>
      </p:sp>
      <p:sp>
        <p:nvSpPr>
          <p:cNvPr id="4" name="Shape 2"/>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5" name="Shape 3"/>
          <p:cNvSpPr/>
          <p:nvPr/>
        </p:nvSpPr>
        <p:spPr>
          <a:xfrm>
            <a:off x="-914400" y="4572000"/>
            <a:ext cx="4572000" cy="4572000"/>
          </a:xfrm>
          <a:prstGeom prst="ellipse">
            <a:avLst/>
          </a:prstGeom>
          <a:solidFill>
            <a:srgbClr val="F67D4B">
              <a:alpha val="8000"/>
            </a:srgbClr>
          </a:solidFill>
          <a:ln w="12700">
            <a:solidFill>
              <a:srgbClr val="F67D4B">
                <a:alpha val="0"/>
              </a:srgbClr>
            </a:solidFill>
            <a:prstDash val="solid"/>
          </a:ln>
        </p:spPr>
      </p:sp>
      <p:pic>
        <p:nvPicPr>
          <p:cNvPr id="6" name="Image 0" descr="C:/vscode/tech-branding/tech-branding/Clients/HMG/assets/Technijian Logo - white text.png">    </p:cNvPr>
          <p:cNvPicPr>
            <a:picLocks noChangeAspect="1"/>
          </p:cNvPicPr>
          <p:nvPr/>
        </p:nvPicPr>
        <p:blipFill>
          <a:blip r:embed="rId1"/>
          <a:stretch>
            <a:fillRect/>
          </a:stretch>
        </p:blipFill>
        <p:spPr>
          <a:xfrm>
            <a:off x="640080" y="731520"/>
            <a:ext cx="2468880" cy="516502"/>
          </a:xfrm>
          <a:prstGeom prst="rect">
            <a:avLst/>
          </a:prstGeom>
        </p:spPr>
      </p:pic>
      <p:sp>
        <p:nvSpPr>
          <p:cNvPr id="7" name="Shape 4"/>
          <p:cNvSpPr/>
          <p:nvPr/>
        </p:nvSpPr>
        <p:spPr>
          <a:xfrm>
            <a:off x="9144000" y="868680"/>
            <a:ext cx="2377440" cy="292608"/>
          </a:xfrm>
          <a:prstGeom prst="roundRect">
            <a:avLst>
              <a:gd name="adj" fmla="val 12500"/>
            </a:avLst>
          </a:prstGeom>
          <a:solidFill>
            <a:srgbClr val="1A1A2E">
              <a:alpha val="70000"/>
            </a:srgbClr>
          </a:solidFill>
          <a:ln w="12700">
            <a:solidFill>
              <a:srgbClr val="1EAAC8"/>
            </a:solidFill>
            <a:prstDash val="solid"/>
          </a:ln>
        </p:spPr>
      </p:sp>
      <p:sp>
        <p:nvSpPr>
          <p:cNvPr id="8" name="Text 5"/>
          <p:cNvSpPr/>
          <p:nvPr/>
        </p:nvSpPr>
        <p:spPr>
          <a:xfrm>
            <a:off x="9144000" y="868680"/>
            <a:ext cx="2377440" cy="292608"/>
          </a:xfrm>
          <a:prstGeom prst="rect">
            <a:avLst/>
          </a:prstGeom>
          <a:noFill/>
          <a:ln/>
        </p:spPr>
        <p:txBody>
          <a:bodyPr wrap="square" lIns="0" tIns="0" rIns="0" bIns="0" rtlCol="0" anchor="ctr"/>
          <a:lstStyle/>
          <a:p>
            <a:pPr algn="ctr" indent="0" marL="0">
              <a:buNone/>
            </a:pPr>
            <a:r>
              <a:rPr lang="en-US" sz="800" b="1" dirty="0">
                <a:solidFill>
                  <a:srgbClr val="1EAAC8"/>
                </a:solidFill>
                <a:latin typeface="Arial" pitchFamily="34" charset="0"/>
                <a:ea typeface="Arial" pitchFamily="34" charset="-122"/>
                <a:cs typeface="Arial" pitchFamily="34" charset="-120"/>
              </a:rPr>
              <a:t>PREPARED FOR THE HOLMAN GROUP</a:t>
            </a:r>
            <a:endParaRPr lang="en-US" sz="800" dirty="0"/>
          </a:p>
        </p:txBody>
      </p:sp>
      <p:sp>
        <p:nvSpPr>
          <p:cNvPr id="9" name="Text 6"/>
          <p:cNvSpPr/>
          <p:nvPr/>
        </p:nvSpPr>
        <p:spPr>
          <a:xfrm>
            <a:off x="640080" y="2057400"/>
            <a:ext cx="1097280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Technijian</a:t>
            </a:r>
            <a:endParaRPr lang="en-US" sz="5200" dirty="0"/>
          </a:p>
        </p:txBody>
      </p:sp>
      <p:sp>
        <p:nvSpPr>
          <p:cNvPr id="10" name="Text 7"/>
          <p:cNvSpPr/>
          <p:nvPr/>
        </p:nvSpPr>
        <p:spPr>
          <a:xfrm>
            <a:off x="640080" y="2926080"/>
            <a:ext cx="11155680" cy="640080"/>
          </a:xfrm>
          <a:prstGeom prst="rect">
            <a:avLst/>
          </a:prstGeom>
          <a:noFill/>
          <a:ln/>
        </p:spPr>
        <p:txBody>
          <a:bodyPr wrap="square" lIns="0" tIns="0" rIns="0" bIns="0" rtlCol="0" anchor="ctr"/>
          <a:lstStyle/>
          <a:p>
            <a:pPr indent="0" marL="0">
              <a:buNone/>
            </a:pPr>
            <a:r>
              <a:rPr lang="en-US" sz="3000" b="1" dirty="0">
                <a:solidFill>
                  <a:srgbClr val="F67D4B"/>
                </a:solidFill>
                <a:latin typeface="Arial" pitchFamily="34" charset="0"/>
                <a:ea typeface="Arial" pitchFamily="34" charset="-122"/>
                <a:cs typeface="Arial" pitchFamily="34" charset="-120"/>
              </a:rPr>
              <a:t>for The Holman Group</a:t>
            </a:r>
            <a:endParaRPr lang="en-US" sz="3000" dirty="0"/>
          </a:p>
        </p:txBody>
      </p:sp>
      <p:sp>
        <p:nvSpPr>
          <p:cNvPr id="11" name="Text 8"/>
          <p:cNvSpPr/>
          <p:nvPr/>
        </p:nvSpPr>
        <p:spPr>
          <a:xfrm>
            <a:off x="640080" y="3749040"/>
            <a:ext cx="10789920" cy="457200"/>
          </a:xfrm>
          <a:prstGeom prst="rect">
            <a:avLst/>
          </a:prstGeom>
          <a:noFill/>
          <a:ln/>
        </p:spPr>
        <p:txBody>
          <a:bodyPr wrap="square" lIns="0" tIns="0" rIns="0" bIns="0" rtlCol="0" anchor="ctr"/>
          <a:lstStyle/>
          <a:p>
            <a:pPr indent="0" marL="0">
              <a:buNone/>
            </a:pPr>
            <a:r>
              <a:rPr lang="en-US" sz="1700" dirty="0">
                <a:solidFill>
                  <a:srgbClr val="FFFFFF">
                    <a:alpha val="88000"/>
                  </a:srgbClr>
                </a:solidFill>
                <a:latin typeface="Arial" pitchFamily="34" charset="0"/>
                <a:ea typeface="Arial" pitchFamily="34" charset="-122"/>
                <a:cs typeface="Arial" pitchFamily="34" charset="-120"/>
              </a:rPr>
              <a:t>Co-managed IT, security, and strategic support — alongside your team, not over it.</a:t>
            </a:r>
            <a:endParaRPr lang="en-US" sz="1700" dirty="0"/>
          </a:p>
        </p:txBody>
      </p:sp>
      <p:sp>
        <p:nvSpPr>
          <p:cNvPr id="12" name="Shape 9"/>
          <p:cNvSpPr/>
          <p:nvPr/>
        </p:nvSpPr>
        <p:spPr>
          <a:xfrm>
            <a:off x="640080" y="4709160"/>
            <a:ext cx="10881360" cy="16459"/>
          </a:xfrm>
          <a:prstGeom prst="rect">
            <a:avLst/>
          </a:prstGeom>
          <a:solidFill>
            <a:srgbClr val="1EAAC8"/>
          </a:solidFill>
          <a:ln w="12700">
            <a:solidFill>
              <a:srgbClr val="1EAAC8">
                <a:alpha val="0"/>
              </a:srgbClr>
            </a:solidFill>
            <a:prstDash val="solid"/>
          </a:ln>
        </p:spPr>
      </p:sp>
      <p:sp>
        <p:nvSpPr>
          <p:cNvPr id="13" name="Text 10"/>
          <p:cNvSpPr/>
          <p:nvPr/>
        </p:nvSpPr>
        <p:spPr>
          <a:xfrm>
            <a:off x="640080" y="4846320"/>
            <a:ext cx="1097280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First meeting  |  Ravi Jain, Founder &amp; CEO  ↔  Deric Hobbie, Network Administrator  |  June 19, 2026  ·  11:00 AM PT  ·  Microsoft Teams</a:t>
            </a:r>
            <a:endParaRPr lang="en-US" sz="1100" dirty="0"/>
          </a:p>
        </p:txBody>
      </p:sp>
      <p:sp>
        <p:nvSpPr>
          <p:cNvPr id="14" name="Text 11"/>
          <p:cNvSpPr/>
          <p:nvPr/>
        </p:nvSpPr>
        <p:spPr>
          <a:xfrm>
            <a:off x="640080" y="5193792"/>
            <a:ext cx="10972800" cy="274320"/>
          </a:xfrm>
          <a:prstGeom prst="rect">
            <a:avLst/>
          </a:prstGeom>
          <a:noFill/>
          <a:ln/>
        </p:spPr>
        <p:txBody>
          <a:bodyPr wrap="square" lIns="0" tIns="0" rIns="0" bIns="0" rtlCol="0" anchor="ctr"/>
          <a:lstStyle/>
          <a:p>
            <a:pPr indent="0" marL="0">
              <a:buNone/>
            </a:pPr>
            <a:r>
              <a:rPr lang="en-US" sz="1100" b="1" dirty="0">
                <a:solidFill>
                  <a:srgbClr val="1EAAC8"/>
                </a:solidFill>
                <a:latin typeface="Arial" pitchFamily="34" charset="0"/>
                <a:ea typeface="Arial" pitchFamily="34" charset="-122"/>
                <a:cs typeface="Arial" pitchFamily="34" charset="-120"/>
              </a:rPr>
              <a:t>Behavioral health &amp; EAP  ·  ~60 endpoints  ·  on-prem servers  ·  in-house IT team  ·  HIPAA / Knox-Keene / URAC</a:t>
            </a:r>
            <a:endParaRPr lang="en-US" sz="1100" dirty="0"/>
          </a:p>
        </p:txBody>
      </p:sp>
      <p:sp>
        <p:nvSpPr>
          <p:cNvPr id="15" name="Text 12"/>
          <p:cNvSpPr/>
          <p:nvPr/>
        </p:nvSpPr>
        <p:spPr>
          <a:xfrm>
            <a:off x="640080" y="5532120"/>
            <a:ext cx="10881360" cy="274320"/>
          </a:xfrm>
          <a:prstGeom prst="rect">
            <a:avLst/>
          </a:prstGeom>
          <a:noFill/>
          <a:ln/>
        </p:spPr>
        <p:txBody>
          <a:bodyPr wrap="square" lIns="0" tIns="0" rIns="0" bIns="0" rtlCol="0" anchor="ctr"/>
          <a:lstStyle/>
          <a:p>
            <a:pPr indent="0" marL="0">
              <a:buNone/>
            </a:pPr>
            <a:r>
              <a:rPr lang="en-US" sz="1000" dirty="0">
                <a:solidFill>
                  <a:srgbClr val="FFFFFF">
                    <a:alpha val="60000"/>
                  </a:srgbClr>
                </a:solidFill>
                <a:latin typeface="Arial" pitchFamily="34" charset="0"/>
                <a:ea typeface="Arial" pitchFamily="34" charset="-122"/>
                <a:cs typeface="Arial" pitchFamily="34" charset="-120"/>
              </a:rPr>
              <a:t>18 Technology Dr. Ste 141, Irvine CA 92618  ·  technijian.com  ·  949.379.8499  ·  technology as a solution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WHY WE'RE HERE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A working conversation — on your terms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Lewis connected us because you're weighing whether an outside partner could complement your in-house IT. That's exactly the conversation worth having.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502920" y="2148840"/>
            <a:ext cx="3657600" cy="4114800"/>
          </a:xfrm>
          <a:prstGeom prst="roundRect">
            <a:avLst>
              <a:gd name="adj" fmla="val 2000"/>
            </a:avLst>
          </a:prstGeom>
          <a:solidFill>
            <a:srgbClr val="1A1A2E"/>
          </a:solidFill>
          <a:ln w="12700">
            <a:solidFill>
              <a:srgbClr val="1A1A2E">
                <a:alpha val="0"/>
              </a:srgbClr>
            </a:solidFill>
            <a:prstDash val="solid"/>
          </a:ln>
        </p:spPr>
      </p:sp>
      <p:sp>
        <p:nvSpPr>
          <p:cNvPr id="12" name="Shape 9"/>
          <p:cNvSpPr/>
          <p:nvPr/>
        </p:nvSpPr>
        <p:spPr>
          <a:xfrm>
            <a:off x="502920" y="2148840"/>
            <a:ext cx="3657600" cy="91440"/>
          </a:xfrm>
          <a:prstGeom prst="rect">
            <a:avLst/>
          </a:prstGeom>
          <a:solidFill>
            <a:srgbClr val="F67D4B"/>
          </a:solidFill>
          <a:ln w="12700">
            <a:solidFill>
              <a:srgbClr val="F67D4B">
                <a:alpha val="0"/>
              </a:srgbClr>
            </a:solidFill>
            <a:prstDash val="solid"/>
          </a:ln>
        </p:spPr>
      </p:sp>
      <p:sp>
        <p:nvSpPr>
          <p:cNvPr id="13" name="Text 10"/>
          <p:cNvSpPr/>
          <p:nvPr/>
        </p:nvSpPr>
        <p:spPr>
          <a:xfrm>
            <a:off x="713232" y="2423160"/>
            <a:ext cx="329184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OUR PROMISE TODAY</a:t>
            </a:r>
            <a:endParaRPr lang="en-US" sz="1000" dirty="0"/>
          </a:p>
        </p:txBody>
      </p:sp>
      <p:sp>
        <p:nvSpPr>
          <p:cNvPr id="14" name="Text 11"/>
          <p:cNvSpPr/>
          <p:nvPr/>
        </p:nvSpPr>
        <p:spPr>
          <a:xfrm>
            <a:off x="713232" y="2788920"/>
            <a:ext cx="3200400" cy="1737360"/>
          </a:xfrm>
          <a:prstGeom prst="rect">
            <a:avLst/>
          </a:prstGeom>
          <a:noFill/>
          <a:ln/>
        </p:spPr>
        <p:txBody>
          <a:bodyPr wrap="square" lIns="0" tIns="0" rIns="0" bIns="0" rtlCol="0" anchor="t"/>
          <a:lstStyle/>
          <a:p>
            <a:pPr indent="0" marL="0">
              <a:buNone/>
            </a:pPr>
            <a:r>
              <a:rPr lang="en-US" sz="1350" dirty="0">
                <a:solidFill>
                  <a:srgbClr val="FFFFFF">
                    <a:alpha val="94000"/>
                  </a:srgbClr>
                </a:solidFill>
                <a:latin typeface="Arial" pitchFamily="34" charset="0"/>
                <a:ea typeface="Arial" pitchFamily="34" charset="-122"/>
                <a:cs typeface="Arial" pitchFamily="34" charset="-120"/>
              </a:rPr>
              <a:t>We're not here to take over your network. We're here to find the two or three places where an outside team genuinely takes work off your plate — and to leave you with something useful either way.</a:t>
            </a:r>
            <a:endParaRPr lang="en-US" sz="1350" dirty="0"/>
          </a:p>
        </p:txBody>
      </p:sp>
      <p:sp>
        <p:nvSpPr>
          <p:cNvPr id="15" name="Text 12"/>
          <p:cNvSpPr/>
          <p:nvPr/>
        </p:nvSpPr>
        <p:spPr>
          <a:xfrm>
            <a:off x="713232" y="5074920"/>
            <a:ext cx="3200400" cy="1005840"/>
          </a:xfrm>
          <a:prstGeom prst="rect">
            <a:avLst/>
          </a:prstGeom>
          <a:noFill/>
          <a:ln/>
        </p:spPr>
        <p:txBody>
          <a:bodyPr wrap="square" lIns="0" tIns="0" rIns="0" bIns="0" rtlCol="0" anchor="t"/>
          <a:lstStyle/>
          <a:p>
            <a:pPr indent="0" marL="0">
              <a:buNone/>
            </a:pPr>
            <a:r>
              <a:rPr lang="en-US" sz="1200" b="1" dirty="0">
                <a:solidFill>
                  <a:srgbClr val="1EAAC8"/>
                </a:solidFill>
              </a:rPr>
              <a:t>You keep control.
</a:t>
            </a:r>
            <a:pPr indent="0" marL="0">
              <a:buNone/>
            </a:pPr>
            <a:r>
              <a:rPr lang="en-US" sz="1200" dirty="0">
                <a:solidFill>
                  <a:srgbClr val="FFFFFF">
                    <a:alpha val="88000"/>
                  </a:srgbClr>
                </a:solidFill>
              </a:rPr>
              <a:t>We fill the gaps a single in-house team can't staff around the clock.</a:t>
            </a:r>
            <a:endParaRPr lang="en-US" sz="1200" dirty="0"/>
          </a:p>
        </p:txBody>
      </p:sp>
      <p:sp>
        <p:nvSpPr>
          <p:cNvPr id="16" name="Shape 13"/>
          <p:cNvSpPr/>
          <p:nvPr/>
        </p:nvSpPr>
        <p:spPr>
          <a:xfrm>
            <a:off x="4389120" y="2194560"/>
            <a:ext cx="502920" cy="502920"/>
          </a:xfrm>
          <a:prstGeom prst="roundRect">
            <a:avLst>
              <a:gd name="adj" fmla="val 18182"/>
            </a:avLst>
          </a:prstGeom>
          <a:solidFill>
            <a:srgbClr val="006DB6"/>
          </a:solidFill>
          <a:ln w="12700">
            <a:solidFill>
              <a:srgbClr val="006DB6">
                <a:alpha val="0"/>
              </a:srgbClr>
            </a:solidFill>
            <a:prstDash val="solid"/>
          </a:ln>
        </p:spPr>
      </p:sp>
      <p:sp>
        <p:nvSpPr>
          <p:cNvPr id="17" name="Text 14"/>
          <p:cNvSpPr/>
          <p:nvPr/>
        </p:nvSpPr>
        <p:spPr>
          <a:xfrm>
            <a:off x="4389120" y="2194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5074920" y="217627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we heard from you</a:t>
            </a:r>
            <a:endParaRPr lang="en-US" sz="1400" dirty="0"/>
          </a:p>
        </p:txBody>
      </p:sp>
      <p:sp>
        <p:nvSpPr>
          <p:cNvPr id="19" name="Text 16"/>
          <p:cNvSpPr/>
          <p:nvPr/>
        </p:nvSpPr>
        <p:spPr>
          <a:xfrm>
            <a:off x="5074920" y="244144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~60 endpoints, on-prem servers, in-house IT — said back so we can correct anything.</a:t>
            </a:r>
            <a:endParaRPr lang="en-US" sz="1050" dirty="0"/>
          </a:p>
        </p:txBody>
      </p:sp>
      <p:sp>
        <p:nvSpPr>
          <p:cNvPr id="20" name="Shape 17"/>
          <p:cNvSpPr/>
          <p:nvPr/>
        </p:nvSpPr>
        <p:spPr>
          <a:xfrm>
            <a:off x="4389120" y="2871216"/>
            <a:ext cx="502920" cy="502920"/>
          </a:xfrm>
          <a:prstGeom prst="roundRect">
            <a:avLst>
              <a:gd name="adj" fmla="val 18182"/>
            </a:avLst>
          </a:prstGeom>
          <a:solidFill>
            <a:srgbClr val="1EAAC8"/>
          </a:solidFill>
          <a:ln w="12700">
            <a:solidFill>
              <a:srgbClr val="1EAAC8">
                <a:alpha val="0"/>
              </a:srgbClr>
            </a:solidFill>
            <a:prstDash val="solid"/>
          </a:ln>
        </p:spPr>
      </p:sp>
      <p:sp>
        <p:nvSpPr>
          <p:cNvPr id="21" name="Text 18"/>
          <p:cNvSpPr/>
          <p:nvPr/>
        </p:nvSpPr>
        <p:spPr>
          <a:xfrm>
            <a:off x="4389120" y="28712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9"/>
          <p:cNvSpPr/>
          <p:nvPr/>
        </p:nvSpPr>
        <p:spPr>
          <a:xfrm>
            <a:off x="5074920" y="2852928"/>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Who Technijian is</a:t>
            </a:r>
            <a:endParaRPr lang="en-US" sz="1400" dirty="0"/>
          </a:p>
        </p:txBody>
      </p:sp>
      <p:sp>
        <p:nvSpPr>
          <p:cNvPr id="23" name="Text 20"/>
          <p:cNvSpPr/>
          <p:nvPr/>
        </p:nvSpPr>
        <p:spPr>
          <a:xfrm>
            <a:off x="5074920" y="3118104"/>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25+ years, security-first, a dedicated team model — in 20 seconds.</a:t>
            </a:r>
            <a:endParaRPr lang="en-US" sz="1050" dirty="0"/>
          </a:p>
        </p:txBody>
      </p:sp>
      <p:sp>
        <p:nvSpPr>
          <p:cNvPr id="24" name="Shape 21"/>
          <p:cNvSpPr/>
          <p:nvPr/>
        </p:nvSpPr>
        <p:spPr>
          <a:xfrm>
            <a:off x="4389120" y="3547872"/>
            <a:ext cx="502920" cy="502920"/>
          </a:xfrm>
          <a:prstGeom prst="roundRect">
            <a:avLst>
              <a:gd name="adj" fmla="val 18182"/>
            </a:avLst>
          </a:prstGeom>
          <a:solidFill>
            <a:srgbClr val="006DB6"/>
          </a:solidFill>
          <a:ln w="12700">
            <a:solidFill>
              <a:srgbClr val="006DB6">
                <a:alpha val="0"/>
              </a:srgbClr>
            </a:solidFill>
            <a:prstDash val="solid"/>
          </a:ln>
        </p:spPr>
      </p:sp>
      <p:sp>
        <p:nvSpPr>
          <p:cNvPr id="25" name="Text 22"/>
          <p:cNvSpPr/>
          <p:nvPr/>
        </p:nvSpPr>
        <p:spPr>
          <a:xfrm>
            <a:off x="4389120" y="3547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3"/>
          <p:cNvSpPr/>
          <p:nvPr/>
        </p:nvSpPr>
        <p:spPr>
          <a:xfrm>
            <a:off x="5074920" y="3529584"/>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Where a partner actually helps</a:t>
            </a:r>
            <a:endParaRPr lang="en-US" sz="1400" dirty="0"/>
          </a:p>
        </p:txBody>
      </p:sp>
      <p:sp>
        <p:nvSpPr>
          <p:cNvPr id="27" name="Text 24"/>
          <p:cNvSpPr/>
          <p:nvPr/>
        </p:nvSpPr>
        <p:spPr>
          <a:xfrm>
            <a:off x="5074920" y="3794760"/>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co-managed model: augment your team, don't replace it.</a:t>
            </a:r>
            <a:endParaRPr lang="en-US" sz="1050" dirty="0"/>
          </a:p>
        </p:txBody>
      </p:sp>
      <p:sp>
        <p:nvSpPr>
          <p:cNvPr id="28" name="Shape 25"/>
          <p:cNvSpPr/>
          <p:nvPr/>
        </p:nvSpPr>
        <p:spPr>
          <a:xfrm>
            <a:off x="4389120" y="4224528"/>
            <a:ext cx="502920" cy="502920"/>
          </a:xfrm>
          <a:prstGeom prst="roundRect">
            <a:avLst>
              <a:gd name="adj" fmla="val 18182"/>
            </a:avLst>
          </a:prstGeom>
          <a:solidFill>
            <a:srgbClr val="1EAAC8"/>
          </a:solidFill>
          <a:ln w="12700">
            <a:solidFill>
              <a:srgbClr val="1EAAC8">
                <a:alpha val="0"/>
              </a:srgbClr>
            </a:solidFill>
            <a:prstDash val="solid"/>
          </a:ln>
        </p:spPr>
      </p:sp>
      <p:sp>
        <p:nvSpPr>
          <p:cNvPr id="29" name="Text 26"/>
          <p:cNvSpPr/>
          <p:nvPr/>
        </p:nvSpPr>
        <p:spPr>
          <a:xfrm>
            <a:off x="4389120" y="42245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7"/>
          <p:cNvSpPr/>
          <p:nvPr/>
        </p:nvSpPr>
        <p:spPr>
          <a:xfrm>
            <a:off x="5074920" y="4206240"/>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Security &amp; compliance for a health plan</a:t>
            </a:r>
            <a:endParaRPr lang="en-US" sz="1400" dirty="0"/>
          </a:p>
        </p:txBody>
      </p:sp>
      <p:sp>
        <p:nvSpPr>
          <p:cNvPr id="31" name="Text 28"/>
          <p:cNvSpPr/>
          <p:nvPr/>
        </p:nvSpPr>
        <p:spPr>
          <a:xfrm>
            <a:off x="5074920" y="4471416"/>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HIPAA, Knox-Keene, URAC, 42 CFR Part 2 — what a partner shoulders.</a:t>
            </a:r>
            <a:endParaRPr lang="en-US" sz="1050" dirty="0"/>
          </a:p>
        </p:txBody>
      </p:sp>
      <p:sp>
        <p:nvSpPr>
          <p:cNvPr id="32" name="Shape 29"/>
          <p:cNvSpPr/>
          <p:nvPr/>
        </p:nvSpPr>
        <p:spPr>
          <a:xfrm>
            <a:off x="4389120" y="4901184"/>
            <a:ext cx="502920" cy="502920"/>
          </a:xfrm>
          <a:prstGeom prst="roundRect">
            <a:avLst>
              <a:gd name="adj" fmla="val 18182"/>
            </a:avLst>
          </a:prstGeom>
          <a:solidFill>
            <a:srgbClr val="006DB6"/>
          </a:solidFill>
          <a:ln w="12700">
            <a:solidFill>
              <a:srgbClr val="006DB6">
                <a:alpha val="0"/>
              </a:srgbClr>
            </a:solidFill>
            <a:prstDash val="solid"/>
          </a:ln>
        </p:spPr>
      </p:sp>
      <p:sp>
        <p:nvSpPr>
          <p:cNvPr id="33" name="Text 30"/>
          <p:cNvSpPr/>
          <p:nvPr/>
        </p:nvSpPr>
        <p:spPr>
          <a:xfrm>
            <a:off x="438912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4" name="Text 31"/>
          <p:cNvSpPr/>
          <p:nvPr/>
        </p:nvSpPr>
        <p:spPr>
          <a:xfrm>
            <a:off x="5074920" y="4882896"/>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Your questions</a:t>
            </a:r>
            <a:endParaRPr lang="en-US" sz="1400" dirty="0"/>
          </a:p>
        </p:txBody>
      </p:sp>
      <p:sp>
        <p:nvSpPr>
          <p:cNvPr id="35" name="Text 32"/>
          <p:cNvSpPr/>
          <p:nvPr/>
        </p:nvSpPr>
        <p:spPr>
          <a:xfrm>
            <a:off x="5074920" y="5148072"/>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heart of the meeting — your environment, your priorities.</a:t>
            </a:r>
            <a:endParaRPr lang="en-US" sz="1050" dirty="0"/>
          </a:p>
        </p:txBody>
      </p:sp>
      <p:sp>
        <p:nvSpPr>
          <p:cNvPr id="36" name="Shape 33"/>
          <p:cNvSpPr/>
          <p:nvPr/>
        </p:nvSpPr>
        <p:spPr>
          <a:xfrm>
            <a:off x="4389120" y="5577840"/>
            <a:ext cx="502920" cy="502920"/>
          </a:xfrm>
          <a:prstGeom prst="roundRect">
            <a:avLst>
              <a:gd name="adj" fmla="val 18182"/>
            </a:avLst>
          </a:prstGeom>
          <a:solidFill>
            <a:srgbClr val="1EAAC8"/>
          </a:solidFill>
          <a:ln w="12700">
            <a:solidFill>
              <a:srgbClr val="1EAAC8">
                <a:alpha val="0"/>
              </a:srgbClr>
            </a:solidFill>
            <a:prstDash val="solid"/>
          </a:ln>
        </p:spPr>
      </p:sp>
      <p:sp>
        <p:nvSpPr>
          <p:cNvPr id="37" name="Text 34"/>
          <p:cNvSpPr/>
          <p:nvPr/>
        </p:nvSpPr>
        <p:spPr>
          <a:xfrm>
            <a:off x="4389120" y="5577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8" name="Text 35"/>
          <p:cNvSpPr/>
          <p:nvPr/>
        </p:nvSpPr>
        <p:spPr>
          <a:xfrm>
            <a:off x="5074920" y="555955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A free, no-commitment next step</a:t>
            </a:r>
            <a:endParaRPr lang="en-US" sz="1400" dirty="0"/>
          </a:p>
        </p:txBody>
      </p:sp>
      <p:sp>
        <p:nvSpPr>
          <p:cNvPr id="39" name="Text 36"/>
          <p:cNvSpPr/>
          <p:nvPr/>
        </p:nvSpPr>
        <p:spPr>
          <a:xfrm>
            <a:off x="5074920" y="582472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security read of your environment that's yours to keep.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WE HEARD</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Your environment, said back to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From your conversation with Lewis. If we got anything wrong, now's the time to fix it — this is your meeting.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11" name="Shape 8"/>
          <p:cNvSpPr/>
          <p:nvPr/>
        </p:nvSpPr>
        <p:spPr>
          <a:xfrm>
            <a:off x="502920"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2" name="Text 9"/>
          <p:cNvSpPr/>
          <p:nvPr/>
        </p:nvSpPr>
        <p:spPr>
          <a:xfrm>
            <a:off x="502920" y="2249424"/>
            <a:ext cx="2615184" cy="566928"/>
          </a:xfrm>
          <a:prstGeom prst="rect">
            <a:avLst/>
          </a:prstGeom>
          <a:noFill/>
          <a:ln/>
        </p:spPr>
        <p:txBody>
          <a:bodyPr wrap="square" lIns="0" tIns="0" rIns="0" bIns="0" rtlCol="0" anchor="ctr"/>
          <a:lstStyle/>
          <a:p>
            <a:pPr algn="ctr" indent="0" marL="0">
              <a:buNone/>
            </a:pPr>
            <a:r>
              <a:rPr lang="en-US" sz="2600" b="1" dirty="0">
                <a:solidFill>
                  <a:srgbClr val="F67D4B"/>
                </a:solidFill>
                <a:latin typeface="Arial" pitchFamily="34" charset="0"/>
                <a:ea typeface="Arial" pitchFamily="34" charset="-122"/>
                <a:cs typeface="Arial" pitchFamily="34" charset="-120"/>
              </a:rPr>
              <a:t>~60</a:t>
            </a:r>
            <a:endParaRPr lang="en-US" sz="2600" dirty="0"/>
          </a:p>
        </p:txBody>
      </p:sp>
      <p:sp>
        <p:nvSpPr>
          <p:cNvPr id="13" name="Text 10"/>
          <p:cNvSpPr/>
          <p:nvPr/>
        </p:nvSpPr>
        <p:spPr>
          <a:xfrm>
            <a:off x="594360"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COMPUTERS / ENDPOINTS</a:t>
            </a:r>
            <a:endParaRPr lang="en-US" sz="900" dirty="0"/>
          </a:p>
        </p:txBody>
      </p:sp>
      <p:sp>
        <p:nvSpPr>
          <p:cNvPr id="14" name="Shape 11"/>
          <p:cNvSpPr/>
          <p:nvPr/>
        </p:nvSpPr>
        <p:spPr>
          <a:xfrm>
            <a:off x="3300984"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5" name="Text 12"/>
          <p:cNvSpPr/>
          <p:nvPr/>
        </p:nvSpPr>
        <p:spPr>
          <a:xfrm>
            <a:off x="3300984" y="2249424"/>
            <a:ext cx="2615184" cy="566928"/>
          </a:xfrm>
          <a:prstGeom prst="rect">
            <a:avLst/>
          </a:prstGeom>
          <a:noFill/>
          <a:ln/>
        </p:spPr>
        <p:txBody>
          <a:bodyPr wrap="square" lIns="0" tIns="0" rIns="0" bIns="0" rtlCol="0" anchor="ctr"/>
          <a:lstStyle/>
          <a:p>
            <a:pPr algn="ctr" indent="0" marL="0">
              <a:buNone/>
            </a:pPr>
            <a:r>
              <a:rPr lang="en-US" sz="2600" b="1" dirty="0">
                <a:solidFill>
                  <a:srgbClr val="F67D4B"/>
                </a:solidFill>
                <a:latin typeface="Arial" pitchFamily="34" charset="0"/>
                <a:ea typeface="Arial" pitchFamily="34" charset="-122"/>
                <a:cs typeface="Arial" pitchFamily="34" charset="-120"/>
              </a:rPr>
              <a:t>On-prem</a:t>
            </a:r>
            <a:endParaRPr lang="en-US" sz="2600" dirty="0"/>
          </a:p>
        </p:txBody>
      </p:sp>
      <p:sp>
        <p:nvSpPr>
          <p:cNvPr id="16" name="Text 13"/>
          <p:cNvSpPr/>
          <p:nvPr/>
        </p:nvSpPr>
        <p:spPr>
          <a:xfrm>
            <a:off x="3392424"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SERVERS IN-HOUSE</a:t>
            </a:r>
            <a:endParaRPr lang="en-US" sz="900" dirty="0"/>
          </a:p>
        </p:txBody>
      </p:sp>
      <p:sp>
        <p:nvSpPr>
          <p:cNvPr id="17" name="Shape 14"/>
          <p:cNvSpPr/>
          <p:nvPr/>
        </p:nvSpPr>
        <p:spPr>
          <a:xfrm>
            <a:off x="6099048"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8" name="Text 15"/>
          <p:cNvSpPr/>
          <p:nvPr/>
        </p:nvSpPr>
        <p:spPr>
          <a:xfrm>
            <a:off x="6099048" y="2249424"/>
            <a:ext cx="2615184" cy="566928"/>
          </a:xfrm>
          <a:prstGeom prst="rect">
            <a:avLst/>
          </a:prstGeom>
          <a:noFill/>
          <a:ln/>
        </p:spPr>
        <p:txBody>
          <a:bodyPr wrap="square" lIns="0" tIns="0" rIns="0" bIns="0" rtlCol="0" anchor="ctr"/>
          <a:lstStyle/>
          <a:p>
            <a:pPr algn="ctr" indent="0" marL="0">
              <a:buNone/>
            </a:pPr>
            <a:r>
              <a:rPr lang="en-US" sz="2600" b="1" dirty="0">
                <a:solidFill>
                  <a:srgbClr val="F67D4B"/>
                </a:solidFill>
                <a:latin typeface="Arial" pitchFamily="34" charset="0"/>
                <a:ea typeface="Arial" pitchFamily="34" charset="-122"/>
                <a:cs typeface="Arial" pitchFamily="34" charset="-120"/>
              </a:rPr>
              <a:t>In-house</a:t>
            </a:r>
            <a:endParaRPr lang="en-US" sz="2600" dirty="0"/>
          </a:p>
        </p:txBody>
      </p:sp>
      <p:sp>
        <p:nvSpPr>
          <p:cNvPr id="19" name="Text 16"/>
          <p:cNvSpPr/>
          <p:nvPr/>
        </p:nvSpPr>
        <p:spPr>
          <a:xfrm>
            <a:off x="6190488"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IT TEAM YOU RUN</a:t>
            </a:r>
            <a:endParaRPr lang="en-US" sz="900" dirty="0"/>
          </a:p>
        </p:txBody>
      </p:sp>
      <p:sp>
        <p:nvSpPr>
          <p:cNvPr id="20" name="Shape 17"/>
          <p:cNvSpPr/>
          <p:nvPr/>
        </p:nvSpPr>
        <p:spPr>
          <a:xfrm>
            <a:off x="8897112"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21" name="Text 18"/>
          <p:cNvSpPr/>
          <p:nvPr/>
        </p:nvSpPr>
        <p:spPr>
          <a:xfrm>
            <a:off x="8897112" y="2249424"/>
            <a:ext cx="2615184" cy="566928"/>
          </a:xfrm>
          <a:prstGeom prst="rect">
            <a:avLst/>
          </a:prstGeom>
          <a:noFill/>
          <a:ln/>
        </p:spPr>
        <p:txBody>
          <a:bodyPr wrap="square" lIns="0" tIns="0" rIns="0" bIns="0" rtlCol="0" anchor="ctr"/>
          <a:lstStyle/>
          <a:p>
            <a:pPr algn="ctr" indent="0" marL="0">
              <a:buNone/>
            </a:pPr>
            <a:r>
              <a:rPr lang="en-US" sz="2600" b="1" dirty="0">
                <a:solidFill>
                  <a:srgbClr val="F67D4B"/>
                </a:solidFill>
                <a:latin typeface="Arial" pitchFamily="34" charset="0"/>
                <a:ea typeface="Arial" pitchFamily="34" charset="-122"/>
                <a:cs typeface="Arial" pitchFamily="34" charset="-120"/>
              </a:rPr>
              <a:t>Regulated</a:t>
            </a:r>
            <a:endParaRPr lang="en-US" sz="2600" dirty="0"/>
          </a:p>
        </p:txBody>
      </p:sp>
      <p:sp>
        <p:nvSpPr>
          <p:cNvPr id="22" name="Text 19"/>
          <p:cNvSpPr/>
          <p:nvPr/>
        </p:nvSpPr>
        <p:spPr>
          <a:xfrm>
            <a:off x="8988552"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HIPAA · KNOX-KEENE · URAC</a:t>
            </a:r>
            <a:endParaRPr lang="en-US" sz="900" dirty="0"/>
          </a:p>
        </p:txBody>
      </p:sp>
      <p:sp>
        <p:nvSpPr>
          <p:cNvPr id="23" name="Shape 20"/>
          <p:cNvSpPr/>
          <p:nvPr/>
        </p:nvSpPr>
        <p:spPr>
          <a:xfrm>
            <a:off x="502920" y="3611880"/>
            <a:ext cx="11201400" cy="2560320"/>
          </a:xfrm>
          <a:prstGeom prst="roundRect">
            <a:avLst>
              <a:gd name="adj" fmla="val 2857"/>
            </a:avLst>
          </a:prstGeom>
          <a:solidFill>
            <a:srgbClr val="FFFFFF"/>
          </a:solidFill>
          <a:ln w="12700">
            <a:solidFill>
              <a:srgbClr val="D8E0EA"/>
            </a:solidFill>
            <a:prstDash val="solid"/>
          </a:ln>
        </p:spPr>
      </p:sp>
      <p:sp>
        <p:nvSpPr>
          <p:cNvPr id="24" name="Shape 21"/>
          <p:cNvSpPr/>
          <p:nvPr/>
        </p:nvSpPr>
        <p:spPr>
          <a:xfrm>
            <a:off x="502920" y="3611880"/>
            <a:ext cx="109728" cy="2560320"/>
          </a:xfrm>
          <a:prstGeom prst="rect">
            <a:avLst/>
          </a:prstGeom>
          <a:solidFill>
            <a:srgbClr val="1EAAC8"/>
          </a:solidFill>
          <a:ln w="12700">
            <a:solidFill>
              <a:srgbClr val="1EAAC8">
                <a:alpha val="0"/>
              </a:srgbClr>
            </a:solidFill>
            <a:prstDash val="solid"/>
          </a:ln>
        </p:spPr>
      </p:sp>
      <p:sp>
        <p:nvSpPr>
          <p:cNvPr id="25" name="Text 22"/>
          <p:cNvSpPr/>
          <p:nvPr/>
        </p:nvSpPr>
        <p:spPr>
          <a:xfrm>
            <a:off x="777240" y="3794760"/>
            <a:ext cx="10607040" cy="27432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THAT TELLS US</a:t>
            </a:r>
            <a:endParaRPr lang="en-US" sz="1000" dirty="0"/>
          </a:p>
        </p:txBody>
      </p:sp>
      <p:sp>
        <p:nvSpPr>
          <p:cNvPr id="26" name="Text 23"/>
          <p:cNvSpPr/>
          <p:nvPr/>
        </p:nvSpPr>
        <p:spPr>
          <a:xfrm>
            <a:off x="777240" y="4114800"/>
            <a:ext cx="10698480" cy="1920240"/>
          </a:xfrm>
          <a:prstGeom prst="rect">
            <a:avLst/>
          </a:prstGeom>
          <a:noFill/>
          <a:ln/>
        </p:spPr>
        <p:txBody>
          <a:bodyPr wrap="square" lIns="0" tIns="0" rIns="0" bIns="0" rtlCol="0" anchor="t"/>
          <a:lstStyle/>
          <a:p>
            <a:pPr indent="0" marL="0">
              <a:buNone/>
            </a:pPr>
            <a:r>
              <a:rPr lang="en-US" sz="1250" b="1" dirty="0">
                <a:solidFill>
                  <a:srgbClr val="1A1A2E"/>
                </a:solidFill>
              </a:rPr>
              <a:t>You already run real IT. </a:t>
            </a:r>
            <a:pPr indent="0" marL="0">
              <a:buNone/>
            </a:pPr>
            <a:r>
              <a:rPr lang="en-US" sz="1250" dirty="0">
                <a:solidFill>
                  <a:srgbClr val="334155"/>
                </a:solidFill>
              </a:rPr>
              <a:t>An in-house team and on-prem servers means you don't need someone to take the wheel — you need depth and coverage on top of what you've built. That's co-management, not outsourcing.
</a:t>
            </a:r>
            <a:pPr indent="0" marL="0">
              <a:buNone/>
            </a:pPr>
            <a:r>
              <a:rPr lang="en-US" sz="1250" b="1" dirty="0">
                <a:solidFill>
                  <a:srgbClr val="1A1A2E"/>
                </a:solidFill>
              </a:rPr>
              <a:t>On-prem + regulated raises the bar. </a:t>
            </a:r>
            <a:pPr indent="0" marL="0">
              <a:buNone/>
            </a:pPr>
            <a:r>
              <a:rPr lang="en-US" sz="1250" dirty="0">
                <a:solidFill>
                  <a:srgbClr val="334155"/>
                </a:solidFill>
              </a:rPr>
              <a:t>Physical servers to patch, back up, and secure — plus PHI under HIPAA, Knox-Keene, and URAC — is a lot for one team to cover 24/7 with audit-ready evidence.
</a:t>
            </a:r>
            <a:pPr indent="0" marL="0">
              <a:buNone/>
            </a:pPr>
            <a:r>
              <a:rPr lang="en-US" sz="1250" b="1" dirty="0">
                <a:solidFill>
                  <a:srgbClr val="1A1A2E"/>
                </a:solidFill>
              </a:rPr>
              <a:t>Behavioral-health data is high-value. </a:t>
            </a:r>
            <a:pPr indent="0" marL="0">
              <a:buNone/>
            </a:pPr>
            <a:r>
              <a:rPr lang="en-US" sz="1250" dirty="0">
                <a:solidFill>
                  <a:srgbClr val="334155"/>
                </a:solidFill>
              </a:rPr>
              <a:t>Mental-health and substance-use records (42 CFR Part 2) are among the most sensitive — and most targeted — data there is. The security floor for a plan like yours is simply higher.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WHO WE ARE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Technijian, in 20 seconds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Enough to know we're a serious, local, security-first partner — then back to you.</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11" name="Shape 8"/>
          <p:cNvSpPr/>
          <p:nvPr/>
        </p:nvSpPr>
        <p:spPr>
          <a:xfrm>
            <a:off x="502920" y="2103120"/>
            <a:ext cx="5486400" cy="1828800"/>
          </a:xfrm>
          <a:prstGeom prst="roundRect">
            <a:avLst>
              <a:gd name="adj" fmla="val 4000"/>
            </a:avLst>
          </a:prstGeom>
          <a:solidFill>
            <a:srgbClr val="FFFFFF"/>
          </a:solidFill>
          <a:ln w="12700">
            <a:solidFill>
              <a:srgbClr val="D8E0EA"/>
            </a:solidFill>
            <a:prstDash val="solid"/>
          </a:ln>
        </p:spPr>
      </p:sp>
      <p:sp>
        <p:nvSpPr>
          <p:cNvPr id="12" name="Shape 9"/>
          <p:cNvSpPr/>
          <p:nvPr/>
        </p:nvSpPr>
        <p:spPr>
          <a:xfrm>
            <a:off x="502920" y="2103120"/>
            <a:ext cx="548640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51572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SINCE 2000</a:t>
            </a:r>
            <a:endParaRPr lang="en-US" sz="900" dirty="0"/>
          </a:p>
        </p:txBody>
      </p:sp>
      <p:sp>
        <p:nvSpPr>
          <p:cNvPr id="14" name="Text 11"/>
          <p:cNvSpPr/>
          <p:nvPr/>
        </p:nvSpPr>
        <p:spPr>
          <a:xfrm>
            <a:off x="667512"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25+ years, still here</a:t>
            </a:r>
            <a:endParaRPr lang="en-US" sz="1600" dirty="0"/>
          </a:p>
        </p:txBody>
      </p:sp>
      <p:sp>
        <p:nvSpPr>
          <p:cNvPr id="15" name="Text 12"/>
          <p:cNvSpPr/>
          <p:nvPr/>
        </p:nvSpPr>
        <p:spPr>
          <a:xfrm>
            <a:off x="667512"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An Irvine-based IT firm founded in 2000, with a Panchkula, India delivery center for true follow-the-sun coverage. We're not a flip-this-MSP startup — we'll be here for the long relationship.</a:t>
            </a:r>
            <a:endParaRPr lang="en-US" sz="1150" dirty="0"/>
          </a:p>
        </p:txBody>
      </p:sp>
      <p:sp>
        <p:nvSpPr>
          <p:cNvPr id="16" name="Shape 13"/>
          <p:cNvSpPr/>
          <p:nvPr/>
        </p:nvSpPr>
        <p:spPr>
          <a:xfrm>
            <a:off x="6199632" y="2103120"/>
            <a:ext cx="5486400" cy="1828800"/>
          </a:xfrm>
          <a:prstGeom prst="roundRect">
            <a:avLst>
              <a:gd name="adj" fmla="val 4000"/>
            </a:avLst>
          </a:prstGeom>
          <a:solidFill>
            <a:srgbClr val="FFFFFF"/>
          </a:solidFill>
          <a:ln w="12700">
            <a:solidFill>
              <a:srgbClr val="D8E0EA"/>
            </a:solidFill>
            <a:prstDash val="solid"/>
          </a:ln>
        </p:spPr>
      </p:sp>
      <p:sp>
        <p:nvSpPr>
          <p:cNvPr id="17" name="Shape 14"/>
          <p:cNvSpPr/>
          <p:nvPr/>
        </p:nvSpPr>
        <p:spPr>
          <a:xfrm>
            <a:off x="6199632" y="2103120"/>
            <a:ext cx="5486400" cy="91440"/>
          </a:xfrm>
          <a:prstGeom prst="rect">
            <a:avLst/>
          </a:prstGeom>
          <a:solidFill>
            <a:srgbClr val="F67D4B"/>
          </a:solidFill>
          <a:ln w="12700">
            <a:solidFill>
              <a:srgbClr val="F67D4B">
                <a:alpha val="0"/>
              </a:srgbClr>
            </a:solidFill>
            <a:prstDash val="solid"/>
          </a:ln>
        </p:spPr>
      </p:sp>
      <p:sp>
        <p:nvSpPr>
          <p:cNvPr id="18" name="Text 15"/>
          <p:cNvSpPr/>
          <p:nvPr/>
        </p:nvSpPr>
        <p:spPr>
          <a:xfrm>
            <a:off x="6364224" y="2286000"/>
            <a:ext cx="515721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POD MODEL</a:t>
            </a:r>
            <a:endParaRPr lang="en-US" sz="900" dirty="0"/>
          </a:p>
        </p:txBody>
      </p:sp>
      <p:sp>
        <p:nvSpPr>
          <p:cNvPr id="19" name="Text 16"/>
          <p:cNvSpPr/>
          <p:nvPr/>
        </p:nvSpPr>
        <p:spPr>
          <a:xfrm>
            <a:off x="6364224"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A team that knows you</a:t>
            </a:r>
            <a:endParaRPr lang="en-US" sz="1600" dirty="0"/>
          </a:p>
        </p:txBody>
      </p:sp>
      <p:sp>
        <p:nvSpPr>
          <p:cNvPr id="20" name="Text 17"/>
          <p:cNvSpPr/>
          <p:nvPr/>
        </p:nvSpPr>
        <p:spPr>
          <a:xfrm>
            <a:off x="6364224"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You get a dedicated pod — a named team that learns your environment — not a different stranger on every ticket. It's the single thing clients tell us they were missing before.</a:t>
            </a:r>
            <a:endParaRPr lang="en-US" sz="1150" dirty="0"/>
          </a:p>
        </p:txBody>
      </p:sp>
      <p:sp>
        <p:nvSpPr>
          <p:cNvPr id="21" name="Shape 18"/>
          <p:cNvSpPr/>
          <p:nvPr/>
        </p:nvSpPr>
        <p:spPr>
          <a:xfrm>
            <a:off x="502920" y="4114800"/>
            <a:ext cx="5486400" cy="1828800"/>
          </a:xfrm>
          <a:prstGeom prst="roundRect">
            <a:avLst>
              <a:gd name="adj" fmla="val 4000"/>
            </a:avLst>
          </a:prstGeom>
          <a:solidFill>
            <a:srgbClr val="FFFFFF"/>
          </a:solidFill>
          <a:ln w="12700">
            <a:solidFill>
              <a:srgbClr val="D8E0EA"/>
            </a:solidFill>
            <a:prstDash val="solid"/>
          </a:ln>
        </p:spPr>
      </p:sp>
      <p:sp>
        <p:nvSpPr>
          <p:cNvPr id="22" name="Shape 19"/>
          <p:cNvSpPr/>
          <p:nvPr/>
        </p:nvSpPr>
        <p:spPr>
          <a:xfrm>
            <a:off x="502920" y="4114800"/>
            <a:ext cx="5486400" cy="91440"/>
          </a:xfrm>
          <a:prstGeom prst="rect">
            <a:avLst/>
          </a:prstGeom>
          <a:solidFill>
            <a:srgbClr val="1EAAC8"/>
          </a:solidFill>
          <a:ln w="12700">
            <a:solidFill>
              <a:srgbClr val="1EAAC8">
                <a:alpha val="0"/>
              </a:srgbClr>
            </a:solidFill>
            <a:prstDash val="solid"/>
          </a:ln>
        </p:spPr>
      </p:sp>
      <p:sp>
        <p:nvSpPr>
          <p:cNvPr id="23" name="Text 20"/>
          <p:cNvSpPr/>
          <p:nvPr/>
        </p:nvSpPr>
        <p:spPr>
          <a:xfrm>
            <a:off x="667512" y="4297680"/>
            <a:ext cx="51572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SECURITY-FIRST</a:t>
            </a:r>
            <a:endParaRPr lang="en-US" sz="900" dirty="0"/>
          </a:p>
        </p:txBody>
      </p:sp>
      <p:sp>
        <p:nvSpPr>
          <p:cNvPr id="24" name="Text 21"/>
          <p:cNvSpPr/>
          <p:nvPr/>
        </p:nvSpPr>
        <p:spPr>
          <a:xfrm>
            <a:off x="667512"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Built in, not bolted on</a:t>
            </a:r>
            <a:endParaRPr lang="en-US" sz="1600" dirty="0"/>
          </a:p>
        </p:txBody>
      </p:sp>
      <p:sp>
        <p:nvSpPr>
          <p:cNvPr id="25" name="Text 22"/>
          <p:cNvSpPr/>
          <p:nvPr/>
        </p:nvSpPr>
        <p:spPr>
          <a:xfrm>
            <a:off x="667512"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CISSP-led, delivering 24/7 managed detection &amp; response — our My Jian SIEM correlating across CrowdStrike/Huntress MDR, with our analysts triaging. Security isn't an add-on line item for us — it's how we run everything.</a:t>
            </a:r>
            <a:endParaRPr lang="en-US" sz="1150" dirty="0"/>
          </a:p>
        </p:txBody>
      </p:sp>
      <p:sp>
        <p:nvSpPr>
          <p:cNvPr id="26" name="Shape 23"/>
          <p:cNvSpPr/>
          <p:nvPr/>
        </p:nvSpPr>
        <p:spPr>
          <a:xfrm>
            <a:off x="6199632" y="4114800"/>
            <a:ext cx="5486400" cy="1828800"/>
          </a:xfrm>
          <a:prstGeom prst="roundRect">
            <a:avLst>
              <a:gd name="adj" fmla="val 4000"/>
            </a:avLst>
          </a:prstGeom>
          <a:solidFill>
            <a:srgbClr val="FFFFFF"/>
          </a:solidFill>
          <a:ln w="12700">
            <a:solidFill>
              <a:srgbClr val="D8E0EA"/>
            </a:solidFill>
            <a:prstDash val="solid"/>
          </a:ln>
        </p:spPr>
      </p:sp>
      <p:sp>
        <p:nvSpPr>
          <p:cNvPr id="27" name="Shape 24"/>
          <p:cNvSpPr/>
          <p:nvPr/>
        </p:nvSpPr>
        <p:spPr>
          <a:xfrm>
            <a:off x="6199632" y="4114800"/>
            <a:ext cx="5486400" cy="91440"/>
          </a:xfrm>
          <a:prstGeom prst="rect">
            <a:avLst/>
          </a:prstGeom>
          <a:solidFill>
            <a:srgbClr val="CBDB2D"/>
          </a:solidFill>
          <a:ln w="12700">
            <a:solidFill>
              <a:srgbClr val="CBDB2D">
                <a:alpha val="0"/>
              </a:srgbClr>
            </a:solidFill>
            <a:prstDash val="solid"/>
          </a:ln>
        </p:spPr>
      </p:sp>
      <p:sp>
        <p:nvSpPr>
          <p:cNvPr id="28" name="Text 25"/>
          <p:cNvSpPr/>
          <p:nvPr/>
        </p:nvSpPr>
        <p:spPr>
          <a:xfrm>
            <a:off x="6364224" y="4297680"/>
            <a:ext cx="515721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AI-FORWARD</a:t>
            </a:r>
            <a:endParaRPr lang="en-US" sz="900" dirty="0"/>
          </a:p>
        </p:txBody>
      </p:sp>
      <p:sp>
        <p:nvSpPr>
          <p:cNvPr id="29" name="Text 26"/>
          <p:cNvSpPr/>
          <p:nvPr/>
        </p:nvSpPr>
        <p:spPr>
          <a:xfrm>
            <a:off x="6364224"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We build, not just resell</a:t>
            </a:r>
            <a:endParaRPr lang="en-US" sz="1600" dirty="0"/>
          </a:p>
        </p:txBody>
      </p:sp>
      <p:sp>
        <p:nvSpPr>
          <p:cNvPr id="30" name="Text 27"/>
          <p:cNvSpPr/>
          <p:nvPr/>
        </p:nvSpPr>
        <p:spPr>
          <a:xfrm>
            <a:off x="6364224"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We develop practical AI and custom software (our My Jian platform, document intelligence, automation) — so the strategic conversation goes beyond keeping the lights 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HOW WE WORK</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kind of work we do for shops like yours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Representative engagement profiles — the shape of the work we deliver, no client names and no cherry-picked numbers. The pattern is always the same: add depth without stepping on the in-house team.</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PROFILE A · REGULATED HEALTHCARE</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HIPAA practice, co-managed</a:t>
            </a:r>
            <a:endParaRPr lang="en-US" sz="1500" dirty="0"/>
          </a:p>
        </p:txBody>
      </p:sp>
      <p:sp>
        <p:nvSpPr>
          <p:cNvPr id="15" name="Text 12"/>
          <p:cNvSpPr/>
          <p:nvPr/>
        </p:nvSpPr>
        <p:spPr>
          <a:xfrm>
            <a:off x="667512"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multi-site healthcare organization with its own IT lead. Scope: hardened Microsoft 365, EDR across endpoints and servers, a HIPAA Security Rule risk assessment, and audit-ready evidence — run alongside their admin, who stayed in charge throughout.</a:t>
            </a:r>
            <a:endParaRPr lang="en-US" sz="1100" dirty="0"/>
          </a:p>
        </p:txBody>
      </p:sp>
      <p:sp>
        <p:nvSpPr>
          <p:cNvPr id="16" name="Text 13"/>
          <p:cNvSpPr/>
          <p:nvPr/>
        </p:nvSpPr>
        <p:spPr>
          <a:xfrm>
            <a:off x="667512" y="51846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We added depth; the in-house lead kept control.</a:t>
            </a:r>
            <a:endParaRPr lang="en-US" sz="900" dirty="0"/>
          </a:p>
        </p:txBody>
      </p:sp>
      <p:sp>
        <p:nvSpPr>
          <p:cNvPr id="17" name="Shape 14"/>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PROFILE B · ON-PREM + IN-HOUSE IT</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24/7 overlay, nights back</a:t>
            </a:r>
            <a:endParaRPr lang="en-US" sz="1500" dirty="0"/>
          </a:p>
        </p:txBody>
      </p:sp>
      <p:sp>
        <p:nvSpPr>
          <p:cNvPr id="21" name="Text 18"/>
          <p:cNvSpPr/>
          <p:nvPr/>
        </p:nvSpPr>
        <p:spPr>
          <a:xfrm>
            <a:off x="4471416"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mid-market org with on-prem servers and a small internal team carrying the pager. Scope: a 24/7 MDR overlay plus after-hours help-desk so the in-house staff got nights and weekends back, with patch and backup discipline tightened across the server estate.</a:t>
            </a:r>
            <a:endParaRPr lang="en-US" sz="1100" dirty="0"/>
          </a:p>
        </p:txBody>
      </p:sp>
      <p:sp>
        <p:nvSpPr>
          <p:cNvPr id="22" name="Text 19"/>
          <p:cNvSpPr/>
          <p:nvPr/>
        </p:nvSpPr>
        <p:spPr>
          <a:xfrm>
            <a:off x="4471416" y="51846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The internal team got nights and weekends back.</a:t>
            </a:r>
            <a:endParaRPr lang="en-US" sz="900" dirty="0"/>
          </a:p>
        </p:txBody>
      </p:sp>
      <p:sp>
        <p:nvSpPr>
          <p:cNvPr id="23" name="Shape 20"/>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PROFILE C · CLAIMS / BENEFITS OPS</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Document &amp; workflow AI</a:t>
            </a:r>
            <a:endParaRPr lang="en-US" sz="1500" dirty="0"/>
          </a:p>
        </p:txBody>
      </p:sp>
      <p:sp>
        <p:nvSpPr>
          <p:cNvPr id="27" name="Text 24"/>
          <p:cNvSpPr/>
          <p:nvPr/>
        </p:nvSpPr>
        <p:spPr>
          <a:xfrm>
            <a:off x="8275320"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benefits-operations workflow heavy with manual document handling. Scope: AI document-intelligence and workflow automation explored to cut repetitive processing — the same pattern we'd look at for EAP intake and claims, once the IT foundation is solid.</a:t>
            </a:r>
            <a:endParaRPr lang="en-US" sz="1100" dirty="0"/>
          </a:p>
        </p:txBody>
      </p:sp>
      <p:sp>
        <p:nvSpPr>
          <p:cNvPr id="28" name="Text 25"/>
          <p:cNvSpPr/>
          <p:nvPr/>
        </p:nvSpPr>
        <p:spPr>
          <a:xfrm>
            <a:off x="8275320" y="51846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The pattern we'd explore for EAP intake &amp; claims.</a:t>
            </a:r>
            <a:endParaRPr lang="en-US" sz="900" dirty="0"/>
          </a:p>
        </p:txBody>
      </p:sp>
      <p:sp>
        <p:nvSpPr>
          <p:cNvPr id="29" name="Shape 26"/>
          <p:cNvSpPr/>
          <p:nvPr/>
        </p:nvSpPr>
        <p:spPr>
          <a:xfrm>
            <a:off x="502920" y="5715000"/>
            <a:ext cx="11201400" cy="566928"/>
          </a:xfrm>
          <a:prstGeom prst="roundRect">
            <a:avLst>
              <a:gd name="adj" fmla="val 9677"/>
            </a:avLst>
          </a:prstGeom>
          <a:solidFill>
            <a:srgbClr val="1A1A2E"/>
          </a:solidFill>
          <a:ln w="12700">
            <a:solidFill>
              <a:srgbClr val="1A1A2E">
                <a:alpha val="0"/>
              </a:srgbClr>
            </a:solidFill>
            <a:prstDash val="solid"/>
          </a:ln>
        </p:spPr>
      </p:sp>
      <p:sp>
        <p:nvSpPr>
          <p:cNvPr id="30" name="Text 27"/>
          <p:cNvSpPr/>
          <p:nvPr/>
        </p:nvSpPr>
        <p:spPr>
          <a:xfrm>
            <a:off x="502920" y="5715000"/>
            <a:ext cx="112014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Different situations, one constant: we add depth and coverage without taking the wheel from your in-house team.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CORE IDEA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Co-managed means we work for you, not instead of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The old pitch was all-or-nothing: hand us your network and step aside. That's not this. Co-management keeps you in charge and plugs specific gaps.</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11" name="Shape 8"/>
          <p:cNvSpPr/>
          <p:nvPr/>
        </p:nvSpPr>
        <p:spPr>
          <a:xfrm>
            <a:off x="502920" y="2103120"/>
            <a:ext cx="2606040" cy="4114800"/>
          </a:xfrm>
          <a:prstGeom prst="roundRect">
            <a:avLst>
              <a:gd name="adj" fmla="val 2807"/>
            </a:avLst>
          </a:prstGeom>
          <a:solidFill>
            <a:srgbClr val="FFFFFF"/>
          </a:solidFill>
          <a:ln w="12700">
            <a:solidFill>
              <a:srgbClr val="D8E0EA"/>
            </a:solidFill>
            <a:prstDash val="solid"/>
          </a:ln>
        </p:spPr>
      </p:sp>
      <p:sp>
        <p:nvSpPr>
          <p:cNvPr id="12" name="Shape 9"/>
          <p:cNvSpPr/>
          <p:nvPr/>
        </p:nvSpPr>
        <p:spPr>
          <a:xfrm>
            <a:off x="502920" y="2103120"/>
            <a:ext cx="2606040" cy="91440"/>
          </a:xfrm>
          <a:prstGeom prst="rect">
            <a:avLst/>
          </a:prstGeom>
          <a:solidFill>
            <a:srgbClr val="64748B"/>
          </a:solidFill>
          <a:ln w="12700">
            <a:solidFill>
              <a:srgbClr val="64748B">
                <a:alpha val="0"/>
              </a:srgbClr>
            </a:solidFill>
            <a:prstDash val="solid"/>
          </a:ln>
        </p:spPr>
      </p:sp>
      <p:sp>
        <p:nvSpPr>
          <p:cNvPr id="13" name="Text 10"/>
          <p:cNvSpPr/>
          <p:nvPr/>
        </p:nvSpPr>
        <p:spPr>
          <a:xfrm>
            <a:off x="66751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All-or-nothing outsourcing</a:t>
            </a:r>
            <a:endParaRPr lang="en-US" sz="1400" dirty="0"/>
          </a:p>
        </p:txBody>
      </p:sp>
      <p:sp>
        <p:nvSpPr>
          <p:cNvPr id="14" name="Text 11"/>
          <p:cNvSpPr/>
          <p:nvPr/>
        </p:nvSpPr>
        <p:spPr>
          <a:xfrm>
            <a:off x="667512" y="2743200"/>
            <a:ext cx="2331720" cy="365760"/>
          </a:xfrm>
          <a:prstGeom prst="rect">
            <a:avLst/>
          </a:prstGeom>
          <a:noFill/>
          <a:ln/>
        </p:spPr>
        <p:txBody>
          <a:bodyPr wrap="square" lIns="0" tIns="0" rIns="0" bIns="0" rtlCol="0" anchor="t"/>
          <a:lstStyle/>
          <a:p>
            <a:pPr indent="0" marL="0">
              <a:buNone/>
            </a:pPr>
            <a:r>
              <a:rPr lang="en-US" sz="950" i="1" dirty="0">
                <a:solidFill>
                  <a:srgbClr val="64748B"/>
                </a:solidFill>
                <a:latin typeface="Arial" pitchFamily="34" charset="0"/>
                <a:ea typeface="Arial" pitchFamily="34" charset="-122"/>
                <a:cs typeface="Arial" pitchFamily="34" charset="-120"/>
              </a:rPr>
              <a:t>(the model you're right to distrust)</a:t>
            </a:r>
            <a:endParaRPr lang="en-US" sz="950" dirty="0"/>
          </a:p>
        </p:txBody>
      </p:sp>
      <p:sp>
        <p:nvSpPr>
          <p:cNvPr id="15" name="Shape 12"/>
          <p:cNvSpPr/>
          <p:nvPr/>
        </p:nvSpPr>
        <p:spPr>
          <a:xfrm>
            <a:off x="685800" y="3255264"/>
            <a:ext cx="91440" cy="91440"/>
          </a:xfrm>
          <a:prstGeom prst="ellipse">
            <a:avLst/>
          </a:prstGeom>
          <a:solidFill>
            <a:srgbClr val="64748B"/>
          </a:solidFill>
          <a:ln w="12700">
            <a:solidFill>
              <a:srgbClr val="64748B">
                <a:alpha val="0"/>
              </a:srgbClr>
            </a:solidFill>
            <a:prstDash val="solid"/>
          </a:ln>
        </p:spPr>
      </p:sp>
      <p:sp>
        <p:nvSpPr>
          <p:cNvPr id="16" name="Text 13"/>
          <p:cNvSpPr/>
          <p:nvPr/>
        </p:nvSpPr>
        <p:spPr>
          <a:xfrm>
            <a:off x="85039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Replace the in-house team</a:t>
            </a:r>
            <a:endParaRPr lang="en-US" sz="1100" dirty="0"/>
          </a:p>
        </p:txBody>
      </p:sp>
      <p:sp>
        <p:nvSpPr>
          <p:cNvPr id="17" name="Shape 14"/>
          <p:cNvSpPr/>
          <p:nvPr/>
        </p:nvSpPr>
        <p:spPr>
          <a:xfrm>
            <a:off x="685800" y="3822192"/>
            <a:ext cx="91440" cy="91440"/>
          </a:xfrm>
          <a:prstGeom prst="ellipse">
            <a:avLst/>
          </a:prstGeom>
          <a:solidFill>
            <a:srgbClr val="64748B"/>
          </a:solidFill>
          <a:ln w="12700">
            <a:solidFill>
              <a:srgbClr val="64748B">
                <a:alpha val="0"/>
              </a:srgbClr>
            </a:solidFill>
            <a:prstDash val="solid"/>
          </a:ln>
        </p:spPr>
      </p:sp>
      <p:sp>
        <p:nvSpPr>
          <p:cNvPr id="18" name="Text 15"/>
          <p:cNvSpPr/>
          <p:nvPr/>
        </p:nvSpPr>
        <p:spPr>
          <a:xfrm>
            <a:off x="85039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Tickets go to rotating strangers</a:t>
            </a:r>
            <a:endParaRPr lang="en-US" sz="1100" dirty="0"/>
          </a:p>
        </p:txBody>
      </p:sp>
      <p:sp>
        <p:nvSpPr>
          <p:cNvPr id="19" name="Shape 16"/>
          <p:cNvSpPr/>
          <p:nvPr/>
        </p:nvSpPr>
        <p:spPr>
          <a:xfrm>
            <a:off x="685800" y="4389120"/>
            <a:ext cx="91440" cy="91440"/>
          </a:xfrm>
          <a:prstGeom prst="ellipse">
            <a:avLst/>
          </a:prstGeom>
          <a:solidFill>
            <a:srgbClr val="64748B"/>
          </a:solidFill>
          <a:ln w="12700">
            <a:solidFill>
              <a:srgbClr val="64748B">
                <a:alpha val="0"/>
              </a:srgbClr>
            </a:solidFill>
            <a:prstDash val="solid"/>
          </a:ln>
        </p:spPr>
      </p:sp>
      <p:sp>
        <p:nvSpPr>
          <p:cNvPr id="20" name="Text 17"/>
          <p:cNvSpPr/>
          <p:nvPr/>
        </p:nvSpPr>
        <p:spPr>
          <a:xfrm>
            <a:off x="85039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 lose visibility and control</a:t>
            </a:r>
            <a:endParaRPr lang="en-US" sz="1100" dirty="0"/>
          </a:p>
        </p:txBody>
      </p:sp>
      <p:sp>
        <p:nvSpPr>
          <p:cNvPr id="21" name="Shape 18"/>
          <p:cNvSpPr/>
          <p:nvPr/>
        </p:nvSpPr>
        <p:spPr>
          <a:xfrm>
            <a:off x="685800" y="4956048"/>
            <a:ext cx="91440" cy="91440"/>
          </a:xfrm>
          <a:prstGeom prst="ellipse">
            <a:avLst/>
          </a:prstGeom>
          <a:solidFill>
            <a:srgbClr val="64748B"/>
          </a:solidFill>
          <a:ln w="12700">
            <a:solidFill>
              <a:srgbClr val="64748B">
                <a:alpha val="0"/>
              </a:srgbClr>
            </a:solidFill>
            <a:prstDash val="solid"/>
          </a:ln>
        </p:spPr>
      </p:sp>
      <p:sp>
        <p:nvSpPr>
          <p:cNvPr id="22" name="Text 19"/>
          <p:cNvSpPr/>
          <p:nvPr/>
        </p:nvSpPr>
        <p:spPr>
          <a:xfrm>
            <a:off x="85039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admin gets sidelined</a:t>
            </a:r>
            <a:endParaRPr lang="en-US" sz="1100" dirty="0"/>
          </a:p>
        </p:txBody>
      </p:sp>
      <p:sp>
        <p:nvSpPr>
          <p:cNvPr id="23" name="Shape 20"/>
          <p:cNvSpPr/>
          <p:nvPr/>
        </p:nvSpPr>
        <p:spPr>
          <a:xfrm>
            <a:off x="685800" y="5522976"/>
            <a:ext cx="91440" cy="91440"/>
          </a:xfrm>
          <a:prstGeom prst="ellipse">
            <a:avLst/>
          </a:prstGeom>
          <a:solidFill>
            <a:srgbClr val="64748B"/>
          </a:solidFill>
          <a:ln w="12700">
            <a:solidFill>
              <a:srgbClr val="64748B">
                <a:alpha val="0"/>
              </a:srgbClr>
            </a:solidFill>
            <a:prstDash val="solid"/>
          </a:ln>
        </p:spPr>
      </p:sp>
      <p:sp>
        <p:nvSpPr>
          <p:cNvPr id="24" name="Text 21"/>
          <p:cNvSpPr/>
          <p:nvPr/>
        </p:nvSpPr>
        <p:spPr>
          <a:xfrm>
            <a:off x="85039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One rigid bundle, take it or leave it</a:t>
            </a:r>
            <a:endParaRPr lang="en-US" sz="1100" dirty="0"/>
          </a:p>
        </p:txBody>
      </p:sp>
      <p:sp>
        <p:nvSpPr>
          <p:cNvPr id="25" name="Shape 22"/>
          <p:cNvSpPr/>
          <p:nvPr/>
        </p:nvSpPr>
        <p:spPr>
          <a:xfrm>
            <a:off x="3291840" y="2103120"/>
            <a:ext cx="2606040" cy="4114800"/>
          </a:xfrm>
          <a:prstGeom prst="roundRect">
            <a:avLst>
              <a:gd name="adj" fmla="val 2807"/>
            </a:avLst>
          </a:prstGeom>
          <a:solidFill>
            <a:srgbClr val="FFFFFF"/>
          </a:solidFill>
          <a:ln w="12700">
            <a:solidFill>
              <a:srgbClr val="D8E0EA"/>
            </a:solidFill>
            <a:prstDash val="solid"/>
          </a:ln>
        </p:spPr>
      </p:sp>
      <p:sp>
        <p:nvSpPr>
          <p:cNvPr id="26" name="Shape 23"/>
          <p:cNvSpPr/>
          <p:nvPr/>
        </p:nvSpPr>
        <p:spPr>
          <a:xfrm>
            <a:off x="3291840" y="2103120"/>
            <a:ext cx="2606040" cy="91440"/>
          </a:xfrm>
          <a:prstGeom prst="rect">
            <a:avLst/>
          </a:prstGeom>
          <a:solidFill>
            <a:srgbClr val="F67D4B"/>
          </a:solidFill>
          <a:ln w="12700">
            <a:solidFill>
              <a:srgbClr val="F67D4B">
                <a:alpha val="0"/>
              </a:srgbClr>
            </a:solidFill>
            <a:prstDash val="solid"/>
          </a:ln>
        </p:spPr>
      </p:sp>
      <p:sp>
        <p:nvSpPr>
          <p:cNvPr id="27" name="Text 24"/>
          <p:cNvSpPr/>
          <p:nvPr/>
        </p:nvSpPr>
        <p:spPr>
          <a:xfrm>
            <a:off x="345643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Co-managed with Technijian</a:t>
            </a:r>
            <a:endParaRPr lang="en-US" sz="1400" dirty="0"/>
          </a:p>
        </p:txBody>
      </p:sp>
      <p:sp>
        <p:nvSpPr>
          <p:cNvPr id="28" name="Text 25"/>
          <p:cNvSpPr/>
          <p:nvPr/>
        </p:nvSpPr>
        <p:spPr>
          <a:xfrm>
            <a:off x="3456432" y="2743200"/>
            <a:ext cx="2331720" cy="365760"/>
          </a:xfrm>
          <a:prstGeom prst="rect">
            <a:avLst/>
          </a:prstGeom>
          <a:noFill/>
          <a:ln/>
        </p:spPr>
        <p:txBody>
          <a:bodyPr wrap="square" lIns="0" tIns="0" rIns="0" bIns="0" rtlCol="0" anchor="t"/>
          <a:lstStyle/>
          <a:p>
            <a:pPr indent="0" marL="0">
              <a:buNone/>
            </a:pPr>
            <a:r>
              <a:rPr lang="en-US" sz="950" i="1" dirty="0">
                <a:solidFill>
                  <a:srgbClr val="F67D4B"/>
                </a:solidFill>
                <a:latin typeface="Arial" pitchFamily="34" charset="0"/>
                <a:ea typeface="Arial" pitchFamily="34" charset="-122"/>
                <a:cs typeface="Arial" pitchFamily="34" charset="-120"/>
              </a:rPr>
              <a:t>(augment what you run)</a:t>
            </a:r>
            <a:endParaRPr lang="en-US" sz="950" dirty="0"/>
          </a:p>
        </p:txBody>
      </p:sp>
      <p:sp>
        <p:nvSpPr>
          <p:cNvPr id="29" name="Shape 26"/>
          <p:cNvSpPr/>
          <p:nvPr/>
        </p:nvSpPr>
        <p:spPr>
          <a:xfrm>
            <a:off x="3474720" y="3255264"/>
            <a:ext cx="91440" cy="91440"/>
          </a:xfrm>
          <a:prstGeom prst="ellipse">
            <a:avLst/>
          </a:prstGeom>
          <a:solidFill>
            <a:srgbClr val="F67D4B"/>
          </a:solidFill>
          <a:ln w="12700">
            <a:solidFill>
              <a:srgbClr val="F67D4B">
                <a:alpha val="0"/>
              </a:srgbClr>
            </a:solidFill>
            <a:prstDash val="solid"/>
          </a:ln>
        </p:spPr>
      </p:sp>
      <p:sp>
        <p:nvSpPr>
          <p:cNvPr id="30" name="Text 27"/>
          <p:cNvSpPr/>
          <p:nvPr/>
        </p:nvSpPr>
        <p:spPr>
          <a:xfrm>
            <a:off x="363931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team stays in charge</a:t>
            </a:r>
            <a:endParaRPr lang="en-US" sz="1100" dirty="0"/>
          </a:p>
        </p:txBody>
      </p:sp>
      <p:sp>
        <p:nvSpPr>
          <p:cNvPr id="31" name="Shape 28"/>
          <p:cNvSpPr/>
          <p:nvPr/>
        </p:nvSpPr>
        <p:spPr>
          <a:xfrm>
            <a:off x="3474720" y="3822192"/>
            <a:ext cx="91440" cy="91440"/>
          </a:xfrm>
          <a:prstGeom prst="ellipse">
            <a:avLst/>
          </a:prstGeom>
          <a:solidFill>
            <a:srgbClr val="F67D4B"/>
          </a:solidFill>
          <a:ln w="12700">
            <a:solidFill>
              <a:srgbClr val="F67D4B">
                <a:alpha val="0"/>
              </a:srgbClr>
            </a:solidFill>
            <a:prstDash val="solid"/>
          </a:ln>
        </p:spPr>
      </p:sp>
      <p:sp>
        <p:nvSpPr>
          <p:cNvPr id="32" name="Text 29"/>
          <p:cNvSpPr/>
          <p:nvPr/>
        </p:nvSpPr>
        <p:spPr>
          <a:xfrm>
            <a:off x="363931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named pod that learns your stack</a:t>
            </a:r>
            <a:endParaRPr lang="en-US" sz="1100" dirty="0"/>
          </a:p>
        </p:txBody>
      </p:sp>
      <p:sp>
        <p:nvSpPr>
          <p:cNvPr id="33" name="Shape 30"/>
          <p:cNvSpPr/>
          <p:nvPr/>
        </p:nvSpPr>
        <p:spPr>
          <a:xfrm>
            <a:off x="3474720" y="4389120"/>
            <a:ext cx="91440" cy="91440"/>
          </a:xfrm>
          <a:prstGeom prst="ellipse">
            <a:avLst/>
          </a:prstGeom>
          <a:solidFill>
            <a:srgbClr val="F67D4B"/>
          </a:solidFill>
          <a:ln w="12700">
            <a:solidFill>
              <a:srgbClr val="F67D4B">
                <a:alpha val="0"/>
              </a:srgbClr>
            </a:solidFill>
            <a:prstDash val="solid"/>
          </a:ln>
        </p:spPr>
      </p:sp>
      <p:sp>
        <p:nvSpPr>
          <p:cNvPr id="34" name="Text 31"/>
          <p:cNvSpPr/>
          <p:nvPr/>
        </p:nvSpPr>
        <p:spPr>
          <a:xfrm>
            <a:off x="363931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We cover the gaps you choose</a:t>
            </a:r>
            <a:endParaRPr lang="en-US" sz="1100" dirty="0"/>
          </a:p>
        </p:txBody>
      </p:sp>
      <p:sp>
        <p:nvSpPr>
          <p:cNvPr id="35" name="Shape 32"/>
          <p:cNvSpPr/>
          <p:nvPr/>
        </p:nvSpPr>
        <p:spPr>
          <a:xfrm>
            <a:off x="3474720" y="4956048"/>
            <a:ext cx="91440" cy="91440"/>
          </a:xfrm>
          <a:prstGeom prst="ellipse">
            <a:avLst/>
          </a:prstGeom>
          <a:solidFill>
            <a:srgbClr val="F67D4B"/>
          </a:solidFill>
          <a:ln w="12700">
            <a:solidFill>
              <a:srgbClr val="F67D4B">
                <a:alpha val="0"/>
              </a:srgbClr>
            </a:solidFill>
            <a:prstDash val="solid"/>
          </a:ln>
        </p:spPr>
      </p:sp>
      <p:sp>
        <p:nvSpPr>
          <p:cNvPr id="36" name="Text 33"/>
          <p:cNvSpPr/>
          <p:nvPr/>
        </p:nvSpPr>
        <p:spPr>
          <a:xfrm>
            <a:off x="363931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admin is force-multiplied + mentored</a:t>
            </a:r>
            <a:endParaRPr lang="en-US" sz="1100" dirty="0"/>
          </a:p>
        </p:txBody>
      </p:sp>
      <p:sp>
        <p:nvSpPr>
          <p:cNvPr id="37" name="Shape 34"/>
          <p:cNvSpPr/>
          <p:nvPr/>
        </p:nvSpPr>
        <p:spPr>
          <a:xfrm>
            <a:off x="3474720" y="5522976"/>
            <a:ext cx="91440" cy="91440"/>
          </a:xfrm>
          <a:prstGeom prst="ellipse">
            <a:avLst/>
          </a:prstGeom>
          <a:solidFill>
            <a:srgbClr val="F67D4B"/>
          </a:solidFill>
          <a:ln w="12700">
            <a:solidFill>
              <a:srgbClr val="F67D4B">
                <a:alpha val="0"/>
              </a:srgbClr>
            </a:solidFill>
            <a:prstDash val="solid"/>
          </a:ln>
        </p:spPr>
      </p:sp>
      <p:sp>
        <p:nvSpPr>
          <p:cNvPr id="38" name="Text 35"/>
          <p:cNvSpPr/>
          <p:nvPr/>
        </p:nvSpPr>
        <p:spPr>
          <a:xfrm>
            <a:off x="363931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Pick the layers you actually need</a:t>
            </a:r>
            <a:endParaRPr lang="en-US" sz="1100" dirty="0"/>
          </a:p>
        </p:txBody>
      </p:sp>
      <p:sp>
        <p:nvSpPr>
          <p:cNvPr id="39" name="Shape 36"/>
          <p:cNvSpPr/>
          <p:nvPr/>
        </p:nvSpPr>
        <p:spPr>
          <a:xfrm>
            <a:off x="6199632" y="2103120"/>
            <a:ext cx="5504688" cy="1261872"/>
          </a:xfrm>
          <a:prstGeom prst="roundRect">
            <a:avLst>
              <a:gd name="adj" fmla="val 5797"/>
            </a:avLst>
          </a:prstGeom>
          <a:solidFill>
            <a:srgbClr val="F8FAFC"/>
          </a:solidFill>
          <a:ln w="12700">
            <a:solidFill>
              <a:srgbClr val="D8E0EA"/>
            </a:solidFill>
            <a:prstDash val="solid"/>
          </a:ln>
        </p:spPr>
      </p:sp>
      <p:sp>
        <p:nvSpPr>
          <p:cNvPr id="40" name="Shape 37"/>
          <p:cNvSpPr/>
          <p:nvPr/>
        </p:nvSpPr>
        <p:spPr>
          <a:xfrm>
            <a:off x="6355080" y="2286000"/>
            <a:ext cx="685800" cy="685800"/>
          </a:xfrm>
          <a:prstGeom prst="roundRect">
            <a:avLst>
              <a:gd name="adj" fmla="val 13333"/>
            </a:avLst>
          </a:prstGeom>
          <a:solidFill>
            <a:srgbClr val="006DB6"/>
          </a:solidFill>
          <a:ln w="12700">
            <a:solidFill>
              <a:srgbClr val="006DB6">
                <a:alpha val="0"/>
              </a:srgbClr>
            </a:solidFill>
            <a:prstDash val="solid"/>
          </a:ln>
        </p:spPr>
      </p:sp>
      <p:sp>
        <p:nvSpPr>
          <p:cNvPr id="41" name="Text 38"/>
          <p:cNvSpPr/>
          <p:nvPr/>
        </p:nvSpPr>
        <p:spPr>
          <a:xfrm>
            <a:off x="6355080" y="2286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42" name="Text 39"/>
          <p:cNvSpPr/>
          <p:nvPr/>
        </p:nvSpPr>
        <p:spPr>
          <a:xfrm>
            <a:off x="7178040" y="2267712"/>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 keep control</a:t>
            </a:r>
            <a:endParaRPr lang="en-US" sz="1400" dirty="0"/>
          </a:p>
        </p:txBody>
      </p:sp>
      <p:sp>
        <p:nvSpPr>
          <p:cNvPr id="43" name="Text 40"/>
          <p:cNvSpPr/>
          <p:nvPr/>
        </p:nvSpPr>
        <p:spPr>
          <a:xfrm>
            <a:off x="7178040" y="2560320"/>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Your team owns the relationship and the roadmap. We never make changes you didn't approve, and you can see everything we do.</a:t>
            </a:r>
            <a:endParaRPr lang="en-US" sz="1050" dirty="0"/>
          </a:p>
        </p:txBody>
      </p:sp>
      <p:sp>
        <p:nvSpPr>
          <p:cNvPr id="44" name="Shape 41"/>
          <p:cNvSpPr/>
          <p:nvPr/>
        </p:nvSpPr>
        <p:spPr>
          <a:xfrm>
            <a:off x="6199632" y="3493008"/>
            <a:ext cx="5504688" cy="1261872"/>
          </a:xfrm>
          <a:prstGeom prst="roundRect">
            <a:avLst>
              <a:gd name="adj" fmla="val 5797"/>
            </a:avLst>
          </a:prstGeom>
          <a:solidFill>
            <a:srgbClr val="F8FAFC"/>
          </a:solidFill>
          <a:ln w="12700">
            <a:solidFill>
              <a:srgbClr val="D8E0EA"/>
            </a:solidFill>
            <a:prstDash val="solid"/>
          </a:ln>
        </p:spPr>
      </p:sp>
      <p:sp>
        <p:nvSpPr>
          <p:cNvPr id="45" name="Shape 42"/>
          <p:cNvSpPr/>
          <p:nvPr/>
        </p:nvSpPr>
        <p:spPr>
          <a:xfrm>
            <a:off x="6355080" y="3675888"/>
            <a:ext cx="685800" cy="685800"/>
          </a:xfrm>
          <a:prstGeom prst="roundRect">
            <a:avLst>
              <a:gd name="adj" fmla="val 13333"/>
            </a:avLst>
          </a:prstGeom>
          <a:solidFill>
            <a:srgbClr val="1EAAC8"/>
          </a:solidFill>
          <a:ln w="12700">
            <a:solidFill>
              <a:srgbClr val="1EAAC8">
                <a:alpha val="0"/>
              </a:srgbClr>
            </a:solidFill>
            <a:prstDash val="solid"/>
          </a:ln>
        </p:spPr>
      </p:sp>
      <p:sp>
        <p:nvSpPr>
          <p:cNvPr id="46" name="Text 43"/>
          <p:cNvSpPr/>
          <p:nvPr/>
        </p:nvSpPr>
        <p:spPr>
          <a:xfrm>
            <a:off x="6355080" y="367588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47" name="Text 44"/>
          <p:cNvSpPr/>
          <p:nvPr/>
        </p:nvSpPr>
        <p:spPr>
          <a:xfrm>
            <a:off x="7178040" y="3657600"/>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We cover what one team can't</a:t>
            </a:r>
            <a:endParaRPr lang="en-US" sz="1400" dirty="0"/>
          </a:p>
        </p:txBody>
      </p:sp>
      <p:sp>
        <p:nvSpPr>
          <p:cNvPr id="48" name="Text 45"/>
          <p:cNvSpPr/>
          <p:nvPr/>
        </p:nvSpPr>
        <p:spPr>
          <a:xfrm>
            <a:off x="7178040" y="3950208"/>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24/7 MDR, after-hours and weekend response, surge bandwidth for projects, PTO coverage — the things a single in-house team simply can't staff alone.</a:t>
            </a:r>
            <a:endParaRPr lang="en-US" sz="1050" dirty="0"/>
          </a:p>
        </p:txBody>
      </p:sp>
      <p:sp>
        <p:nvSpPr>
          <p:cNvPr id="49" name="Shape 46"/>
          <p:cNvSpPr/>
          <p:nvPr/>
        </p:nvSpPr>
        <p:spPr>
          <a:xfrm>
            <a:off x="6199632" y="4882896"/>
            <a:ext cx="5504688" cy="1261872"/>
          </a:xfrm>
          <a:prstGeom prst="roundRect">
            <a:avLst>
              <a:gd name="adj" fmla="val 5797"/>
            </a:avLst>
          </a:prstGeom>
          <a:solidFill>
            <a:srgbClr val="F8FAFC"/>
          </a:solidFill>
          <a:ln w="12700">
            <a:solidFill>
              <a:srgbClr val="D8E0EA"/>
            </a:solidFill>
            <a:prstDash val="solid"/>
          </a:ln>
        </p:spPr>
      </p:sp>
      <p:sp>
        <p:nvSpPr>
          <p:cNvPr id="50" name="Shape 47"/>
          <p:cNvSpPr/>
          <p:nvPr/>
        </p:nvSpPr>
        <p:spPr>
          <a:xfrm>
            <a:off x="6355080" y="5065776"/>
            <a:ext cx="685800" cy="685800"/>
          </a:xfrm>
          <a:prstGeom prst="roundRect">
            <a:avLst>
              <a:gd name="adj" fmla="val 13333"/>
            </a:avLst>
          </a:prstGeom>
          <a:solidFill>
            <a:srgbClr val="F67D4B"/>
          </a:solidFill>
          <a:ln w="12700">
            <a:solidFill>
              <a:srgbClr val="F67D4B">
                <a:alpha val="0"/>
              </a:srgbClr>
            </a:solidFill>
            <a:prstDash val="solid"/>
          </a:ln>
        </p:spPr>
      </p:sp>
      <p:sp>
        <p:nvSpPr>
          <p:cNvPr id="51" name="Text 48"/>
          <p:cNvSpPr/>
          <p:nvPr/>
        </p:nvSpPr>
        <p:spPr>
          <a:xfrm>
            <a:off x="6355080" y="5065776"/>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52" name="Text 49"/>
          <p:cNvSpPr/>
          <p:nvPr/>
        </p:nvSpPr>
        <p:spPr>
          <a:xfrm>
            <a:off x="7178040" y="5047488"/>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Augment, not replace</a:t>
            </a:r>
            <a:endParaRPr lang="en-US" sz="1400" dirty="0"/>
          </a:p>
        </p:txBody>
      </p:sp>
      <p:sp>
        <p:nvSpPr>
          <p:cNvPr id="53" name="Text 50"/>
          <p:cNvSpPr/>
          <p:nvPr/>
        </p:nvSpPr>
        <p:spPr>
          <a:xfrm>
            <a:off x="7178040" y="5340096"/>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On your worst week we're the bench you call. On a normal week, you barely notice us — and your admin grows by working next to ours.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FEW WAYS WE COULD HELP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Three places a partner usually earns its keep</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Not a menu to buy today — hypotheses to react to. Tell us which of these is real for you, and which isn't.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TAKE WORK OFF THE PLATE</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Co-Managed IT &amp; Help Desk</a:t>
            </a:r>
            <a:endParaRPr lang="en-US" sz="1550" dirty="0"/>
          </a:p>
        </p:txBody>
      </p:sp>
      <p:sp>
        <p:nvSpPr>
          <p:cNvPr id="15" name="Text 12"/>
          <p:cNvSpPr/>
          <p:nvPr/>
        </p:nvSpPr>
        <p:spPr>
          <a:xfrm>
            <a:off x="667512" y="2944368"/>
            <a:ext cx="3282696" cy="2176272"/>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Tier-1/2 overflow and after-hours / weekend coverage, patching and monitoring, Microsoft 365 administration, and surge bandwidth for the projects you can never get to. Your team sets the priorities; we add the hands.</a:t>
            </a:r>
            <a:endParaRPr lang="en-US" sz="1150" dirty="0"/>
          </a:p>
        </p:txBody>
      </p:sp>
      <p:sp>
        <p:nvSpPr>
          <p:cNvPr id="16" name="Text 13"/>
          <p:cNvSpPr/>
          <p:nvPr/>
        </p:nvSpPr>
        <p:spPr>
          <a:xfrm>
            <a:off x="667512" y="51846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You set the priorities; we add the hands.</a:t>
            </a:r>
            <a:endParaRPr lang="en-US" sz="900" dirty="0"/>
          </a:p>
        </p:txBody>
      </p:sp>
      <p:sp>
        <p:nvSpPr>
          <p:cNvPr id="17" name="Shape 14"/>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COVER WHAT YOU CAN'T WATCH</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24/7 Security &amp; HIPAA</a:t>
            </a:r>
            <a:endParaRPr lang="en-US" sz="1550" dirty="0"/>
          </a:p>
        </p:txBody>
      </p:sp>
      <p:sp>
        <p:nvSpPr>
          <p:cNvPr id="21" name="Text 18"/>
          <p:cNvSpPr/>
          <p:nvPr/>
        </p:nvSpPr>
        <p:spPr>
          <a:xfrm>
            <a:off x="4471416" y="2944368"/>
            <a:ext cx="3282696" cy="2176272"/>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A 24/7 MDR, EDR on every endpoint and server, email security, and identity hardening — plus HIPAA / Knox-Keene / URAC evidence and risk assessments. The coverage and audit trail one team can't sustain alone.</a:t>
            </a:r>
            <a:endParaRPr lang="en-US" sz="1150" dirty="0"/>
          </a:p>
        </p:txBody>
      </p:sp>
      <p:sp>
        <p:nvSpPr>
          <p:cNvPr id="22" name="Text 19"/>
          <p:cNvSpPr/>
          <p:nvPr/>
        </p:nvSpPr>
        <p:spPr>
          <a:xfrm>
            <a:off x="4471416" y="51846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The coverage one team can't sustain alone.</a:t>
            </a:r>
            <a:endParaRPr lang="en-US" sz="900" dirty="0"/>
          </a:p>
        </p:txBody>
      </p:sp>
      <p:sp>
        <p:nvSpPr>
          <p:cNvPr id="23" name="Shape 20"/>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BEYOND KEEPING THE LIGHTS ON</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550" b="1" dirty="0">
                <a:solidFill>
                  <a:srgbClr val="1A1A2E"/>
                </a:solidFill>
                <a:latin typeface="Arial" pitchFamily="34" charset="0"/>
                <a:ea typeface="Arial" pitchFamily="34" charset="-122"/>
                <a:cs typeface="Arial" pitchFamily="34" charset="-120"/>
              </a:rPr>
              <a:t>Strategic IT + AI Efficiency</a:t>
            </a:r>
            <a:endParaRPr lang="en-US" sz="1550" dirty="0"/>
          </a:p>
        </p:txBody>
      </p:sp>
      <p:sp>
        <p:nvSpPr>
          <p:cNvPr id="27" name="Text 24"/>
          <p:cNvSpPr/>
          <p:nvPr/>
        </p:nvSpPr>
        <p:spPr>
          <a:xfrm>
            <a:off x="8275320" y="2944368"/>
            <a:ext cx="3282696" cy="2176272"/>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A vCIO/vCISO planning cadence — and practical AI for your operation: EAP intake triage, claims and document intelligence, provider-network matching. The efficiency conversation, once the foundation is solid.</a:t>
            </a:r>
            <a:endParaRPr lang="en-US" sz="1150" dirty="0"/>
          </a:p>
        </p:txBody>
      </p:sp>
      <p:sp>
        <p:nvSpPr>
          <p:cNvPr id="28" name="Text 25"/>
          <p:cNvSpPr/>
          <p:nvPr/>
        </p:nvSpPr>
        <p:spPr>
          <a:xfrm>
            <a:off x="8275320" y="51846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The layer most MSPs don't bring.</a:t>
            </a:r>
            <a:endParaRPr lang="en-US" sz="900" dirty="0"/>
          </a:p>
        </p:txBody>
      </p:sp>
      <p:sp>
        <p:nvSpPr>
          <p:cNvPr id="29" name="Shape 26"/>
          <p:cNvSpPr/>
          <p:nvPr/>
        </p:nvSpPr>
        <p:spPr>
          <a:xfrm>
            <a:off x="502920" y="5715000"/>
            <a:ext cx="11201400" cy="566928"/>
          </a:xfrm>
          <a:prstGeom prst="roundRect">
            <a:avLst>
              <a:gd name="adj" fmla="val 9677"/>
            </a:avLst>
          </a:prstGeom>
          <a:solidFill>
            <a:srgbClr val="1A1A2E"/>
          </a:solidFill>
          <a:ln w="12700">
            <a:solidFill>
              <a:srgbClr val="1A1A2E">
                <a:alpha val="0"/>
              </a:srgbClr>
            </a:solidFill>
            <a:prstDash val="solid"/>
          </a:ln>
        </p:spPr>
      </p:sp>
      <p:sp>
        <p:nvSpPr>
          <p:cNvPr id="30" name="Text 27"/>
          <p:cNvSpPr/>
          <p:nvPr/>
        </p:nvSpPr>
        <p:spPr>
          <a:xfrm>
            <a:off x="502920" y="5715000"/>
            <a:ext cx="112014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Most teams your size feel one of these the most. Today's job is finding out which — then going deep there.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SECURITY &amp; COMPLIANCE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Six layers a behavioral-health plan has to cover</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You could build any one of these. The hard part is running all six, 24/7, with evidence a regulator will accept. Which keep you up at night?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11" name="Shape 8"/>
          <p:cNvSpPr/>
          <p:nvPr/>
        </p:nvSpPr>
        <p:spPr>
          <a:xfrm>
            <a:off x="502920" y="2103120"/>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01</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Identity &amp; access</a:t>
            </a:r>
            <a:endParaRPr lang="en-US" sz="1500" dirty="0"/>
          </a:p>
        </p:txBody>
      </p:sp>
      <p:sp>
        <p:nvSpPr>
          <p:cNvPr id="15" name="Text 12"/>
          <p:cNvSpPr/>
          <p:nvPr/>
        </p:nvSpPr>
        <p:spPr>
          <a:xfrm>
            <a:off x="667512"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MFA on every login, conditional access, and privileged-account control. Most breaches start at a stolen sign-in — so this is where we lock down first.</a:t>
            </a:r>
            <a:endParaRPr lang="en-US" sz="1050" dirty="0"/>
          </a:p>
        </p:txBody>
      </p:sp>
      <p:sp>
        <p:nvSpPr>
          <p:cNvPr id="16" name="Shape 13"/>
          <p:cNvSpPr/>
          <p:nvPr/>
        </p:nvSpPr>
        <p:spPr>
          <a:xfrm>
            <a:off x="4306824" y="2103120"/>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8" name="Text 15"/>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02</a:t>
            </a:r>
            <a:endParaRPr lang="en-US" sz="900" dirty="0"/>
          </a:p>
        </p:txBody>
      </p:sp>
      <p:sp>
        <p:nvSpPr>
          <p:cNvPr id="19" name="Text 16"/>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Endpoints &amp; servers</a:t>
            </a:r>
            <a:endParaRPr lang="en-US" sz="1500" dirty="0"/>
          </a:p>
        </p:txBody>
      </p:sp>
      <p:sp>
        <p:nvSpPr>
          <p:cNvPr id="20" name="Text 17"/>
          <p:cNvSpPr/>
          <p:nvPr/>
        </p:nvSpPr>
        <p:spPr>
          <a:xfrm>
            <a:off x="4471416"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EDR + threat detection on every laptop and on-prem server, disk encryption, and enforced patching — on the network and off it.</a:t>
            </a:r>
            <a:endParaRPr lang="en-US" sz="1050" dirty="0"/>
          </a:p>
        </p:txBody>
      </p:sp>
      <p:sp>
        <p:nvSpPr>
          <p:cNvPr id="21" name="Shape 18"/>
          <p:cNvSpPr/>
          <p:nvPr/>
        </p:nvSpPr>
        <p:spPr>
          <a:xfrm>
            <a:off x="8110728" y="2103120"/>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3" name="Text 20"/>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03</a:t>
            </a:r>
            <a:endParaRPr lang="en-US" sz="900" dirty="0"/>
          </a:p>
        </p:txBody>
      </p:sp>
      <p:sp>
        <p:nvSpPr>
          <p:cNvPr id="24" name="Text 21"/>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Email &amp; web defense</a:t>
            </a:r>
            <a:endParaRPr lang="en-US" sz="1500" dirty="0"/>
          </a:p>
        </p:txBody>
      </p:sp>
      <p:sp>
        <p:nvSpPr>
          <p:cNvPr id="25" name="Text 22"/>
          <p:cNvSpPr/>
          <p:nvPr/>
        </p:nvSpPr>
        <p:spPr>
          <a:xfrm>
            <a:off x="8275320"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Anti-phishing, malicious-link protection, and DNS/web filtering. Healthcare is the most-phished sector there is; most attacks arrive in the inbox.</a:t>
            </a:r>
            <a:endParaRPr lang="en-US" sz="1050" dirty="0"/>
          </a:p>
        </p:txBody>
      </p:sp>
      <p:sp>
        <p:nvSpPr>
          <p:cNvPr id="26" name="Shape 23"/>
          <p:cNvSpPr/>
          <p:nvPr/>
        </p:nvSpPr>
        <p:spPr>
          <a:xfrm>
            <a:off x="502920" y="420624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206240"/>
            <a:ext cx="3611880" cy="91440"/>
          </a:xfrm>
          <a:prstGeom prst="rect">
            <a:avLst/>
          </a:prstGeom>
          <a:solidFill>
            <a:srgbClr val="CBDB2D"/>
          </a:solidFill>
          <a:ln w="12700">
            <a:solidFill>
              <a:srgbClr val="CBDB2D">
                <a:alpha val="0"/>
              </a:srgbClr>
            </a:solidFill>
            <a:prstDash val="solid"/>
          </a:ln>
        </p:spPr>
      </p:sp>
      <p:sp>
        <p:nvSpPr>
          <p:cNvPr id="28" name="Text 25"/>
          <p:cNvSpPr/>
          <p:nvPr/>
        </p:nvSpPr>
        <p:spPr>
          <a:xfrm>
            <a:off x="667512" y="438912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LAYER 04</a:t>
            </a:r>
            <a:endParaRPr lang="en-US" sz="900" dirty="0"/>
          </a:p>
        </p:txBody>
      </p:sp>
      <p:sp>
        <p:nvSpPr>
          <p:cNvPr id="29" name="Text 26"/>
          <p:cNvSpPr/>
          <p:nvPr/>
        </p:nvSpPr>
        <p:spPr>
          <a:xfrm>
            <a:off x="667512"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Data, backup &amp; ransomware</a:t>
            </a:r>
            <a:endParaRPr lang="en-US" sz="1500" dirty="0"/>
          </a:p>
        </p:txBody>
      </p:sp>
      <p:sp>
        <p:nvSpPr>
          <p:cNvPr id="30" name="Text 27"/>
          <p:cNvSpPr/>
          <p:nvPr/>
        </p:nvSpPr>
        <p:spPr>
          <a:xfrm>
            <a:off x="667512"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Immutable, tested backups of your servers and Microsoft 365 with fast recovery. Production storage and a sync are not a backup.</a:t>
            </a:r>
            <a:endParaRPr lang="en-US" sz="1050" dirty="0"/>
          </a:p>
        </p:txBody>
      </p:sp>
      <p:sp>
        <p:nvSpPr>
          <p:cNvPr id="31" name="Shape 28"/>
          <p:cNvSpPr/>
          <p:nvPr/>
        </p:nvSpPr>
        <p:spPr>
          <a:xfrm>
            <a:off x="4306824" y="420624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206240"/>
            <a:ext cx="3611880" cy="91440"/>
          </a:xfrm>
          <a:prstGeom prst="rect">
            <a:avLst/>
          </a:prstGeom>
          <a:solidFill>
            <a:srgbClr val="0F766E"/>
          </a:solidFill>
          <a:ln w="12700">
            <a:solidFill>
              <a:srgbClr val="0F766E">
                <a:alpha val="0"/>
              </a:srgbClr>
            </a:solidFill>
            <a:prstDash val="solid"/>
          </a:ln>
        </p:spPr>
      </p:sp>
      <p:sp>
        <p:nvSpPr>
          <p:cNvPr id="33" name="Text 30"/>
          <p:cNvSpPr/>
          <p:nvPr/>
        </p:nvSpPr>
        <p:spPr>
          <a:xfrm>
            <a:off x="4471416" y="438912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LAYER 05</a:t>
            </a:r>
            <a:endParaRPr lang="en-US" sz="900" dirty="0"/>
          </a:p>
        </p:txBody>
      </p:sp>
      <p:sp>
        <p:nvSpPr>
          <p:cNvPr id="34" name="Text 31"/>
          <p:cNvSpPr/>
          <p:nvPr/>
        </p:nvSpPr>
        <p:spPr>
          <a:xfrm>
            <a:off x="4471416"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Compliance evidence</a:t>
            </a:r>
            <a:endParaRPr lang="en-US" sz="1500" dirty="0"/>
          </a:p>
        </p:txBody>
      </p:sp>
      <p:sp>
        <p:nvSpPr>
          <p:cNvPr id="35" name="Text 32"/>
          <p:cNvSpPr/>
          <p:nvPr/>
        </p:nvSpPr>
        <p:spPr>
          <a:xfrm>
            <a:off x="4471416"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HIPAA Security Rule risk analysis, policies, and audit-ready documentation — including 42 CFR Part 2, CMIA, Knox-Keene, and URAC IT controls.</a:t>
            </a:r>
            <a:endParaRPr lang="en-US" sz="1050" dirty="0"/>
          </a:p>
        </p:txBody>
      </p:sp>
      <p:sp>
        <p:nvSpPr>
          <p:cNvPr id="36" name="Shape 33"/>
          <p:cNvSpPr/>
          <p:nvPr/>
        </p:nvSpPr>
        <p:spPr>
          <a:xfrm>
            <a:off x="8110728" y="420624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20624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38912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LAYER 06</a:t>
            </a:r>
            <a:endParaRPr lang="en-US" sz="900" dirty="0"/>
          </a:p>
        </p:txBody>
      </p:sp>
      <p:sp>
        <p:nvSpPr>
          <p:cNvPr id="39" name="Text 36"/>
          <p:cNvSpPr/>
          <p:nvPr/>
        </p:nvSpPr>
        <p:spPr>
          <a:xfrm>
            <a:off x="8275320"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24/7 MDR &amp; response</a:t>
            </a:r>
            <a:endParaRPr lang="en-US" sz="1500" dirty="0"/>
          </a:p>
        </p:txBody>
      </p:sp>
      <p:sp>
        <p:nvSpPr>
          <p:cNvPr id="40" name="Text 37"/>
          <p:cNvSpPr/>
          <p:nvPr/>
        </p:nvSpPr>
        <p:spPr>
          <a:xfrm>
            <a:off x="8275320"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Eyes-on-glass monitoring with a defined response when something looks wrong — the around-the-clock coverage an in-house team can't staff alone.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YOUR TURN</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questions that actually shape a fit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This is the part that matters most. The more candid you are here, the more useful our free assessment and any proposal will be.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11" name="Shape 8"/>
          <p:cNvSpPr/>
          <p:nvPr/>
        </p:nvSpPr>
        <p:spPr>
          <a:xfrm>
            <a:off x="502920" y="2148840"/>
            <a:ext cx="5486400" cy="914400"/>
          </a:xfrm>
          <a:prstGeom prst="roundRect">
            <a:avLst>
              <a:gd name="adj" fmla="val 6000"/>
            </a:avLst>
          </a:prstGeom>
          <a:solidFill>
            <a:srgbClr val="FFFFFF"/>
          </a:solidFill>
          <a:ln w="12700">
            <a:solidFill>
              <a:srgbClr val="D8E0EA"/>
            </a:solidFill>
            <a:prstDash val="solid"/>
          </a:ln>
        </p:spPr>
      </p:sp>
      <p:sp>
        <p:nvSpPr>
          <p:cNvPr id="12" name="Shape 9"/>
          <p:cNvSpPr/>
          <p:nvPr/>
        </p:nvSpPr>
        <p:spPr>
          <a:xfrm>
            <a:off x="649224" y="2331720"/>
            <a:ext cx="548640" cy="548640"/>
          </a:xfrm>
          <a:prstGeom prst="roundRect">
            <a:avLst>
              <a:gd name="adj" fmla="val 13333"/>
            </a:avLst>
          </a:prstGeom>
          <a:solidFill>
            <a:srgbClr val="006DB6"/>
          </a:solidFill>
          <a:ln w="12700">
            <a:solidFill>
              <a:srgbClr val="006DB6">
                <a:alpha val="0"/>
              </a:srgbClr>
            </a:solidFill>
            <a:prstDash val="solid"/>
          </a:ln>
        </p:spPr>
      </p:sp>
      <p:sp>
        <p:nvSpPr>
          <p:cNvPr id="13" name="Text 10"/>
          <p:cNvSpPr/>
          <p:nvPr/>
        </p:nvSpPr>
        <p:spPr>
          <a:xfrm>
            <a:off x="649224"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1325880" y="2240280"/>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Walk me through the environment — how many servers and endpoints, and what's on-prem versus already in Microsoft 365 / the cloud?</a:t>
            </a:r>
            <a:endParaRPr lang="en-US" sz="1100" dirty="0"/>
          </a:p>
        </p:txBody>
      </p:sp>
      <p:sp>
        <p:nvSpPr>
          <p:cNvPr id="15" name="Shape 12"/>
          <p:cNvSpPr/>
          <p:nvPr/>
        </p:nvSpPr>
        <p:spPr>
          <a:xfrm>
            <a:off x="6199632" y="2148840"/>
            <a:ext cx="5486400" cy="914400"/>
          </a:xfrm>
          <a:prstGeom prst="roundRect">
            <a:avLst>
              <a:gd name="adj" fmla="val 6000"/>
            </a:avLst>
          </a:prstGeom>
          <a:solidFill>
            <a:srgbClr val="FFFFFF"/>
          </a:solidFill>
          <a:ln w="12700">
            <a:solidFill>
              <a:srgbClr val="D8E0EA"/>
            </a:solidFill>
            <a:prstDash val="solid"/>
          </a:ln>
        </p:spPr>
      </p:sp>
      <p:sp>
        <p:nvSpPr>
          <p:cNvPr id="16" name="Shape 13"/>
          <p:cNvSpPr/>
          <p:nvPr/>
        </p:nvSpPr>
        <p:spPr>
          <a:xfrm>
            <a:off x="6345936" y="2331720"/>
            <a:ext cx="548640" cy="548640"/>
          </a:xfrm>
          <a:prstGeom prst="roundRect">
            <a:avLst>
              <a:gd name="adj" fmla="val 13333"/>
            </a:avLst>
          </a:prstGeom>
          <a:solidFill>
            <a:srgbClr val="1EAAC8"/>
          </a:solidFill>
          <a:ln w="12700">
            <a:solidFill>
              <a:srgbClr val="1EAAC8">
                <a:alpha val="0"/>
              </a:srgbClr>
            </a:solidFill>
            <a:prstDash val="solid"/>
          </a:ln>
        </p:spPr>
      </p:sp>
      <p:sp>
        <p:nvSpPr>
          <p:cNvPr id="17" name="Text 14"/>
          <p:cNvSpPr/>
          <p:nvPr/>
        </p:nvSpPr>
        <p:spPr>
          <a:xfrm>
            <a:off x="6345936"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Text 15"/>
          <p:cNvSpPr/>
          <p:nvPr/>
        </p:nvSpPr>
        <p:spPr>
          <a:xfrm>
            <a:off x="7022592" y="2240280"/>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Where does your team's time actually go — help desk, patching, projects, after-hours fires?</a:t>
            </a:r>
            <a:endParaRPr lang="en-US" sz="1100" dirty="0"/>
          </a:p>
        </p:txBody>
      </p:sp>
      <p:sp>
        <p:nvSpPr>
          <p:cNvPr id="19" name="Shape 16"/>
          <p:cNvSpPr/>
          <p:nvPr/>
        </p:nvSpPr>
        <p:spPr>
          <a:xfrm>
            <a:off x="502920" y="3172968"/>
            <a:ext cx="5486400" cy="914400"/>
          </a:xfrm>
          <a:prstGeom prst="roundRect">
            <a:avLst>
              <a:gd name="adj" fmla="val 6000"/>
            </a:avLst>
          </a:prstGeom>
          <a:solidFill>
            <a:srgbClr val="FFFFFF"/>
          </a:solidFill>
          <a:ln w="12700">
            <a:solidFill>
              <a:srgbClr val="D8E0EA"/>
            </a:solidFill>
            <a:prstDash val="solid"/>
          </a:ln>
        </p:spPr>
      </p:sp>
      <p:sp>
        <p:nvSpPr>
          <p:cNvPr id="20" name="Shape 17"/>
          <p:cNvSpPr/>
          <p:nvPr/>
        </p:nvSpPr>
        <p:spPr>
          <a:xfrm>
            <a:off x="649224" y="3355848"/>
            <a:ext cx="548640" cy="548640"/>
          </a:xfrm>
          <a:prstGeom prst="roundRect">
            <a:avLst>
              <a:gd name="adj" fmla="val 13333"/>
            </a:avLst>
          </a:prstGeom>
          <a:solidFill>
            <a:srgbClr val="006DB6"/>
          </a:solidFill>
          <a:ln w="12700">
            <a:solidFill>
              <a:srgbClr val="006DB6">
                <a:alpha val="0"/>
              </a:srgbClr>
            </a:solidFill>
            <a:prstDash val="solid"/>
          </a:ln>
        </p:spPr>
      </p:sp>
      <p:sp>
        <p:nvSpPr>
          <p:cNvPr id="21" name="Text 18"/>
          <p:cNvSpPr/>
          <p:nvPr/>
        </p:nvSpPr>
        <p:spPr>
          <a:xfrm>
            <a:off x="649224"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19"/>
          <p:cNvSpPr/>
          <p:nvPr/>
        </p:nvSpPr>
        <p:spPr>
          <a:xfrm>
            <a:off x="1325880" y="3264408"/>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When something breaks at 2 AM or over a holiday weekend, who gets the call today?</a:t>
            </a:r>
            <a:endParaRPr lang="en-US" sz="1100" dirty="0"/>
          </a:p>
        </p:txBody>
      </p:sp>
      <p:sp>
        <p:nvSpPr>
          <p:cNvPr id="23" name="Shape 20"/>
          <p:cNvSpPr/>
          <p:nvPr/>
        </p:nvSpPr>
        <p:spPr>
          <a:xfrm>
            <a:off x="6199632" y="3172968"/>
            <a:ext cx="5486400" cy="914400"/>
          </a:xfrm>
          <a:prstGeom prst="roundRect">
            <a:avLst>
              <a:gd name="adj" fmla="val 6000"/>
            </a:avLst>
          </a:prstGeom>
          <a:solidFill>
            <a:srgbClr val="FFFFFF"/>
          </a:solidFill>
          <a:ln w="12700">
            <a:solidFill>
              <a:srgbClr val="D8E0EA"/>
            </a:solidFill>
            <a:prstDash val="solid"/>
          </a:ln>
        </p:spPr>
      </p:sp>
      <p:sp>
        <p:nvSpPr>
          <p:cNvPr id="24" name="Shape 21"/>
          <p:cNvSpPr/>
          <p:nvPr/>
        </p:nvSpPr>
        <p:spPr>
          <a:xfrm>
            <a:off x="6345936" y="3355848"/>
            <a:ext cx="548640" cy="548640"/>
          </a:xfrm>
          <a:prstGeom prst="roundRect">
            <a:avLst>
              <a:gd name="adj" fmla="val 13333"/>
            </a:avLst>
          </a:prstGeom>
          <a:solidFill>
            <a:srgbClr val="1EAAC8"/>
          </a:solidFill>
          <a:ln w="12700">
            <a:solidFill>
              <a:srgbClr val="1EAAC8">
                <a:alpha val="0"/>
              </a:srgbClr>
            </a:solidFill>
            <a:prstDash val="solid"/>
          </a:ln>
        </p:spPr>
      </p:sp>
      <p:sp>
        <p:nvSpPr>
          <p:cNvPr id="25" name="Text 22"/>
          <p:cNvSpPr/>
          <p:nvPr/>
        </p:nvSpPr>
        <p:spPr>
          <a:xfrm>
            <a:off x="6345936"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3"/>
          <p:cNvSpPr/>
          <p:nvPr/>
        </p:nvSpPr>
        <p:spPr>
          <a:xfrm>
            <a:off x="7022592" y="3264408"/>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On security: what's your current EDR / SIEM / email-security stack, and when was your last HIPAA risk assessment or penetration test?</a:t>
            </a:r>
            <a:endParaRPr lang="en-US" sz="1100" dirty="0"/>
          </a:p>
        </p:txBody>
      </p:sp>
      <p:sp>
        <p:nvSpPr>
          <p:cNvPr id="27" name="Shape 24"/>
          <p:cNvSpPr/>
          <p:nvPr/>
        </p:nvSpPr>
        <p:spPr>
          <a:xfrm>
            <a:off x="502920" y="4197096"/>
            <a:ext cx="5486400" cy="914400"/>
          </a:xfrm>
          <a:prstGeom prst="roundRect">
            <a:avLst>
              <a:gd name="adj" fmla="val 6000"/>
            </a:avLst>
          </a:prstGeom>
          <a:solidFill>
            <a:srgbClr val="FFFFFF"/>
          </a:solidFill>
          <a:ln w="12700">
            <a:solidFill>
              <a:srgbClr val="D8E0EA"/>
            </a:solidFill>
            <a:prstDash val="solid"/>
          </a:ln>
        </p:spPr>
      </p:sp>
      <p:sp>
        <p:nvSpPr>
          <p:cNvPr id="28" name="Shape 25"/>
          <p:cNvSpPr/>
          <p:nvPr/>
        </p:nvSpPr>
        <p:spPr>
          <a:xfrm>
            <a:off x="649224" y="4379976"/>
            <a:ext cx="548640" cy="548640"/>
          </a:xfrm>
          <a:prstGeom prst="roundRect">
            <a:avLst>
              <a:gd name="adj" fmla="val 13333"/>
            </a:avLst>
          </a:prstGeom>
          <a:solidFill>
            <a:srgbClr val="006DB6"/>
          </a:solidFill>
          <a:ln w="12700">
            <a:solidFill>
              <a:srgbClr val="006DB6">
                <a:alpha val="0"/>
              </a:srgbClr>
            </a:solidFill>
            <a:prstDash val="solid"/>
          </a:ln>
        </p:spPr>
      </p:sp>
      <p:sp>
        <p:nvSpPr>
          <p:cNvPr id="29" name="Text 26"/>
          <p:cNvSpPr/>
          <p:nvPr/>
        </p:nvSpPr>
        <p:spPr>
          <a:xfrm>
            <a:off x="649224"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7"/>
          <p:cNvSpPr/>
          <p:nvPr/>
        </p:nvSpPr>
        <p:spPr>
          <a:xfrm>
            <a:off x="1325880" y="4288536"/>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How do you produce the IT-side evidence for HIPAA, 42 CFR Part 2, Knox-Keene, and URAC today — and how painful is it?</a:t>
            </a:r>
            <a:endParaRPr lang="en-US" sz="1100" dirty="0"/>
          </a:p>
        </p:txBody>
      </p:sp>
      <p:sp>
        <p:nvSpPr>
          <p:cNvPr id="31" name="Shape 28"/>
          <p:cNvSpPr/>
          <p:nvPr/>
        </p:nvSpPr>
        <p:spPr>
          <a:xfrm>
            <a:off x="6199632" y="4197096"/>
            <a:ext cx="5486400" cy="914400"/>
          </a:xfrm>
          <a:prstGeom prst="roundRect">
            <a:avLst>
              <a:gd name="adj" fmla="val 6000"/>
            </a:avLst>
          </a:prstGeom>
          <a:solidFill>
            <a:srgbClr val="FFFFFF"/>
          </a:solidFill>
          <a:ln w="12700">
            <a:solidFill>
              <a:srgbClr val="D8E0EA"/>
            </a:solidFill>
            <a:prstDash val="solid"/>
          </a:ln>
        </p:spPr>
      </p:sp>
      <p:sp>
        <p:nvSpPr>
          <p:cNvPr id="32" name="Shape 29"/>
          <p:cNvSpPr/>
          <p:nvPr/>
        </p:nvSpPr>
        <p:spPr>
          <a:xfrm>
            <a:off x="6345936" y="4379976"/>
            <a:ext cx="548640" cy="548640"/>
          </a:xfrm>
          <a:prstGeom prst="roundRect">
            <a:avLst>
              <a:gd name="adj" fmla="val 13333"/>
            </a:avLst>
          </a:prstGeom>
          <a:solidFill>
            <a:srgbClr val="1EAAC8"/>
          </a:solidFill>
          <a:ln w="12700">
            <a:solidFill>
              <a:srgbClr val="1EAAC8">
                <a:alpha val="0"/>
              </a:srgbClr>
            </a:solidFill>
            <a:prstDash val="solid"/>
          </a:ln>
        </p:spPr>
      </p:sp>
      <p:sp>
        <p:nvSpPr>
          <p:cNvPr id="33" name="Text 30"/>
          <p:cNvSpPr/>
          <p:nvPr/>
        </p:nvSpPr>
        <p:spPr>
          <a:xfrm>
            <a:off x="6345936"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4" name="Text 31"/>
          <p:cNvSpPr/>
          <p:nvPr/>
        </p:nvSpPr>
        <p:spPr>
          <a:xfrm>
            <a:off x="7022592" y="4288536"/>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What projects are on your roadmap this year that you'd love more bandwidth for?</a:t>
            </a:r>
            <a:endParaRPr lang="en-US" sz="1100" dirty="0"/>
          </a:p>
        </p:txBody>
      </p:sp>
      <p:sp>
        <p:nvSpPr>
          <p:cNvPr id="35" name="Shape 32"/>
          <p:cNvSpPr/>
          <p:nvPr/>
        </p:nvSpPr>
        <p:spPr>
          <a:xfrm>
            <a:off x="502920" y="5221224"/>
            <a:ext cx="5486400" cy="914400"/>
          </a:xfrm>
          <a:prstGeom prst="roundRect">
            <a:avLst>
              <a:gd name="adj" fmla="val 6000"/>
            </a:avLst>
          </a:prstGeom>
          <a:solidFill>
            <a:srgbClr val="FFFFFF"/>
          </a:solidFill>
          <a:ln w="12700">
            <a:solidFill>
              <a:srgbClr val="D8E0EA"/>
            </a:solidFill>
            <a:prstDash val="solid"/>
          </a:ln>
        </p:spPr>
      </p:sp>
      <p:sp>
        <p:nvSpPr>
          <p:cNvPr id="36" name="Shape 33"/>
          <p:cNvSpPr/>
          <p:nvPr/>
        </p:nvSpPr>
        <p:spPr>
          <a:xfrm>
            <a:off x="649224" y="5404104"/>
            <a:ext cx="548640" cy="548640"/>
          </a:xfrm>
          <a:prstGeom prst="roundRect">
            <a:avLst>
              <a:gd name="adj" fmla="val 13333"/>
            </a:avLst>
          </a:prstGeom>
          <a:solidFill>
            <a:srgbClr val="006DB6"/>
          </a:solidFill>
          <a:ln w="12700">
            <a:solidFill>
              <a:srgbClr val="006DB6">
                <a:alpha val="0"/>
              </a:srgbClr>
            </a:solidFill>
            <a:prstDash val="solid"/>
          </a:ln>
        </p:spPr>
      </p:sp>
      <p:sp>
        <p:nvSpPr>
          <p:cNvPr id="37" name="Text 34"/>
          <p:cNvSpPr/>
          <p:nvPr/>
        </p:nvSpPr>
        <p:spPr>
          <a:xfrm>
            <a:off x="649224"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8" name="Text 35"/>
          <p:cNvSpPr/>
          <p:nvPr/>
        </p:nvSpPr>
        <p:spPr>
          <a:xfrm>
            <a:off x="1325880" y="5312664"/>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Besides you, who weighs in on a decision like this — finance, compliance, the CEO?</a:t>
            </a:r>
            <a:endParaRPr lang="en-US" sz="1100" dirty="0"/>
          </a:p>
        </p:txBody>
      </p:sp>
      <p:sp>
        <p:nvSpPr>
          <p:cNvPr id="39" name="Shape 36"/>
          <p:cNvSpPr/>
          <p:nvPr/>
        </p:nvSpPr>
        <p:spPr>
          <a:xfrm>
            <a:off x="6199632" y="5221224"/>
            <a:ext cx="5486400" cy="914400"/>
          </a:xfrm>
          <a:prstGeom prst="roundRect">
            <a:avLst>
              <a:gd name="adj" fmla="val 6000"/>
            </a:avLst>
          </a:prstGeom>
          <a:solidFill>
            <a:srgbClr val="FFFFFF"/>
          </a:solidFill>
          <a:ln w="12700">
            <a:solidFill>
              <a:srgbClr val="D8E0EA"/>
            </a:solidFill>
            <a:prstDash val="solid"/>
          </a:ln>
        </p:spPr>
      </p:sp>
      <p:sp>
        <p:nvSpPr>
          <p:cNvPr id="40" name="Shape 37"/>
          <p:cNvSpPr/>
          <p:nvPr/>
        </p:nvSpPr>
        <p:spPr>
          <a:xfrm>
            <a:off x="6345936" y="5404104"/>
            <a:ext cx="548640" cy="548640"/>
          </a:xfrm>
          <a:prstGeom prst="roundRect">
            <a:avLst>
              <a:gd name="adj" fmla="val 13333"/>
            </a:avLst>
          </a:prstGeom>
          <a:solidFill>
            <a:srgbClr val="1EAAC8"/>
          </a:solidFill>
          <a:ln w="12700">
            <a:solidFill>
              <a:srgbClr val="1EAAC8">
                <a:alpha val="0"/>
              </a:srgbClr>
            </a:solidFill>
            <a:prstDash val="solid"/>
          </a:ln>
        </p:spPr>
      </p:sp>
      <p:sp>
        <p:nvSpPr>
          <p:cNvPr id="41" name="Text 38"/>
          <p:cNvSpPr/>
          <p:nvPr/>
        </p:nvSpPr>
        <p:spPr>
          <a:xfrm>
            <a:off x="6345936"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8</a:t>
            </a:r>
            <a:endParaRPr lang="en-US" sz="1800" dirty="0"/>
          </a:p>
        </p:txBody>
      </p:sp>
      <p:sp>
        <p:nvSpPr>
          <p:cNvPr id="42" name="Text 39"/>
          <p:cNvSpPr/>
          <p:nvPr/>
        </p:nvSpPr>
        <p:spPr>
          <a:xfrm>
            <a:off x="7022592" y="5312664"/>
            <a:ext cx="4526280" cy="749808"/>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What would make this conversation worth your time today?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HM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FREE FIRST STEP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Start with a no-commitment read of your environment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Before anyone talks contracts, we give you something useful — a clear picture of where you stand, yours to keep.</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The Holman Group  |  June 19,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11" name="Shape 8"/>
          <p:cNvSpPr/>
          <p:nvPr/>
        </p:nvSpPr>
        <p:spPr>
          <a:xfrm>
            <a:off x="502920" y="2103120"/>
            <a:ext cx="5212080" cy="4069080"/>
          </a:xfrm>
          <a:prstGeom prst="roundRect">
            <a:avLst>
              <a:gd name="adj" fmla="val 1798"/>
            </a:avLst>
          </a:prstGeom>
          <a:solidFill>
            <a:srgbClr val="1A1A2E"/>
          </a:solidFill>
          <a:ln w="12700">
            <a:solidFill>
              <a:srgbClr val="1A1A2E">
                <a:alpha val="0"/>
              </a:srgbClr>
            </a:solidFill>
            <a:prstDash val="solid"/>
          </a:ln>
        </p:spPr>
      </p:sp>
      <p:sp>
        <p:nvSpPr>
          <p:cNvPr id="12" name="Shape 9"/>
          <p:cNvSpPr/>
          <p:nvPr/>
        </p:nvSpPr>
        <p:spPr>
          <a:xfrm>
            <a:off x="502920" y="2103120"/>
            <a:ext cx="5212080" cy="91440"/>
          </a:xfrm>
          <a:prstGeom prst="rect">
            <a:avLst/>
          </a:prstGeom>
          <a:solidFill>
            <a:srgbClr val="F67D4B"/>
          </a:solidFill>
          <a:ln w="12700">
            <a:solidFill>
              <a:srgbClr val="F67D4B">
                <a:alpha val="0"/>
              </a:srgbClr>
            </a:solidFill>
            <a:prstDash val="solid"/>
          </a:ln>
        </p:spPr>
      </p:sp>
      <p:sp>
        <p:nvSpPr>
          <p:cNvPr id="13" name="Text 10"/>
          <p:cNvSpPr/>
          <p:nvPr/>
        </p:nvSpPr>
        <p:spPr>
          <a:xfrm>
            <a:off x="731520" y="2331720"/>
            <a:ext cx="475488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FREE · NO CONTRACT · YOURS TO KEEP</a:t>
            </a:r>
            <a:endParaRPr lang="en-US" sz="1000" dirty="0"/>
          </a:p>
        </p:txBody>
      </p:sp>
      <p:sp>
        <p:nvSpPr>
          <p:cNvPr id="14" name="Text 11"/>
          <p:cNvSpPr/>
          <p:nvPr/>
        </p:nvSpPr>
        <p:spPr>
          <a:xfrm>
            <a:off x="731520" y="2606040"/>
            <a:ext cx="475488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Nexus Assess</a:t>
            </a:r>
            <a:endParaRPr lang="en-US" sz="2600" dirty="0"/>
          </a:p>
        </p:txBody>
      </p:sp>
      <p:sp>
        <p:nvSpPr>
          <p:cNvPr id="15" name="Text 12"/>
          <p:cNvSpPr/>
          <p:nvPr/>
        </p:nvSpPr>
        <p:spPr>
          <a:xfrm>
            <a:off x="731520" y="3154680"/>
            <a:ext cx="4754880" cy="365760"/>
          </a:xfrm>
          <a:prstGeom prst="rect">
            <a:avLst/>
          </a:prstGeom>
          <a:noFill/>
          <a:ln/>
        </p:spPr>
        <p:txBody>
          <a:bodyPr wrap="square" lIns="0" tIns="0" rIns="0" bIns="0" rtlCol="0" anchor="t"/>
          <a:lstStyle/>
          <a:p>
            <a:pPr indent="0" marL="0">
              <a:buNone/>
            </a:pPr>
            <a:r>
              <a:rPr lang="en-US" sz="1200" dirty="0">
                <a:solidFill>
                  <a:srgbClr val="FFFFFF">
                    <a:alpha val="90000"/>
                  </a:srgbClr>
                </a:solidFill>
                <a:latin typeface="Arial" pitchFamily="34" charset="0"/>
                <a:ea typeface="Arial" pitchFamily="34" charset="-122"/>
                <a:cs typeface="Arial" pitchFamily="34" charset="-120"/>
              </a:rPr>
              <a:t>A security and risk read of your actual environment:</a:t>
            </a:r>
            <a:endParaRPr lang="en-US" sz="1200" dirty="0"/>
          </a:p>
        </p:txBody>
      </p:sp>
      <p:sp>
        <p:nvSpPr>
          <p:cNvPr id="16" name="Shape 13"/>
          <p:cNvSpPr/>
          <p:nvPr/>
        </p:nvSpPr>
        <p:spPr>
          <a:xfrm>
            <a:off x="777240" y="3675888"/>
            <a:ext cx="109728" cy="109728"/>
          </a:xfrm>
          <a:prstGeom prst="ellipse">
            <a:avLst/>
          </a:prstGeom>
          <a:solidFill>
            <a:srgbClr val="1EAAC8"/>
          </a:solidFill>
          <a:ln w="12700">
            <a:solidFill>
              <a:srgbClr val="1EAAC8">
                <a:alpha val="0"/>
              </a:srgbClr>
            </a:solidFill>
            <a:prstDash val="solid"/>
          </a:ln>
        </p:spPr>
      </p:sp>
      <p:sp>
        <p:nvSpPr>
          <p:cNvPr id="17" name="Text 14"/>
          <p:cNvSpPr/>
          <p:nvPr/>
        </p:nvSpPr>
        <p:spPr>
          <a:xfrm>
            <a:off x="1005840" y="36118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Internal + external vulnerability scan</a:t>
            </a:r>
            <a:endParaRPr lang="en-US" sz="1200" dirty="0"/>
          </a:p>
        </p:txBody>
      </p:sp>
      <p:sp>
        <p:nvSpPr>
          <p:cNvPr id="18" name="Shape 15"/>
          <p:cNvSpPr/>
          <p:nvPr/>
        </p:nvSpPr>
        <p:spPr>
          <a:xfrm>
            <a:off x="777240" y="4133088"/>
            <a:ext cx="109728" cy="109728"/>
          </a:xfrm>
          <a:prstGeom prst="ellipse">
            <a:avLst/>
          </a:prstGeom>
          <a:solidFill>
            <a:srgbClr val="1EAAC8"/>
          </a:solidFill>
          <a:ln w="12700">
            <a:solidFill>
              <a:srgbClr val="1EAAC8">
                <a:alpha val="0"/>
              </a:srgbClr>
            </a:solidFill>
            <a:prstDash val="solid"/>
          </a:ln>
        </p:spPr>
      </p:sp>
      <p:sp>
        <p:nvSpPr>
          <p:cNvPr id="19" name="Text 16"/>
          <p:cNvSpPr/>
          <p:nvPr/>
        </p:nvSpPr>
        <p:spPr>
          <a:xfrm>
            <a:off x="1005840" y="40690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Dark-web credential exposure check</a:t>
            </a:r>
            <a:endParaRPr lang="en-US" sz="1200" dirty="0"/>
          </a:p>
        </p:txBody>
      </p:sp>
      <p:sp>
        <p:nvSpPr>
          <p:cNvPr id="20" name="Shape 17"/>
          <p:cNvSpPr/>
          <p:nvPr/>
        </p:nvSpPr>
        <p:spPr>
          <a:xfrm>
            <a:off x="777240" y="4590288"/>
            <a:ext cx="109728" cy="109728"/>
          </a:xfrm>
          <a:prstGeom prst="ellipse">
            <a:avLst/>
          </a:prstGeom>
          <a:solidFill>
            <a:srgbClr val="1EAAC8"/>
          </a:solidFill>
          <a:ln w="12700">
            <a:solidFill>
              <a:srgbClr val="1EAAC8">
                <a:alpha val="0"/>
              </a:srgbClr>
            </a:solidFill>
            <a:prstDash val="solid"/>
          </a:ln>
        </p:spPr>
      </p:sp>
      <p:sp>
        <p:nvSpPr>
          <p:cNvPr id="21" name="Text 18"/>
          <p:cNvSpPr/>
          <p:nvPr/>
        </p:nvSpPr>
        <p:spPr>
          <a:xfrm>
            <a:off x="1005840" y="45262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Microsoft 365 security configuration review</a:t>
            </a:r>
            <a:endParaRPr lang="en-US" sz="1200" dirty="0"/>
          </a:p>
        </p:txBody>
      </p:sp>
      <p:sp>
        <p:nvSpPr>
          <p:cNvPr id="22" name="Shape 19"/>
          <p:cNvSpPr/>
          <p:nvPr/>
        </p:nvSpPr>
        <p:spPr>
          <a:xfrm>
            <a:off x="777240" y="5047488"/>
            <a:ext cx="109728" cy="109728"/>
          </a:xfrm>
          <a:prstGeom prst="ellipse">
            <a:avLst/>
          </a:prstGeom>
          <a:solidFill>
            <a:srgbClr val="1EAAC8"/>
          </a:solidFill>
          <a:ln w="12700">
            <a:solidFill>
              <a:srgbClr val="1EAAC8">
                <a:alpha val="0"/>
              </a:srgbClr>
            </a:solidFill>
            <a:prstDash val="solid"/>
          </a:ln>
        </p:spPr>
      </p:sp>
      <p:sp>
        <p:nvSpPr>
          <p:cNvPr id="23" name="Text 20"/>
          <p:cNvSpPr/>
          <p:nvPr/>
        </p:nvSpPr>
        <p:spPr>
          <a:xfrm>
            <a:off x="1005840" y="49834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Prioritized roadmap mapped to HIPAA</a:t>
            </a:r>
            <a:endParaRPr lang="en-US" sz="1200" dirty="0"/>
          </a:p>
        </p:txBody>
      </p:sp>
      <p:sp>
        <p:nvSpPr>
          <p:cNvPr id="24" name="Text 21"/>
          <p:cNvSpPr/>
          <p:nvPr/>
        </p:nvSpPr>
        <p:spPr>
          <a:xfrm>
            <a:off x="731520" y="5532120"/>
            <a:ext cx="4800600" cy="548640"/>
          </a:xfrm>
          <a:prstGeom prst="rect">
            <a:avLst/>
          </a:prstGeom>
          <a:noFill/>
          <a:ln/>
        </p:spPr>
        <p:txBody>
          <a:bodyPr wrap="square" lIns="0" tIns="0" rIns="0" bIns="0" rtlCol="0" anchor="t"/>
          <a:lstStyle/>
          <a:p>
            <a:pPr indent="0" marL="0">
              <a:buNone/>
            </a:pPr>
            <a:r>
              <a:rPr lang="en-US" sz="1050" i="1" dirty="0">
                <a:solidFill>
                  <a:srgbClr val="1EAAC8"/>
                </a:solidFill>
                <a:latin typeface="Arial" pitchFamily="34" charset="0"/>
                <a:ea typeface="Arial" pitchFamily="34" charset="-122"/>
                <a:cs typeface="Arial" pitchFamily="34" charset="-120"/>
              </a:rPr>
              <a:t>No obligation. Whether or not we ever work together, the roadmap is yours to act on with your own team.</a:t>
            </a:r>
            <a:endParaRPr lang="en-US" sz="1050" dirty="0"/>
          </a:p>
        </p:txBody>
      </p:sp>
      <p:sp>
        <p:nvSpPr>
          <p:cNvPr id="25" name="Shape 22"/>
          <p:cNvSpPr/>
          <p:nvPr/>
        </p:nvSpPr>
        <p:spPr>
          <a:xfrm>
            <a:off x="5989320" y="2103120"/>
            <a:ext cx="5715000" cy="1234440"/>
          </a:xfrm>
          <a:prstGeom prst="roundRect">
            <a:avLst>
              <a:gd name="adj" fmla="val 5926"/>
            </a:avLst>
          </a:prstGeom>
          <a:solidFill>
            <a:srgbClr val="FFFFFF"/>
          </a:solidFill>
          <a:ln w="12700">
            <a:solidFill>
              <a:srgbClr val="D8E0EA"/>
            </a:solidFill>
            <a:prstDash val="solid"/>
          </a:ln>
        </p:spPr>
      </p:sp>
      <p:sp>
        <p:nvSpPr>
          <p:cNvPr id="26" name="Shape 23"/>
          <p:cNvSpPr/>
          <p:nvPr/>
        </p:nvSpPr>
        <p:spPr>
          <a:xfrm>
            <a:off x="6144768" y="2304288"/>
            <a:ext cx="868680" cy="822960"/>
          </a:xfrm>
          <a:prstGeom prst="roundRect">
            <a:avLst>
              <a:gd name="adj" fmla="val 11111"/>
            </a:avLst>
          </a:prstGeom>
          <a:solidFill>
            <a:srgbClr val="F67D4B"/>
          </a:solidFill>
          <a:ln w="12700">
            <a:solidFill>
              <a:srgbClr val="F67D4B">
                <a:alpha val="0"/>
              </a:srgbClr>
            </a:solidFill>
            <a:prstDash val="solid"/>
          </a:ln>
        </p:spPr>
      </p:sp>
      <p:sp>
        <p:nvSpPr>
          <p:cNvPr id="27" name="Text 24"/>
          <p:cNvSpPr/>
          <p:nvPr/>
        </p:nvSpPr>
        <p:spPr>
          <a:xfrm>
            <a:off x="6144768" y="23042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01</a:t>
            </a:r>
            <a:endParaRPr lang="en-US" sz="2200" dirty="0"/>
          </a:p>
        </p:txBody>
      </p:sp>
      <p:sp>
        <p:nvSpPr>
          <p:cNvPr id="28" name="Text 25"/>
          <p:cNvSpPr/>
          <p:nvPr/>
        </p:nvSpPr>
        <p:spPr>
          <a:xfrm>
            <a:off x="7178040" y="22860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Today — discovery</a:t>
            </a:r>
            <a:endParaRPr lang="en-US" sz="1500" dirty="0"/>
          </a:p>
        </p:txBody>
      </p:sp>
      <p:sp>
        <p:nvSpPr>
          <p:cNvPr id="29" name="Text 26"/>
          <p:cNvSpPr/>
          <p:nvPr/>
        </p:nvSpPr>
        <p:spPr>
          <a:xfrm>
            <a:off x="7178040" y="26700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relaxed conversation about your environment and what matters most. No commitment.</a:t>
            </a:r>
            <a:endParaRPr lang="en-US" sz="1050" dirty="0"/>
          </a:p>
        </p:txBody>
      </p:sp>
      <p:sp>
        <p:nvSpPr>
          <p:cNvPr id="30" name="Shape 27"/>
          <p:cNvSpPr/>
          <p:nvPr/>
        </p:nvSpPr>
        <p:spPr>
          <a:xfrm>
            <a:off x="5989320" y="3474720"/>
            <a:ext cx="5715000" cy="1234440"/>
          </a:xfrm>
          <a:prstGeom prst="roundRect">
            <a:avLst>
              <a:gd name="adj" fmla="val 5926"/>
            </a:avLst>
          </a:prstGeom>
          <a:solidFill>
            <a:srgbClr val="FFFFFF"/>
          </a:solidFill>
          <a:ln w="12700">
            <a:solidFill>
              <a:srgbClr val="D8E0EA"/>
            </a:solidFill>
            <a:prstDash val="solid"/>
          </a:ln>
        </p:spPr>
      </p:sp>
      <p:sp>
        <p:nvSpPr>
          <p:cNvPr id="31" name="Shape 28"/>
          <p:cNvSpPr/>
          <p:nvPr/>
        </p:nvSpPr>
        <p:spPr>
          <a:xfrm>
            <a:off x="6144768" y="3675888"/>
            <a:ext cx="868680" cy="822960"/>
          </a:xfrm>
          <a:prstGeom prst="roundRect">
            <a:avLst>
              <a:gd name="adj" fmla="val 11111"/>
            </a:avLst>
          </a:prstGeom>
          <a:solidFill>
            <a:srgbClr val="006DB6"/>
          </a:solidFill>
          <a:ln w="12700">
            <a:solidFill>
              <a:srgbClr val="006DB6">
                <a:alpha val="0"/>
              </a:srgbClr>
            </a:solidFill>
            <a:prstDash val="solid"/>
          </a:ln>
        </p:spPr>
      </p:sp>
      <p:sp>
        <p:nvSpPr>
          <p:cNvPr id="32" name="Text 29"/>
          <p:cNvSpPr/>
          <p:nvPr/>
        </p:nvSpPr>
        <p:spPr>
          <a:xfrm>
            <a:off x="6144768" y="36758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02</a:t>
            </a:r>
            <a:endParaRPr lang="en-US" sz="2200" dirty="0"/>
          </a:p>
        </p:txBody>
      </p:sp>
      <p:sp>
        <p:nvSpPr>
          <p:cNvPr id="33" name="Text 30"/>
          <p:cNvSpPr/>
          <p:nvPr/>
        </p:nvSpPr>
        <p:spPr>
          <a:xfrm>
            <a:off x="7178040" y="36576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Free Nexus Assess</a:t>
            </a:r>
            <a:endParaRPr lang="en-US" sz="1500" dirty="0"/>
          </a:p>
        </p:txBody>
      </p:sp>
      <p:sp>
        <p:nvSpPr>
          <p:cNvPr id="34" name="Text 31"/>
          <p:cNvSpPr/>
          <p:nvPr/>
        </p:nvSpPr>
        <p:spPr>
          <a:xfrm>
            <a:off x="7178040" y="40416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scan and review, then hand you a plain-language, HIPAA-mapped risk roadmap.</a:t>
            </a:r>
            <a:endParaRPr lang="en-US" sz="1050" dirty="0"/>
          </a:p>
        </p:txBody>
      </p:sp>
      <p:sp>
        <p:nvSpPr>
          <p:cNvPr id="35" name="Shape 32"/>
          <p:cNvSpPr/>
          <p:nvPr/>
        </p:nvSpPr>
        <p:spPr>
          <a:xfrm>
            <a:off x="5989320" y="4846320"/>
            <a:ext cx="5715000" cy="1234440"/>
          </a:xfrm>
          <a:prstGeom prst="roundRect">
            <a:avLst>
              <a:gd name="adj" fmla="val 5926"/>
            </a:avLst>
          </a:prstGeom>
          <a:solidFill>
            <a:srgbClr val="FFFFFF"/>
          </a:solidFill>
          <a:ln w="12700">
            <a:solidFill>
              <a:srgbClr val="D8E0EA"/>
            </a:solidFill>
            <a:prstDash val="solid"/>
          </a:ln>
        </p:spPr>
      </p:sp>
      <p:sp>
        <p:nvSpPr>
          <p:cNvPr id="36" name="Shape 33"/>
          <p:cNvSpPr/>
          <p:nvPr/>
        </p:nvSpPr>
        <p:spPr>
          <a:xfrm>
            <a:off x="6144768" y="5047488"/>
            <a:ext cx="868680" cy="822960"/>
          </a:xfrm>
          <a:prstGeom prst="roundRect">
            <a:avLst>
              <a:gd name="adj" fmla="val 11111"/>
            </a:avLst>
          </a:prstGeom>
          <a:solidFill>
            <a:srgbClr val="1EAAC8"/>
          </a:solidFill>
          <a:ln w="12700">
            <a:solidFill>
              <a:srgbClr val="1EAAC8">
                <a:alpha val="0"/>
              </a:srgbClr>
            </a:solidFill>
            <a:prstDash val="solid"/>
          </a:ln>
        </p:spPr>
      </p:sp>
      <p:sp>
        <p:nvSpPr>
          <p:cNvPr id="37" name="Text 34"/>
          <p:cNvSpPr/>
          <p:nvPr/>
        </p:nvSpPr>
        <p:spPr>
          <a:xfrm>
            <a:off x="6144768" y="50474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03</a:t>
            </a:r>
            <a:endParaRPr lang="en-US" sz="2200" dirty="0"/>
          </a:p>
        </p:txBody>
      </p:sp>
      <p:sp>
        <p:nvSpPr>
          <p:cNvPr id="38" name="Text 35"/>
          <p:cNvSpPr/>
          <p:nvPr/>
        </p:nvSpPr>
        <p:spPr>
          <a:xfrm>
            <a:off x="7178040" y="50292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Right-sized co-managed proposal</a:t>
            </a:r>
            <a:endParaRPr lang="en-US" sz="1500" dirty="0"/>
          </a:p>
        </p:txBody>
      </p:sp>
      <p:sp>
        <p:nvSpPr>
          <p:cNvPr id="39" name="Text 36"/>
          <p:cNvSpPr/>
          <p:nvPr/>
        </p:nvSpPr>
        <p:spPr>
          <a:xfrm>
            <a:off x="7178040" y="54132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Only the layers you actually want, scoped to your real environment — every line explained.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DB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alpha val="30000"/>
            </a:srgbClr>
          </a:solidFill>
          <a:ln w="12700">
            <a:solidFill>
              <a:srgbClr val="1A1A2E">
                <a:alpha val="0"/>
              </a:srgbClr>
            </a:solidFill>
            <a:prstDash val="solid"/>
          </a:ln>
        </p:spPr>
      </p:sp>
      <p:sp>
        <p:nvSpPr>
          <p:cNvPr id="3" name="Shape 1"/>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4" name="Shape 2"/>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5" name="Image 0" descr="C:/vscode/tech-branding/tech-branding/Clients/HMG/assets/Technijian Logo - white text.png">    </p:cNvPr>
          <p:cNvPicPr>
            <a:picLocks noChangeAspect="1"/>
          </p:cNvPicPr>
          <p:nvPr/>
        </p:nvPicPr>
        <p:blipFill>
          <a:blip r:embed="rId1"/>
          <a:stretch>
            <a:fillRect/>
          </a:stretch>
        </p:blipFill>
        <p:spPr>
          <a:xfrm>
            <a:off x="502920" y="365760"/>
            <a:ext cx="2011680" cy="420854"/>
          </a:xfrm>
          <a:prstGeom prst="rect">
            <a:avLst/>
          </a:prstGeom>
        </p:spPr>
      </p:pic>
      <p:sp>
        <p:nvSpPr>
          <p:cNvPr id="6" name="Text 3"/>
          <p:cNvSpPr/>
          <p:nvPr/>
        </p:nvSpPr>
        <p:spPr>
          <a:xfrm>
            <a:off x="502920" y="960120"/>
            <a:ext cx="548640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NEXT STEP</a:t>
            </a:r>
            <a:endParaRPr lang="en-US" sz="1000" dirty="0"/>
          </a:p>
        </p:txBody>
      </p:sp>
      <p:sp>
        <p:nvSpPr>
          <p:cNvPr id="7" name="Text 4"/>
          <p:cNvSpPr/>
          <p:nvPr/>
        </p:nvSpPr>
        <p:spPr>
          <a:xfrm>
            <a:off x="502920" y="12344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One small step. </a:t>
            </a:r>
            <a:pPr indent="0" marL="0">
              <a:buNone/>
            </a:pPr>
            <a:r>
              <a:rPr lang="en-US" sz="3400" b="1" dirty="0">
                <a:solidFill>
                  <a:srgbClr val="F67D4B"/>
                </a:solidFill>
                <a:latin typeface="Arial" pitchFamily="34" charset="0"/>
                <a:ea typeface="Arial" pitchFamily="34" charset="-122"/>
                <a:cs typeface="Arial" pitchFamily="34" charset="-120"/>
              </a:rPr>
              <a:t>Nothing to sign.</a:t>
            </a:r>
            <a:endParaRPr lang="en-US" sz="3400" dirty="0"/>
          </a:p>
        </p:txBody>
      </p:sp>
      <p:sp>
        <p:nvSpPr>
          <p:cNvPr id="8" name="Shape 5"/>
          <p:cNvSpPr/>
          <p:nvPr/>
        </p:nvSpPr>
        <p:spPr>
          <a:xfrm>
            <a:off x="502920" y="2331720"/>
            <a:ext cx="5577840" cy="2560320"/>
          </a:xfrm>
          <a:prstGeom prst="roundRect">
            <a:avLst>
              <a:gd name="adj" fmla="val 2857"/>
            </a:avLst>
          </a:prstGeom>
          <a:solidFill>
            <a:srgbClr val="FFFFFF">
              <a:alpha val="12000"/>
            </a:srgbClr>
          </a:solidFill>
          <a:ln w="12700">
            <a:solidFill>
              <a:srgbClr val="1EAAC8"/>
            </a:solidFill>
            <a:prstDash val="solid"/>
          </a:ln>
        </p:spPr>
      </p:sp>
      <p:sp>
        <p:nvSpPr>
          <p:cNvPr id="9" name="Text 6"/>
          <p:cNvSpPr/>
          <p:nvPr/>
        </p:nvSpPr>
        <p:spPr>
          <a:xfrm>
            <a:off x="731520" y="2468880"/>
            <a:ext cx="5120640" cy="22860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RECOMMENDED</a:t>
            </a:r>
            <a:endParaRPr lang="en-US" sz="1000" dirty="0"/>
          </a:p>
        </p:txBody>
      </p:sp>
      <p:sp>
        <p:nvSpPr>
          <p:cNvPr id="10" name="Text 7"/>
          <p:cNvSpPr/>
          <p:nvPr/>
        </p:nvSpPr>
        <p:spPr>
          <a:xfrm>
            <a:off x="731520" y="2697480"/>
            <a:ext cx="51206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Book your free Nexus Assess</a:t>
            </a:r>
            <a:endParaRPr lang="en-US" sz="1800" dirty="0"/>
          </a:p>
        </p:txBody>
      </p:sp>
      <p:sp>
        <p:nvSpPr>
          <p:cNvPr id="11" name="Text 8"/>
          <p:cNvSpPr/>
          <p:nvPr/>
        </p:nvSpPr>
        <p:spPr>
          <a:xfrm>
            <a:off x="731520" y="3246120"/>
            <a:ext cx="5120640" cy="155448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We scan your environment and Microsoft 365, then hand you a prioritized, HIPAA-mapped roadmap within about 10 business days — yours to keep, no contract, no obligation.</a:t>
            </a:r>
            <a:endParaRPr lang="en-US" sz="1200" dirty="0"/>
          </a:p>
        </p:txBody>
      </p:sp>
      <p:sp>
        <p:nvSpPr>
          <p:cNvPr id="12" name="Shape 9"/>
          <p:cNvSpPr/>
          <p:nvPr/>
        </p:nvSpPr>
        <p:spPr>
          <a:xfrm>
            <a:off x="6355080" y="2331720"/>
            <a:ext cx="5577840" cy="2560320"/>
          </a:xfrm>
          <a:prstGeom prst="roundRect">
            <a:avLst>
              <a:gd name="adj" fmla="val 2857"/>
            </a:avLst>
          </a:prstGeom>
          <a:solidFill>
            <a:srgbClr val="FFFFFF">
              <a:alpha val="12000"/>
            </a:srgbClr>
          </a:solidFill>
          <a:ln w="12700">
            <a:solidFill>
              <a:srgbClr val="F67D4B"/>
            </a:solidFill>
            <a:prstDash val="solid"/>
          </a:ln>
        </p:spPr>
      </p:sp>
      <p:sp>
        <p:nvSpPr>
          <p:cNvPr id="13" name="Text 10"/>
          <p:cNvSpPr/>
          <p:nvPr/>
        </p:nvSpPr>
        <p:spPr>
          <a:xfrm>
            <a:off x="6583680" y="2468880"/>
            <a:ext cx="5120640" cy="22860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HAPPY TO SHARE</a:t>
            </a:r>
            <a:endParaRPr lang="en-US" sz="1000" dirty="0"/>
          </a:p>
        </p:txBody>
      </p:sp>
      <p:sp>
        <p:nvSpPr>
          <p:cNvPr id="14" name="Text 11"/>
          <p:cNvSpPr/>
          <p:nvPr/>
        </p:nvSpPr>
        <p:spPr>
          <a:xfrm>
            <a:off x="6583680" y="2697480"/>
            <a:ext cx="51206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Our security + AI playbook</a:t>
            </a:r>
            <a:endParaRPr lang="en-US" sz="1800" dirty="0"/>
          </a:p>
        </p:txBody>
      </p:sp>
      <p:sp>
        <p:nvSpPr>
          <p:cNvPr id="15" name="Text 12"/>
          <p:cNvSpPr/>
          <p:nvPr/>
        </p:nvSpPr>
        <p:spPr>
          <a:xfrm>
            <a:off x="6583680" y="3246120"/>
            <a:ext cx="5120640" cy="155448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I'll walk you through the broader security and practical-AI playbook we run for ourselves and our clients — useful context whether or not we work together.</a:t>
            </a:r>
            <a:endParaRPr lang="en-US" sz="1200" dirty="0"/>
          </a:p>
        </p:txBody>
      </p:sp>
      <p:sp>
        <p:nvSpPr>
          <p:cNvPr id="16" name="Shape 13"/>
          <p:cNvSpPr/>
          <p:nvPr/>
        </p:nvSpPr>
        <p:spPr>
          <a:xfrm>
            <a:off x="502920" y="5212080"/>
            <a:ext cx="11155680" cy="777240"/>
          </a:xfrm>
          <a:prstGeom prst="roundRect">
            <a:avLst>
              <a:gd name="adj" fmla="val 47059"/>
            </a:avLst>
          </a:prstGeom>
          <a:solidFill>
            <a:srgbClr val="F67D4B"/>
          </a:solidFill>
          <a:ln w="12700">
            <a:solidFill>
              <a:srgbClr val="F67D4B">
                <a:alpha val="0"/>
              </a:srgbClr>
            </a:solidFill>
            <a:prstDash val="solid"/>
          </a:ln>
        </p:spPr>
      </p:sp>
      <p:sp>
        <p:nvSpPr>
          <p:cNvPr id="17" name="Text 14"/>
          <p:cNvSpPr/>
          <p:nvPr/>
        </p:nvSpPr>
        <p:spPr>
          <a:xfrm>
            <a:off x="502920" y="5212080"/>
            <a:ext cx="11155680" cy="777240"/>
          </a:xfrm>
          <a:prstGeom prst="rect">
            <a:avLst/>
          </a:prstGeom>
          <a:noFill/>
          <a:ln/>
        </p:spPr>
        <p:txBody>
          <a:bodyPr wrap="square" lIns="0" tIns="0" rIns="0" bIns="0" rtlCol="0" anchor="ctr"/>
          <a:lstStyle/>
          <a:p>
            <a:pPr algn="ctr" indent="0" marL="0">
              <a:buNone/>
            </a:pPr>
            <a:r>
              <a:rPr lang="en-US" sz="1600" b="1" dirty="0">
                <a:solidFill>
                  <a:srgbClr val="FFFFFF"/>
                </a:solidFill>
              </a:rPr>
              <a:t>Let's book your free Nexus Assess   ·   </a:t>
            </a:r>
            <a:pPr algn="ctr" indent="0" marL="0">
              <a:buNone/>
            </a:pPr>
            <a:r>
              <a:rPr lang="en-US" sz="1400" dirty="0">
                <a:solidFill>
                  <a:srgbClr val="FFFFFF">
                    <a:alpha val="90000"/>
                  </a:srgbClr>
                </a:solidFill>
              </a:rPr>
              <a:t>rjain@technijian.com   ·   949.379.8499   ·   technijian.com</a:t>
            </a:r>
            <a:endParaRPr lang="en-US" sz="1600" dirty="0"/>
          </a:p>
        </p:txBody>
      </p:sp>
      <p:sp>
        <p:nvSpPr>
          <p:cNvPr id="18" name="Text 15"/>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100" dirty="0">
                <a:solidFill>
                  <a:srgbClr val="FFFFFF">
                    <a:alpha val="65000"/>
                  </a:srgbClr>
                </a:solidFill>
                <a:latin typeface="Arial" pitchFamily="34" charset="0"/>
                <a:ea typeface="Arial" pitchFamily="34" charset="-122"/>
                <a:cs typeface="Arial" pitchFamily="34" charset="-120"/>
              </a:rPr>
              <a:t>18 Technology Dr. Ste 141, Irvine CA 92618  ·  Panchkula, India  ·  technology as a solution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Technijian for The Holman Group</dc:title>
  <dc:subject>Technijian for The Holman Group — Co-Managed IT, Security &amp; Strategic Support</dc:subject>
  <dc:creator>Technijian</dc:creator>
  <cp:lastModifiedBy>Technijian</cp:lastModifiedBy>
  <cp:revision>1</cp:revision>
  <dcterms:created xsi:type="dcterms:W3CDTF">2026-06-24T16:10:27Z</dcterms:created>
  <dcterms:modified xsi:type="dcterms:W3CDTF">2026-06-24T16:10:27Z</dcterms:modified>
</cp:coreProperties>
</file>