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This is a COLD inbound lead — someone at ROG Services reached out through technijian.com about IT. You don't yet know WHO will be in the room or what they run. Job #1 in the first 5 minutes: find out who you're talking to (a principal? office manager? finance? the board?), what prompted the inquiry, and who else decides. You're Ravi, Founder &amp; CEO of Technijian — Irvine-based, 25+ years, security-first, and we work with nonprofits. Frame the meeting in one line: "I did my homework on what ROG does publicly, but I've assumed NOTHING about your systems — today is about understanding your world and finding where we genuinely help." NOTE: their site is rogservices.ORG but the published email is rogservices.COM (the .com redirects to .org) — confirm the right email before any follow-up. Everything on the next slides about ROG is from PUBLIC sources only; invite correction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20 seconds: six quick stops, ending on the part that matters most — THEIR questions — and a free, no-commitment next step. Say it plainly: "I'm not here to sell you a network you didn't ask for. I'm here to understand how you protect the people you serve, and find the two or three places a partner takes real work off your plate." Then hand them the wheel early: "Before I talk — what made you reach out to us? What would make the next 40 minutes worth your time?" Let their answer reorder the deck. The dark card is the promise: you stay in control, we right-size to a nonprofit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we did our homework AND that we respect the line between public facts and their private reality. Walk the four facts fast — founded 2010, 7 offices across CA + Montana, 2,100+ clients (THEIR reported figure), SSA + VA representative-payee / fiduciary. Then the honest framing: "Everything here is from your website and public filings — I have NOT assumed anything about your IT, your software, or your security. Correct me where I'm wrong." The thing that matters: as a payee/fiduciary you (a) hold deeply sensitive data — SSNs, bank details, health/disability info — and (b) MOVE money for vulnerable people. That combination is exactly what raises the security bar. Don't assert they have gaps; ask how they handle it today. Good probes: "Who set up your IT originally?" / "What keeps you up at night on the data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 the right to keep talking — 20 seconds, not a history lesson. Four proof points: (1) 25+ years, since 2000 — we're not going anywhere; (2) the POD model — a named team that learns YOUR environment, not a new stranger every ticket; (3) security-first, CISSP-led, our own 24/7 SOC; (4) AI-forward — we actually build, not just resell. For a nonprofit, add the affordability note: we know the nonprofit licensing programs (TechSoup, Microsoft 365 nonprofit) and we right-size. If they're quiet, ask: "Have you worked with an outside IT provider before — what did you like or want to be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BEFORE pitch. Anonymized industry profiles — scope and effort only, no client names, no invented metrics. Pick the ONE closest to their world and go deeper; don't read all three. The signal: "we've protected multi-site nonprofits and organizations that move money and hold sensitive personal data — exactly your situation — and done it on a right-sized budget." Honesty rule: if they ask for references or specifics we can't share live, promise a proper case study in the follow-up — never fabricate a number or a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kills the #1 fear of a small org: "are you going to take over and run up a bill?" The truth: we flex to whatever they have. KEY UNKNOWN to resolve live — who runs their IT TODAY? An internal person? An outside shop? The office manager doing their best? We genuinely don't know, so ASK before positioning. If they have no real IT function, FULLY MANAGED fits. If they have someone, CO-MANAGED augments them. Either way: they keep control, we cover what a small team can't staff (24/7, security, backup, projects), and we right-size to a nonprofit. Say: "On your worst week we're the bench you call; on a normal week you barely notice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Highest-stakes slide — but DON'T lecture them on their own duty. They're an SSA/VA representative payee: they hold SSNs, bank-account details, and health/disability information, and they DISBURSE benefit money and remotely load prepaid debit cards for 2,100+ vulnerable people. Two factual hooks (use, don't fear-monger): (1) SSA expressly requires payees to have DOCUMENTED procedures protecting personal information and role-based access — that's a real obligation, not my opinion; (2) Business Email Compromise / payment-diversion was the #2 cybercrime by dollar loss in 2024 ($2.77B to the FBI), and the FBI specifically calls out redirecting payments onto prepaid cards — which is literally part of your workflow. Walk the six layers fast; ASK which they already feel good about and which worry them. The honest line: "You could build any one of these — the hard part is running all six at once, across seven offices, with evidence for an SSA or VA review. That's where a partner earns its keep." Do NOT assert gaps you haven't confirmed. Flag honestly that HIPAA/GLBA/CCPA applicability is a real legal question for a payee — we don't pretend to know; we'd confirm with your counsel.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2-3 seeds, then SHUT UP and watch which one they react to — that tells you what actually hurts. Don't pitch all three equally. For a small multi-site nonprofit the live wires are usually #1 (nobody really owns our IT / it's a patchwork) or #2 (we move money and hold SSNs and I'm not sure we're protected). #3 (strategic + AI) is the differentiator nobody else brings — mention the annual SSA/VA accounting and per-beneficiary reporting burden across 2,100 clients lightly as "the kind of repetitive paperwork AI can take off your staff, once the basics are solid," not a hard pitch. Frame each as a hypothesis: "orgs your size usually feel X — true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MEETING. Put the deck down and let them talk — aim for them doing 70% of the talking. Questions go easy-&gt;strategic; skip any already answered. The must-learns: (a) who owns IT today and what's actually deployed (M365 vs Google, MFA, who supports it); (b) how the 7 offices connect and which are staffed; (c) what runs the per-beneficiary accounting / bill-pay / prepaid-card loading; (d) how they guard against a fraudulent payment-change request (BEC); (e) how records are stored, backed up, and produced for SSA/VA reviews; (f) where staff lose time to manual paperwork; (g) the decision chain (board? finance? leadership?). End on "what would make this worth your time" so you close on THEIR terms. Never ask something you should already know from public info — that signals you didn't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stakes to near zero. The only ask today is the free Nexus Assess — internal + external vulnerability scan, dark-web credential check, and a Microsoft 365 / Google Workspace security review, handed back as a prioritized roadmap they keep whether or not we ever work together. For a fiduciary, frame the roadmap as mapped to the SSA/VA safeguarding expectations and security best practice (NOT 'HIPAA' — that's an open legal question for a payee; don't overclaim). It gives them a real artifact to take to their board/finance, and it gives us the data to scope a right-sized managed or co-managed proposal with nonprofit licensing applied. Reassure: "This isn't a sales trap — it's a read of your environment you can act on with whoever supports you today." If they ask price: verbal range only; the fixed number comes after the assessment. NEVER discuss our cost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concrete thing: book the free Nexus Assess, roadmap back within ~10 business days, no contract, no obligation, theirs to keep. Broaden slightly so you're a peer advisor, not a one-deal pitch: "...and I'm happy to share the broader security + practical-AI playbook we run for ourselves and our clients, including nonprofits." Confirm the best email (verify the rogservices.org vs .com address), propose a specific time this week, and send a short recap email TODAY with the booking link and your signature. End warm, zero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F67D4B"/>
          </a:solidFill>
          <a:ln w="12700">
            <a:solidFill>
              <a:srgbClr val="F67D4B">
                <a:alpha val="0"/>
              </a:srgbClr>
            </a:solidFill>
            <a:prstDash val="solid"/>
          </a:ln>
        </p:spPr>
      </p:sp>
      <p:sp>
        <p:nvSpPr>
          <p:cNvPr id="3" name="Shape 1"/>
          <p:cNvSpPr/>
          <p:nvPr/>
        </p:nvSpPr>
        <p:spPr>
          <a:xfrm>
            <a:off x="0" y="6492240"/>
            <a:ext cx="12188952" cy="365760"/>
          </a:xfrm>
          <a:prstGeom prst="rect">
            <a:avLst/>
          </a:prstGeom>
          <a:solidFill>
            <a:srgbClr val="006DB6"/>
          </a:solidFill>
          <a:ln w="12700">
            <a:solidFill>
              <a:srgbClr val="006DB6">
                <a:alpha val="0"/>
              </a:srgbClr>
            </a:solidFill>
            <a:prstDash val="solid"/>
          </a:ln>
        </p:spPr>
      </p:sp>
      <p:sp>
        <p:nvSpPr>
          <p:cNvPr id="4" name="Shape 2"/>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5" name="Shape 3"/>
          <p:cNvSpPr/>
          <p:nvPr/>
        </p:nvSpPr>
        <p:spPr>
          <a:xfrm>
            <a:off x="-914400" y="4572000"/>
            <a:ext cx="4572000" cy="4572000"/>
          </a:xfrm>
          <a:prstGeom prst="ellipse">
            <a:avLst/>
          </a:prstGeom>
          <a:solidFill>
            <a:srgbClr val="F67D4B">
              <a:alpha val="8000"/>
            </a:srgbClr>
          </a:solidFill>
          <a:ln w="12700">
            <a:solidFill>
              <a:srgbClr val="F67D4B">
                <a:alpha val="0"/>
              </a:srgbClr>
            </a:solidFill>
            <a:prstDash val="solid"/>
          </a:ln>
        </p:spPr>
      </p:sp>
      <p:pic>
        <p:nvPicPr>
          <p:cNvPr id="6" name="Image 0" descr="C:/vscode/tech-branding/tech-branding/Clients/RGS/assets/Technijian Logo - white text.png">    </p:cNvPr>
          <p:cNvPicPr>
            <a:picLocks noChangeAspect="1"/>
          </p:cNvPicPr>
          <p:nvPr/>
        </p:nvPicPr>
        <p:blipFill>
          <a:blip r:embed="rId1"/>
          <a:stretch>
            <a:fillRect/>
          </a:stretch>
        </p:blipFill>
        <p:spPr>
          <a:xfrm>
            <a:off x="640080" y="731520"/>
            <a:ext cx="2468880" cy="516502"/>
          </a:xfrm>
          <a:prstGeom prst="rect">
            <a:avLst/>
          </a:prstGeom>
        </p:spPr>
      </p:pic>
      <p:sp>
        <p:nvSpPr>
          <p:cNvPr id="7" name="Shape 4"/>
          <p:cNvSpPr/>
          <p:nvPr/>
        </p:nvSpPr>
        <p:spPr>
          <a:xfrm>
            <a:off x="9144000" y="868680"/>
            <a:ext cx="2377440" cy="292608"/>
          </a:xfrm>
          <a:prstGeom prst="roundRect">
            <a:avLst>
              <a:gd name="adj" fmla="val 12500"/>
            </a:avLst>
          </a:prstGeom>
          <a:solidFill>
            <a:srgbClr val="1A1A2E">
              <a:alpha val="70000"/>
            </a:srgbClr>
          </a:solidFill>
          <a:ln w="12700">
            <a:solidFill>
              <a:srgbClr val="1EAAC8"/>
            </a:solidFill>
            <a:prstDash val="solid"/>
          </a:ln>
        </p:spPr>
      </p:sp>
      <p:sp>
        <p:nvSpPr>
          <p:cNvPr id="8" name="Text 5"/>
          <p:cNvSpPr/>
          <p:nvPr/>
        </p:nvSpPr>
        <p:spPr>
          <a:xfrm>
            <a:off x="9144000" y="868680"/>
            <a:ext cx="2377440" cy="292608"/>
          </a:xfrm>
          <a:prstGeom prst="rect">
            <a:avLst/>
          </a:prstGeom>
          <a:noFill/>
          <a:ln/>
        </p:spPr>
        <p:txBody>
          <a:bodyPr wrap="square" lIns="0" tIns="0" rIns="0" bIns="0" rtlCol="0" anchor="ctr"/>
          <a:lstStyle/>
          <a:p>
            <a:pPr algn="ctr" indent="0" marL="0">
              <a:buNone/>
            </a:pPr>
            <a:r>
              <a:rPr lang="en-US" sz="800" b="1" dirty="0">
                <a:solidFill>
                  <a:srgbClr val="1EAAC8"/>
                </a:solidFill>
                <a:latin typeface="Arial" pitchFamily="34" charset="0"/>
                <a:ea typeface="Arial" pitchFamily="34" charset="-122"/>
                <a:cs typeface="Arial" pitchFamily="34" charset="-120"/>
              </a:rPr>
              <a:t>PREPARED FOR ROG SERVICES</a:t>
            </a:r>
            <a:endParaRPr lang="en-US" sz="800" dirty="0"/>
          </a:p>
        </p:txBody>
      </p:sp>
      <p:sp>
        <p:nvSpPr>
          <p:cNvPr id="9" name="Text 6"/>
          <p:cNvSpPr/>
          <p:nvPr/>
        </p:nvSpPr>
        <p:spPr>
          <a:xfrm>
            <a:off x="640080" y="2011680"/>
            <a:ext cx="1097280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Technijian</a:t>
            </a:r>
            <a:endParaRPr lang="en-US" sz="5200" dirty="0"/>
          </a:p>
        </p:txBody>
      </p:sp>
      <p:sp>
        <p:nvSpPr>
          <p:cNvPr id="10" name="Text 7"/>
          <p:cNvSpPr/>
          <p:nvPr/>
        </p:nvSpPr>
        <p:spPr>
          <a:xfrm>
            <a:off x="640080" y="2880360"/>
            <a:ext cx="11155680" cy="640080"/>
          </a:xfrm>
          <a:prstGeom prst="rect">
            <a:avLst/>
          </a:prstGeom>
          <a:noFill/>
          <a:ln/>
        </p:spPr>
        <p:txBody>
          <a:bodyPr wrap="square" lIns="0" tIns="0" rIns="0" bIns="0" rtlCol="0" anchor="ctr"/>
          <a:lstStyle/>
          <a:p>
            <a:pPr indent="0" marL="0">
              <a:buNone/>
            </a:pPr>
            <a:r>
              <a:rPr lang="en-US" sz="3000" b="1" dirty="0">
                <a:solidFill>
                  <a:srgbClr val="F67D4B"/>
                </a:solidFill>
                <a:latin typeface="Arial" pitchFamily="34" charset="0"/>
                <a:ea typeface="Arial" pitchFamily="34" charset="-122"/>
                <a:cs typeface="Arial" pitchFamily="34" charset="-120"/>
              </a:rPr>
              <a:t>for ROG Services</a:t>
            </a:r>
            <a:endParaRPr lang="en-US" sz="3000" dirty="0"/>
          </a:p>
        </p:txBody>
      </p:sp>
      <p:sp>
        <p:nvSpPr>
          <p:cNvPr id="11" name="Text 8"/>
          <p:cNvSpPr/>
          <p:nvPr/>
        </p:nvSpPr>
        <p:spPr>
          <a:xfrm>
            <a:off x="640080" y="3703320"/>
            <a:ext cx="10789920" cy="457200"/>
          </a:xfrm>
          <a:prstGeom prst="rect">
            <a:avLst/>
          </a:prstGeom>
          <a:noFill/>
          <a:ln/>
        </p:spPr>
        <p:txBody>
          <a:bodyPr wrap="square" lIns="0" tIns="0" rIns="0" bIns="0" rtlCol="0" anchor="ctr"/>
          <a:lstStyle/>
          <a:p>
            <a:pPr indent="0" marL="0">
              <a:buNone/>
            </a:pPr>
            <a:r>
              <a:rPr lang="en-US" sz="1700" dirty="0">
                <a:solidFill>
                  <a:srgbClr val="FFFFFF">
                    <a:alpha val="88000"/>
                  </a:srgbClr>
                </a:solidFill>
                <a:latin typeface="Arial" pitchFamily="34" charset="0"/>
                <a:ea typeface="Arial" pitchFamily="34" charset="-122"/>
                <a:cs typeface="Arial" pitchFamily="34" charset="-120"/>
              </a:rPr>
              <a:t>Managed &amp; co-managed IT, security, and the fiduciary-grade data protection your mission depends on.</a:t>
            </a:r>
            <a:endParaRPr lang="en-US" sz="1700" dirty="0"/>
          </a:p>
        </p:txBody>
      </p:sp>
      <p:sp>
        <p:nvSpPr>
          <p:cNvPr id="12" name="Shape 9"/>
          <p:cNvSpPr/>
          <p:nvPr/>
        </p:nvSpPr>
        <p:spPr>
          <a:xfrm>
            <a:off x="640080" y="4617720"/>
            <a:ext cx="10881360" cy="16459"/>
          </a:xfrm>
          <a:prstGeom prst="rect">
            <a:avLst/>
          </a:prstGeom>
          <a:solidFill>
            <a:srgbClr val="1EAAC8"/>
          </a:solidFill>
          <a:ln w="12700">
            <a:solidFill>
              <a:srgbClr val="1EAAC8">
                <a:alpha val="0"/>
              </a:srgbClr>
            </a:solidFill>
            <a:prstDash val="solid"/>
          </a:ln>
        </p:spPr>
      </p:sp>
      <p:sp>
        <p:nvSpPr>
          <p:cNvPr id="13" name="Text 10"/>
          <p:cNvSpPr/>
          <p:nvPr/>
        </p:nvSpPr>
        <p:spPr>
          <a:xfrm>
            <a:off x="640080" y="4754880"/>
            <a:ext cx="1097280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An introductory IT discovery conversation  ·  Ravi Jain, Founder &amp; CEO, Technijian</a:t>
            </a:r>
            <a:endParaRPr lang="en-US" sz="1100" dirty="0"/>
          </a:p>
        </p:txBody>
      </p:sp>
      <p:sp>
        <p:nvSpPr>
          <p:cNvPr id="14" name="Text 11"/>
          <p:cNvSpPr/>
          <p:nvPr/>
        </p:nvSpPr>
        <p:spPr>
          <a:xfrm>
            <a:off x="640080" y="5102352"/>
            <a:ext cx="11155680" cy="274320"/>
          </a:xfrm>
          <a:prstGeom prst="rect">
            <a:avLst/>
          </a:prstGeom>
          <a:noFill/>
          <a:ln/>
        </p:spPr>
        <p:txBody>
          <a:bodyPr wrap="square" lIns="0" tIns="0" rIns="0" bIns="0" rtlCol="0" anchor="ctr"/>
          <a:lstStyle/>
          <a:p>
            <a:pPr indent="0" marL="0">
              <a:buNone/>
            </a:pPr>
            <a:r>
              <a:rPr lang="en-US" sz="1050" b="1" dirty="0">
                <a:solidFill>
                  <a:srgbClr val="1EAAC8"/>
                </a:solidFill>
                <a:latin typeface="Arial" pitchFamily="34" charset="0"/>
                <a:ea typeface="Arial" pitchFamily="34" charset="-122"/>
                <a:cs typeface="Arial" pitchFamily="34" charset="-120"/>
              </a:rPr>
              <a:t>Nonprofit SSA &amp; VA representative payee  ·  7 offices (CA + MT)  ·  501(c)(3) since 2010  ·  serving clients who can't manage their own benefits</a:t>
            </a:r>
            <a:endParaRPr lang="en-US" sz="1050" dirty="0"/>
          </a:p>
        </p:txBody>
      </p:sp>
      <p:sp>
        <p:nvSpPr>
          <p:cNvPr id="15" name="Text 12"/>
          <p:cNvSpPr/>
          <p:nvPr/>
        </p:nvSpPr>
        <p:spPr>
          <a:xfrm>
            <a:off x="640080" y="5532120"/>
            <a:ext cx="10881360" cy="274320"/>
          </a:xfrm>
          <a:prstGeom prst="rect">
            <a:avLst/>
          </a:prstGeom>
          <a:noFill/>
          <a:ln/>
        </p:spPr>
        <p:txBody>
          <a:bodyPr wrap="square" lIns="0" tIns="0" rIns="0" bIns="0" rtlCol="0" anchor="ctr"/>
          <a:lstStyle/>
          <a:p>
            <a:pPr indent="0" marL="0">
              <a:buNone/>
            </a:pPr>
            <a:r>
              <a:rPr lang="en-US" sz="1000" dirty="0">
                <a:solidFill>
                  <a:srgbClr val="FFFFFF">
                    <a:alpha val="60000"/>
                  </a:srgbClr>
                </a:solidFill>
                <a:latin typeface="Arial" pitchFamily="34" charset="0"/>
                <a:ea typeface="Arial" pitchFamily="34" charset="-122"/>
                <a:cs typeface="Arial" pitchFamily="34" charset="-120"/>
              </a:rPr>
              <a:t>18 Technology Dr. Ste 141, Irvine CA 92618  ·  technijian.com  ·  949.379.8499  ·  technology as a solution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WHY WE'RE HERE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A working conversation — on your terms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You reached out about IT. Today is about understanding how ROG works and where an outside partner genuinely helps — nothing assumed, nothing to sign.</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502920" y="2148840"/>
            <a:ext cx="3657600" cy="4114800"/>
          </a:xfrm>
          <a:prstGeom prst="roundRect">
            <a:avLst>
              <a:gd name="adj" fmla="val 2000"/>
            </a:avLst>
          </a:prstGeom>
          <a:solidFill>
            <a:srgbClr val="1A1A2E"/>
          </a:solidFill>
          <a:ln w="12700">
            <a:solidFill>
              <a:srgbClr val="1A1A2E">
                <a:alpha val="0"/>
              </a:srgbClr>
            </a:solidFill>
            <a:prstDash val="solid"/>
          </a:ln>
        </p:spPr>
      </p:sp>
      <p:sp>
        <p:nvSpPr>
          <p:cNvPr id="12" name="Shape 9"/>
          <p:cNvSpPr/>
          <p:nvPr/>
        </p:nvSpPr>
        <p:spPr>
          <a:xfrm>
            <a:off x="502920" y="2148840"/>
            <a:ext cx="3657600" cy="91440"/>
          </a:xfrm>
          <a:prstGeom prst="rect">
            <a:avLst/>
          </a:prstGeom>
          <a:solidFill>
            <a:srgbClr val="F67D4B"/>
          </a:solidFill>
          <a:ln w="12700">
            <a:solidFill>
              <a:srgbClr val="F67D4B">
                <a:alpha val="0"/>
              </a:srgbClr>
            </a:solidFill>
            <a:prstDash val="solid"/>
          </a:ln>
        </p:spPr>
      </p:sp>
      <p:sp>
        <p:nvSpPr>
          <p:cNvPr id="13" name="Text 10"/>
          <p:cNvSpPr/>
          <p:nvPr/>
        </p:nvSpPr>
        <p:spPr>
          <a:xfrm>
            <a:off x="713232" y="2423160"/>
            <a:ext cx="329184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OUR PROMISE TODAY</a:t>
            </a:r>
            <a:endParaRPr lang="en-US" sz="1000" dirty="0"/>
          </a:p>
        </p:txBody>
      </p:sp>
      <p:sp>
        <p:nvSpPr>
          <p:cNvPr id="14" name="Text 11"/>
          <p:cNvSpPr/>
          <p:nvPr/>
        </p:nvSpPr>
        <p:spPr>
          <a:xfrm>
            <a:off x="713232" y="2788920"/>
            <a:ext cx="3200400" cy="1737360"/>
          </a:xfrm>
          <a:prstGeom prst="rect">
            <a:avLst/>
          </a:prstGeom>
          <a:noFill/>
          <a:ln/>
        </p:spPr>
        <p:txBody>
          <a:bodyPr wrap="square" lIns="0" tIns="0" rIns="0" bIns="0" rtlCol="0" anchor="t"/>
          <a:lstStyle/>
          <a:p>
            <a:pPr indent="0" marL="0">
              <a:buNone/>
            </a:pPr>
            <a:r>
              <a:rPr lang="en-US" sz="1350" dirty="0">
                <a:solidFill>
                  <a:srgbClr val="FFFFFF">
                    <a:alpha val="94000"/>
                  </a:srgbClr>
                </a:solidFill>
                <a:latin typeface="Arial" pitchFamily="34" charset="0"/>
                <a:ea typeface="Arial" pitchFamily="34" charset="-122"/>
                <a:cs typeface="Arial" pitchFamily="34" charset="-120"/>
              </a:rPr>
              <a:t>We're not here to sell you a network you didn't ask for. We're here to understand how you protect the people you serve — and find the two or three places an outside team genuinely takes work off your plate.</a:t>
            </a:r>
            <a:endParaRPr lang="en-US" sz="1350" dirty="0"/>
          </a:p>
        </p:txBody>
      </p:sp>
      <p:sp>
        <p:nvSpPr>
          <p:cNvPr id="15" name="Text 12"/>
          <p:cNvSpPr/>
          <p:nvPr/>
        </p:nvSpPr>
        <p:spPr>
          <a:xfrm>
            <a:off x="713232" y="5029200"/>
            <a:ext cx="3200400" cy="1097280"/>
          </a:xfrm>
          <a:prstGeom prst="rect">
            <a:avLst/>
          </a:prstGeom>
          <a:noFill/>
          <a:ln/>
        </p:spPr>
        <p:txBody>
          <a:bodyPr wrap="square" lIns="0" tIns="0" rIns="0" bIns="0" rtlCol="0" anchor="t"/>
          <a:lstStyle/>
          <a:p>
            <a:pPr indent="0" marL="0">
              <a:buNone/>
            </a:pPr>
            <a:r>
              <a:rPr lang="en-US" sz="1200" b="1" dirty="0">
                <a:solidFill>
                  <a:srgbClr val="1EAAC8"/>
                </a:solidFill>
              </a:rPr>
              <a:t>You stay in control.
</a:t>
            </a:r>
            <a:pPr indent="0" marL="0">
              <a:buNone/>
            </a:pPr>
            <a:r>
              <a:rPr lang="en-US" sz="1200" dirty="0">
                <a:solidFill>
                  <a:srgbClr val="FFFFFF">
                    <a:alpha val="88000"/>
                  </a:srgbClr>
                </a:solidFill>
              </a:rPr>
              <a:t>We right-size to a nonprofit budget and fill the gaps a small team can't staff around the clock.</a:t>
            </a:r>
            <a:endParaRPr lang="en-US" sz="1200" dirty="0"/>
          </a:p>
        </p:txBody>
      </p:sp>
      <p:sp>
        <p:nvSpPr>
          <p:cNvPr id="16" name="Shape 13"/>
          <p:cNvSpPr/>
          <p:nvPr/>
        </p:nvSpPr>
        <p:spPr>
          <a:xfrm>
            <a:off x="4389120" y="2194560"/>
            <a:ext cx="502920" cy="502920"/>
          </a:xfrm>
          <a:prstGeom prst="roundRect">
            <a:avLst>
              <a:gd name="adj" fmla="val 18182"/>
            </a:avLst>
          </a:prstGeom>
          <a:solidFill>
            <a:srgbClr val="006DB6"/>
          </a:solidFill>
          <a:ln w="12700">
            <a:solidFill>
              <a:srgbClr val="006DB6">
                <a:alpha val="0"/>
              </a:srgbClr>
            </a:solidFill>
            <a:prstDash val="solid"/>
          </a:ln>
        </p:spPr>
      </p:sp>
      <p:sp>
        <p:nvSpPr>
          <p:cNvPr id="17" name="Text 14"/>
          <p:cNvSpPr/>
          <p:nvPr/>
        </p:nvSpPr>
        <p:spPr>
          <a:xfrm>
            <a:off x="4389120" y="2194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5074920" y="217627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we verified about you</a:t>
            </a:r>
            <a:endParaRPr lang="en-US" sz="1400" dirty="0"/>
          </a:p>
        </p:txBody>
      </p:sp>
      <p:sp>
        <p:nvSpPr>
          <p:cNvPr id="19" name="Text 16"/>
          <p:cNvSpPr/>
          <p:nvPr/>
        </p:nvSpPr>
        <p:spPr>
          <a:xfrm>
            <a:off x="5074920" y="244144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From public sources only — said back so you can correct anything.</a:t>
            </a:r>
            <a:endParaRPr lang="en-US" sz="1050" dirty="0"/>
          </a:p>
        </p:txBody>
      </p:sp>
      <p:sp>
        <p:nvSpPr>
          <p:cNvPr id="20" name="Shape 17"/>
          <p:cNvSpPr/>
          <p:nvPr/>
        </p:nvSpPr>
        <p:spPr>
          <a:xfrm>
            <a:off x="4389120" y="2871216"/>
            <a:ext cx="502920" cy="502920"/>
          </a:xfrm>
          <a:prstGeom prst="roundRect">
            <a:avLst>
              <a:gd name="adj" fmla="val 18182"/>
            </a:avLst>
          </a:prstGeom>
          <a:solidFill>
            <a:srgbClr val="1EAAC8"/>
          </a:solidFill>
          <a:ln w="12700">
            <a:solidFill>
              <a:srgbClr val="1EAAC8">
                <a:alpha val="0"/>
              </a:srgbClr>
            </a:solidFill>
            <a:prstDash val="solid"/>
          </a:ln>
        </p:spPr>
      </p:sp>
      <p:sp>
        <p:nvSpPr>
          <p:cNvPr id="21" name="Text 18"/>
          <p:cNvSpPr/>
          <p:nvPr/>
        </p:nvSpPr>
        <p:spPr>
          <a:xfrm>
            <a:off x="4389120" y="28712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9"/>
          <p:cNvSpPr/>
          <p:nvPr/>
        </p:nvSpPr>
        <p:spPr>
          <a:xfrm>
            <a:off x="5074920" y="2852928"/>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Who Technijian is</a:t>
            </a:r>
            <a:endParaRPr lang="en-US" sz="1400" dirty="0"/>
          </a:p>
        </p:txBody>
      </p:sp>
      <p:sp>
        <p:nvSpPr>
          <p:cNvPr id="23" name="Text 20"/>
          <p:cNvSpPr/>
          <p:nvPr/>
        </p:nvSpPr>
        <p:spPr>
          <a:xfrm>
            <a:off x="5074920" y="3118104"/>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25+ years, security-first, a dedicated team model — in 20 seconds.</a:t>
            </a:r>
            <a:endParaRPr lang="en-US" sz="1050" dirty="0"/>
          </a:p>
        </p:txBody>
      </p:sp>
      <p:sp>
        <p:nvSpPr>
          <p:cNvPr id="24" name="Shape 21"/>
          <p:cNvSpPr/>
          <p:nvPr/>
        </p:nvSpPr>
        <p:spPr>
          <a:xfrm>
            <a:off x="4389120" y="3547872"/>
            <a:ext cx="502920" cy="502920"/>
          </a:xfrm>
          <a:prstGeom prst="roundRect">
            <a:avLst>
              <a:gd name="adj" fmla="val 18182"/>
            </a:avLst>
          </a:prstGeom>
          <a:solidFill>
            <a:srgbClr val="006DB6"/>
          </a:solidFill>
          <a:ln w="12700">
            <a:solidFill>
              <a:srgbClr val="006DB6">
                <a:alpha val="0"/>
              </a:srgbClr>
            </a:solidFill>
            <a:prstDash val="solid"/>
          </a:ln>
        </p:spPr>
      </p:sp>
      <p:sp>
        <p:nvSpPr>
          <p:cNvPr id="25" name="Text 22"/>
          <p:cNvSpPr/>
          <p:nvPr/>
        </p:nvSpPr>
        <p:spPr>
          <a:xfrm>
            <a:off x="4389120" y="3547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3"/>
          <p:cNvSpPr/>
          <p:nvPr/>
        </p:nvSpPr>
        <p:spPr>
          <a:xfrm>
            <a:off x="5074920" y="3529584"/>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How we'd fit</a:t>
            </a:r>
            <a:endParaRPr lang="en-US" sz="1400" dirty="0"/>
          </a:p>
        </p:txBody>
      </p:sp>
      <p:sp>
        <p:nvSpPr>
          <p:cNvPr id="27" name="Text 24"/>
          <p:cNvSpPr/>
          <p:nvPr/>
        </p:nvSpPr>
        <p:spPr>
          <a:xfrm>
            <a:off x="5074920" y="3794760"/>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Managed or co-managed — we flex to whoever runs your IT today.</a:t>
            </a:r>
            <a:endParaRPr lang="en-US" sz="1050" dirty="0"/>
          </a:p>
        </p:txBody>
      </p:sp>
      <p:sp>
        <p:nvSpPr>
          <p:cNvPr id="28" name="Shape 25"/>
          <p:cNvSpPr/>
          <p:nvPr/>
        </p:nvSpPr>
        <p:spPr>
          <a:xfrm>
            <a:off x="4389120" y="4224528"/>
            <a:ext cx="502920" cy="502920"/>
          </a:xfrm>
          <a:prstGeom prst="roundRect">
            <a:avLst>
              <a:gd name="adj" fmla="val 18182"/>
            </a:avLst>
          </a:prstGeom>
          <a:solidFill>
            <a:srgbClr val="1EAAC8"/>
          </a:solidFill>
          <a:ln w="12700">
            <a:solidFill>
              <a:srgbClr val="1EAAC8">
                <a:alpha val="0"/>
              </a:srgbClr>
            </a:solidFill>
            <a:prstDash val="solid"/>
          </a:ln>
        </p:spPr>
      </p:sp>
      <p:sp>
        <p:nvSpPr>
          <p:cNvPr id="29" name="Text 26"/>
          <p:cNvSpPr/>
          <p:nvPr/>
        </p:nvSpPr>
        <p:spPr>
          <a:xfrm>
            <a:off x="4389120" y="42245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7"/>
          <p:cNvSpPr/>
          <p:nvPr/>
        </p:nvSpPr>
        <p:spPr>
          <a:xfrm>
            <a:off x="5074920" y="4206240"/>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Security &amp; your fiduciary duty</a:t>
            </a:r>
            <a:endParaRPr lang="en-US" sz="1400" dirty="0"/>
          </a:p>
        </p:txBody>
      </p:sp>
      <p:sp>
        <p:nvSpPr>
          <p:cNvPr id="31" name="Text 28"/>
          <p:cNvSpPr/>
          <p:nvPr/>
        </p:nvSpPr>
        <p:spPr>
          <a:xfrm>
            <a:off x="5074920" y="4471416"/>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Protecting SSNs, benefit funds, and the people behind them.</a:t>
            </a:r>
            <a:endParaRPr lang="en-US" sz="1050" dirty="0"/>
          </a:p>
        </p:txBody>
      </p:sp>
      <p:sp>
        <p:nvSpPr>
          <p:cNvPr id="32" name="Shape 29"/>
          <p:cNvSpPr/>
          <p:nvPr/>
        </p:nvSpPr>
        <p:spPr>
          <a:xfrm>
            <a:off x="4389120" y="4901184"/>
            <a:ext cx="502920" cy="502920"/>
          </a:xfrm>
          <a:prstGeom prst="roundRect">
            <a:avLst>
              <a:gd name="adj" fmla="val 18182"/>
            </a:avLst>
          </a:prstGeom>
          <a:solidFill>
            <a:srgbClr val="006DB6"/>
          </a:solidFill>
          <a:ln w="12700">
            <a:solidFill>
              <a:srgbClr val="006DB6">
                <a:alpha val="0"/>
              </a:srgbClr>
            </a:solidFill>
            <a:prstDash val="solid"/>
          </a:ln>
        </p:spPr>
      </p:sp>
      <p:sp>
        <p:nvSpPr>
          <p:cNvPr id="33" name="Text 30"/>
          <p:cNvSpPr/>
          <p:nvPr/>
        </p:nvSpPr>
        <p:spPr>
          <a:xfrm>
            <a:off x="438912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4" name="Text 31"/>
          <p:cNvSpPr/>
          <p:nvPr/>
        </p:nvSpPr>
        <p:spPr>
          <a:xfrm>
            <a:off x="5074920" y="4882896"/>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Your questions</a:t>
            </a:r>
            <a:endParaRPr lang="en-US" sz="1400" dirty="0"/>
          </a:p>
        </p:txBody>
      </p:sp>
      <p:sp>
        <p:nvSpPr>
          <p:cNvPr id="35" name="Text 32"/>
          <p:cNvSpPr/>
          <p:nvPr/>
        </p:nvSpPr>
        <p:spPr>
          <a:xfrm>
            <a:off x="5074920" y="5148072"/>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heart of the meeting — your world, your priorities.</a:t>
            </a:r>
            <a:endParaRPr lang="en-US" sz="1050" dirty="0"/>
          </a:p>
        </p:txBody>
      </p:sp>
      <p:sp>
        <p:nvSpPr>
          <p:cNvPr id="36" name="Shape 33"/>
          <p:cNvSpPr/>
          <p:nvPr/>
        </p:nvSpPr>
        <p:spPr>
          <a:xfrm>
            <a:off x="4389120" y="5577840"/>
            <a:ext cx="502920" cy="502920"/>
          </a:xfrm>
          <a:prstGeom prst="roundRect">
            <a:avLst>
              <a:gd name="adj" fmla="val 18182"/>
            </a:avLst>
          </a:prstGeom>
          <a:solidFill>
            <a:srgbClr val="1EAAC8"/>
          </a:solidFill>
          <a:ln w="12700">
            <a:solidFill>
              <a:srgbClr val="1EAAC8">
                <a:alpha val="0"/>
              </a:srgbClr>
            </a:solidFill>
            <a:prstDash val="solid"/>
          </a:ln>
        </p:spPr>
      </p:sp>
      <p:sp>
        <p:nvSpPr>
          <p:cNvPr id="37" name="Text 34"/>
          <p:cNvSpPr/>
          <p:nvPr/>
        </p:nvSpPr>
        <p:spPr>
          <a:xfrm>
            <a:off x="4389120" y="5577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8" name="Text 35"/>
          <p:cNvSpPr/>
          <p:nvPr/>
        </p:nvSpPr>
        <p:spPr>
          <a:xfrm>
            <a:off x="5074920" y="555955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A free, no-commitment next step</a:t>
            </a:r>
            <a:endParaRPr lang="en-US" sz="1400" dirty="0"/>
          </a:p>
        </p:txBody>
      </p:sp>
      <p:sp>
        <p:nvSpPr>
          <p:cNvPr id="39" name="Text 36"/>
          <p:cNvSpPr/>
          <p:nvPr/>
        </p:nvSpPr>
        <p:spPr>
          <a:xfrm>
            <a:off x="5074920" y="582472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security read of your environment that's yours to keep.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WE VERIFIED</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we know — from public sources only</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Everything here is from your website and public filings. We've assumed nothing about your systems. If we got anything wrong, now's the time to fix it.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11" name="Shape 8"/>
          <p:cNvSpPr/>
          <p:nvPr/>
        </p:nvSpPr>
        <p:spPr>
          <a:xfrm>
            <a:off x="502920"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2" name="Text 9"/>
          <p:cNvSpPr/>
          <p:nvPr/>
        </p:nvSpPr>
        <p:spPr>
          <a:xfrm>
            <a:off x="502920" y="2249424"/>
            <a:ext cx="2615184" cy="566928"/>
          </a:xfrm>
          <a:prstGeom prst="rect">
            <a:avLst/>
          </a:prstGeom>
          <a:noFill/>
          <a:ln/>
        </p:spPr>
        <p:txBody>
          <a:bodyPr wrap="square" lIns="0" tIns="0" rIns="0" bIns="0" rtlCol="0" anchor="ctr"/>
          <a:lstStyle/>
          <a:p>
            <a:pPr algn="ctr" indent="0" marL="0">
              <a:buNone/>
            </a:pPr>
            <a:r>
              <a:rPr lang="en-US" sz="2500" b="1" dirty="0">
                <a:solidFill>
                  <a:srgbClr val="F67D4B"/>
                </a:solidFill>
                <a:latin typeface="Arial" pitchFamily="34" charset="0"/>
                <a:ea typeface="Arial" pitchFamily="34" charset="-122"/>
                <a:cs typeface="Arial" pitchFamily="34" charset="-120"/>
              </a:rPr>
              <a:t>2010</a:t>
            </a:r>
            <a:endParaRPr lang="en-US" sz="2500" dirty="0"/>
          </a:p>
        </p:txBody>
      </p:sp>
      <p:sp>
        <p:nvSpPr>
          <p:cNvPr id="13" name="Text 10"/>
          <p:cNvSpPr/>
          <p:nvPr/>
        </p:nvSpPr>
        <p:spPr>
          <a:xfrm>
            <a:off x="594360"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501(C)(3) FOUNDED</a:t>
            </a:r>
            <a:endParaRPr lang="en-US" sz="900" dirty="0"/>
          </a:p>
        </p:txBody>
      </p:sp>
      <p:sp>
        <p:nvSpPr>
          <p:cNvPr id="14" name="Shape 11"/>
          <p:cNvSpPr/>
          <p:nvPr/>
        </p:nvSpPr>
        <p:spPr>
          <a:xfrm>
            <a:off x="3300984"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5" name="Text 12"/>
          <p:cNvSpPr/>
          <p:nvPr/>
        </p:nvSpPr>
        <p:spPr>
          <a:xfrm>
            <a:off x="3300984" y="2249424"/>
            <a:ext cx="2615184" cy="566928"/>
          </a:xfrm>
          <a:prstGeom prst="rect">
            <a:avLst/>
          </a:prstGeom>
          <a:noFill/>
          <a:ln/>
        </p:spPr>
        <p:txBody>
          <a:bodyPr wrap="square" lIns="0" tIns="0" rIns="0" bIns="0" rtlCol="0" anchor="ctr"/>
          <a:lstStyle/>
          <a:p>
            <a:pPr algn="ctr" indent="0" marL="0">
              <a:buNone/>
            </a:pPr>
            <a:r>
              <a:rPr lang="en-US" sz="2500" b="1" dirty="0">
                <a:solidFill>
                  <a:srgbClr val="F67D4B"/>
                </a:solidFill>
                <a:latin typeface="Arial" pitchFamily="34" charset="0"/>
                <a:ea typeface="Arial" pitchFamily="34" charset="-122"/>
                <a:cs typeface="Arial" pitchFamily="34" charset="-120"/>
              </a:rPr>
              <a:t>7</a:t>
            </a:r>
            <a:endParaRPr lang="en-US" sz="2500" dirty="0"/>
          </a:p>
        </p:txBody>
      </p:sp>
      <p:sp>
        <p:nvSpPr>
          <p:cNvPr id="16" name="Text 13"/>
          <p:cNvSpPr/>
          <p:nvPr/>
        </p:nvSpPr>
        <p:spPr>
          <a:xfrm>
            <a:off x="3392424"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OFFICES · CA + MONTANA</a:t>
            </a:r>
            <a:endParaRPr lang="en-US" sz="900" dirty="0"/>
          </a:p>
        </p:txBody>
      </p:sp>
      <p:sp>
        <p:nvSpPr>
          <p:cNvPr id="17" name="Shape 14"/>
          <p:cNvSpPr/>
          <p:nvPr/>
        </p:nvSpPr>
        <p:spPr>
          <a:xfrm>
            <a:off x="6099048"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8" name="Text 15"/>
          <p:cNvSpPr/>
          <p:nvPr/>
        </p:nvSpPr>
        <p:spPr>
          <a:xfrm>
            <a:off x="6099048" y="2249424"/>
            <a:ext cx="2615184" cy="566928"/>
          </a:xfrm>
          <a:prstGeom prst="rect">
            <a:avLst/>
          </a:prstGeom>
          <a:noFill/>
          <a:ln/>
        </p:spPr>
        <p:txBody>
          <a:bodyPr wrap="square" lIns="0" tIns="0" rIns="0" bIns="0" rtlCol="0" anchor="ctr"/>
          <a:lstStyle/>
          <a:p>
            <a:pPr algn="ctr" indent="0" marL="0">
              <a:buNone/>
            </a:pPr>
            <a:r>
              <a:rPr lang="en-US" sz="2500" b="1" dirty="0">
                <a:solidFill>
                  <a:srgbClr val="F67D4B"/>
                </a:solidFill>
                <a:latin typeface="Arial" pitchFamily="34" charset="0"/>
                <a:ea typeface="Arial" pitchFamily="34" charset="-122"/>
                <a:cs typeface="Arial" pitchFamily="34" charset="-120"/>
              </a:rPr>
              <a:t>2,100+</a:t>
            </a:r>
            <a:endParaRPr lang="en-US" sz="2500" dirty="0"/>
          </a:p>
        </p:txBody>
      </p:sp>
      <p:sp>
        <p:nvSpPr>
          <p:cNvPr id="19" name="Text 16"/>
          <p:cNvSpPr/>
          <p:nvPr/>
        </p:nvSpPr>
        <p:spPr>
          <a:xfrm>
            <a:off x="6190488"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CLIENTS SERVED (ROG'S FIGURE)</a:t>
            </a:r>
            <a:endParaRPr lang="en-US" sz="900" dirty="0"/>
          </a:p>
        </p:txBody>
      </p:sp>
      <p:sp>
        <p:nvSpPr>
          <p:cNvPr id="20" name="Shape 17"/>
          <p:cNvSpPr/>
          <p:nvPr/>
        </p:nvSpPr>
        <p:spPr>
          <a:xfrm>
            <a:off x="8897112"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21" name="Text 18"/>
          <p:cNvSpPr/>
          <p:nvPr/>
        </p:nvSpPr>
        <p:spPr>
          <a:xfrm>
            <a:off x="8897112" y="2249424"/>
            <a:ext cx="2615184" cy="566928"/>
          </a:xfrm>
          <a:prstGeom prst="rect">
            <a:avLst/>
          </a:prstGeom>
          <a:noFill/>
          <a:ln/>
        </p:spPr>
        <p:txBody>
          <a:bodyPr wrap="square" lIns="0" tIns="0" rIns="0" bIns="0" rtlCol="0" anchor="ctr"/>
          <a:lstStyle/>
          <a:p>
            <a:pPr algn="ctr" indent="0" marL="0">
              <a:buNone/>
            </a:pPr>
            <a:r>
              <a:rPr lang="en-US" sz="2500" b="1" dirty="0">
                <a:solidFill>
                  <a:srgbClr val="F67D4B"/>
                </a:solidFill>
                <a:latin typeface="Arial" pitchFamily="34" charset="0"/>
                <a:ea typeface="Arial" pitchFamily="34" charset="-122"/>
                <a:cs typeface="Arial" pitchFamily="34" charset="-120"/>
              </a:rPr>
              <a:t>SSA + VA</a:t>
            </a:r>
            <a:endParaRPr lang="en-US" sz="2500" dirty="0"/>
          </a:p>
        </p:txBody>
      </p:sp>
      <p:sp>
        <p:nvSpPr>
          <p:cNvPr id="22" name="Text 19"/>
          <p:cNvSpPr/>
          <p:nvPr/>
        </p:nvSpPr>
        <p:spPr>
          <a:xfrm>
            <a:off x="8988552"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REP PAYEE / FIDUCIARY</a:t>
            </a:r>
            <a:endParaRPr lang="en-US" sz="900" dirty="0"/>
          </a:p>
        </p:txBody>
      </p:sp>
      <p:sp>
        <p:nvSpPr>
          <p:cNvPr id="23" name="Shape 20"/>
          <p:cNvSpPr/>
          <p:nvPr/>
        </p:nvSpPr>
        <p:spPr>
          <a:xfrm>
            <a:off x="502920" y="3611880"/>
            <a:ext cx="11201400" cy="2560320"/>
          </a:xfrm>
          <a:prstGeom prst="roundRect">
            <a:avLst>
              <a:gd name="adj" fmla="val 2857"/>
            </a:avLst>
          </a:prstGeom>
          <a:solidFill>
            <a:srgbClr val="FFFFFF"/>
          </a:solidFill>
          <a:ln w="12700">
            <a:solidFill>
              <a:srgbClr val="D8E0EA"/>
            </a:solidFill>
            <a:prstDash val="solid"/>
          </a:ln>
        </p:spPr>
      </p:sp>
      <p:sp>
        <p:nvSpPr>
          <p:cNvPr id="24" name="Shape 21"/>
          <p:cNvSpPr/>
          <p:nvPr/>
        </p:nvSpPr>
        <p:spPr>
          <a:xfrm>
            <a:off x="502920" y="3611880"/>
            <a:ext cx="109728" cy="2560320"/>
          </a:xfrm>
          <a:prstGeom prst="rect">
            <a:avLst/>
          </a:prstGeom>
          <a:solidFill>
            <a:srgbClr val="1EAAC8"/>
          </a:solidFill>
          <a:ln w="12700">
            <a:solidFill>
              <a:srgbClr val="1EAAC8">
                <a:alpha val="0"/>
              </a:srgbClr>
            </a:solidFill>
            <a:prstDash val="solid"/>
          </a:ln>
        </p:spPr>
      </p:sp>
      <p:sp>
        <p:nvSpPr>
          <p:cNvPr id="25" name="Text 22"/>
          <p:cNvSpPr/>
          <p:nvPr/>
        </p:nvSpPr>
        <p:spPr>
          <a:xfrm>
            <a:off x="777240" y="3794760"/>
            <a:ext cx="10607040" cy="27432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THAT TELLS US</a:t>
            </a:r>
            <a:endParaRPr lang="en-US" sz="1000" dirty="0"/>
          </a:p>
        </p:txBody>
      </p:sp>
      <p:sp>
        <p:nvSpPr>
          <p:cNvPr id="26" name="Text 23"/>
          <p:cNvSpPr/>
          <p:nvPr/>
        </p:nvSpPr>
        <p:spPr>
          <a:xfrm>
            <a:off x="777240" y="4114800"/>
            <a:ext cx="10698480" cy="1920240"/>
          </a:xfrm>
          <a:prstGeom prst="rect">
            <a:avLst/>
          </a:prstGeom>
          <a:noFill/>
          <a:ln/>
        </p:spPr>
        <p:txBody>
          <a:bodyPr wrap="square" lIns="0" tIns="0" rIns="0" bIns="0" rtlCol="0" anchor="t"/>
          <a:lstStyle/>
          <a:p>
            <a:pPr indent="0" marL="0">
              <a:buNone/>
            </a:pPr>
            <a:r>
              <a:rPr lang="en-US" sz="1250" b="1" dirty="0">
                <a:solidFill>
                  <a:srgbClr val="1A1A2E"/>
                </a:solidFill>
              </a:rPr>
              <a:t>You're a fiduciary who moves money. </a:t>
            </a:r>
            <a:pPr indent="0" marL="0">
              <a:buNone/>
            </a:pPr>
            <a:r>
              <a:rPr lang="en-US" sz="1250" dirty="0">
                <a:solidFill>
                  <a:srgbClr val="334155"/>
                </a:solidFill>
              </a:rPr>
              <a:t>As an SSA &amp; VA representative payee you receive and disburse benefits — and remotely load prepaid debit cards — for people who can't manage their own funds. That makes your operation a payments operation, with all the risk that carries.
</a:t>
            </a:r>
            <a:pPr indent="0" marL="0">
              <a:buNone/>
            </a:pPr>
            <a:r>
              <a:rPr lang="en-US" sz="1250" b="1" dirty="0">
                <a:solidFill>
                  <a:srgbClr val="1A1A2E"/>
                </a:solidFill>
              </a:rPr>
              <a:t>You hold deeply sensitive data. </a:t>
            </a:r>
            <a:pPr indent="0" marL="0">
              <a:buNone/>
            </a:pPr>
            <a:r>
              <a:rPr lang="en-US" sz="1250" dirty="0">
                <a:solidFill>
                  <a:srgbClr val="334155"/>
                </a:solidFill>
              </a:rPr>
              <a:t>SSNs, bank-account details, and health/disability information on a vulnerable population — exactly the data attackers and fraudsters target hardest.
</a:t>
            </a:r>
            <a:pPr indent="0" marL="0">
              <a:buNone/>
            </a:pPr>
            <a:r>
              <a:rPr lang="en-US" sz="1250" b="1" dirty="0">
                <a:solidFill>
                  <a:srgbClr val="1A1A2E"/>
                </a:solidFill>
              </a:rPr>
              <a:t>You run multi-site, on a nonprofit budget. </a:t>
            </a:r>
            <a:pPr indent="0" marL="0">
              <a:buNone/>
            </a:pPr>
            <a:r>
              <a:rPr lang="en-US" sz="1250" dirty="0">
                <a:solidFill>
                  <a:srgbClr val="334155"/>
                </a:solidFill>
              </a:rPr>
              <a:t>Seven offices across California and Montana, a small team, and a mission to protect — so the answer has to be right-sized, not enterprise-priced.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WHO WE ARE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Technijian, in 20 seconds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Enough to know we're a serious, local, security-first partner who works with nonprofits — then back to you.</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11" name="Shape 8"/>
          <p:cNvSpPr/>
          <p:nvPr/>
        </p:nvSpPr>
        <p:spPr>
          <a:xfrm>
            <a:off x="502920" y="2103120"/>
            <a:ext cx="5486400" cy="1828800"/>
          </a:xfrm>
          <a:prstGeom prst="roundRect">
            <a:avLst>
              <a:gd name="adj" fmla="val 4000"/>
            </a:avLst>
          </a:prstGeom>
          <a:solidFill>
            <a:srgbClr val="FFFFFF"/>
          </a:solidFill>
          <a:ln w="12700">
            <a:solidFill>
              <a:srgbClr val="D8E0EA"/>
            </a:solidFill>
            <a:prstDash val="solid"/>
          </a:ln>
        </p:spPr>
      </p:sp>
      <p:sp>
        <p:nvSpPr>
          <p:cNvPr id="12" name="Shape 9"/>
          <p:cNvSpPr/>
          <p:nvPr/>
        </p:nvSpPr>
        <p:spPr>
          <a:xfrm>
            <a:off x="502920" y="2103120"/>
            <a:ext cx="548640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51572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SINCE 2000</a:t>
            </a:r>
            <a:endParaRPr lang="en-US" sz="900" dirty="0"/>
          </a:p>
        </p:txBody>
      </p:sp>
      <p:sp>
        <p:nvSpPr>
          <p:cNvPr id="14" name="Text 11"/>
          <p:cNvSpPr/>
          <p:nvPr/>
        </p:nvSpPr>
        <p:spPr>
          <a:xfrm>
            <a:off x="667512"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25+ years, still here</a:t>
            </a:r>
            <a:endParaRPr lang="en-US" sz="1600" dirty="0"/>
          </a:p>
        </p:txBody>
      </p:sp>
      <p:sp>
        <p:nvSpPr>
          <p:cNvPr id="15" name="Text 12"/>
          <p:cNvSpPr/>
          <p:nvPr/>
        </p:nvSpPr>
        <p:spPr>
          <a:xfrm>
            <a:off x="667512"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An Irvine-based IT firm founded in 2000, with a Panchkula, India delivery center for true follow-the-sun coverage. We build long relationships — not flip-and-churn engagements.</a:t>
            </a:r>
            <a:endParaRPr lang="en-US" sz="1150" dirty="0"/>
          </a:p>
        </p:txBody>
      </p:sp>
      <p:sp>
        <p:nvSpPr>
          <p:cNvPr id="16" name="Shape 13"/>
          <p:cNvSpPr/>
          <p:nvPr/>
        </p:nvSpPr>
        <p:spPr>
          <a:xfrm>
            <a:off x="6199632" y="2103120"/>
            <a:ext cx="5486400" cy="1828800"/>
          </a:xfrm>
          <a:prstGeom prst="roundRect">
            <a:avLst>
              <a:gd name="adj" fmla="val 4000"/>
            </a:avLst>
          </a:prstGeom>
          <a:solidFill>
            <a:srgbClr val="FFFFFF"/>
          </a:solidFill>
          <a:ln w="12700">
            <a:solidFill>
              <a:srgbClr val="D8E0EA"/>
            </a:solidFill>
            <a:prstDash val="solid"/>
          </a:ln>
        </p:spPr>
      </p:sp>
      <p:sp>
        <p:nvSpPr>
          <p:cNvPr id="17" name="Shape 14"/>
          <p:cNvSpPr/>
          <p:nvPr/>
        </p:nvSpPr>
        <p:spPr>
          <a:xfrm>
            <a:off x="6199632" y="2103120"/>
            <a:ext cx="5486400" cy="91440"/>
          </a:xfrm>
          <a:prstGeom prst="rect">
            <a:avLst/>
          </a:prstGeom>
          <a:solidFill>
            <a:srgbClr val="F67D4B"/>
          </a:solidFill>
          <a:ln w="12700">
            <a:solidFill>
              <a:srgbClr val="F67D4B">
                <a:alpha val="0"/>
              </a:srgbClr>
            </a:solidFill>
            <a:prstDash val="solid"/>
          </a:ln>
        </p:spPr>
      </p:sp>
      <p:sp>
        <p:nvSpPr>
          <p:cNvPr id="18" name="Text 15"/>
          <p:cNvSpPr/>
          <p:nvPr/>
        </p:nvSpPr>
        <p:spPr>
          <a:xfrm>
            <a:off x="6364224" y="2286000"/>
            <a:ext cx="515721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POD MODEL</a:t>
            </a:r>
            <a:endParaRPr lang="en-US" sz="900" dirty="0"/>
          </a:p>
        </p:txBody>
      </p:sp>
      <p:sp>
        <p:nvSpPr>
          <p:cNvPr id="19" name="Text 16"/>
          <p:cNvSpPr/>
          <p:nvPr/>
        </p:nvSpPr>
        <p:spPr>
          <a:xfrm>
            <a:off x="6364224"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A team that knows you</a:t>
            </a:r>
            <a:endParaRPr lang="en-US" sz="1600" dirty="0"/>
          </a:p>
        </p:txBody>
      </p:sp>
      <p:sp>
        <p:nvSpPr>
          <p:cNvPr id="20" name="Text 17"/>
          <p:cNvSpPr/>
          <p:nvPr/>
        </p:nvSpPr>
        <p:spPr>
          <a:xfrm>
            <a:off x="6364224"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You get a dedicated pod — a named team that learns your environment — not a different stranger on every ticket. It's the single thing clients tell us they were missing before.</a:t>
            </a:r>
            <a:endParaRPr lang="en-US" sz="1150" dirty="0"/>
          </a:p>
        </p:txBody>
      </p:sp>
      <p:sp>
        <p:nvSpPr>
          <p:cNvPr id="21" name="Shape 18"/>
          <p:cNvSpPr/>
          <p:nvPr/>
        </p:nvSpPr>
        <p:spPr>
          <a:xfrm>
            <a:off x="502920" y="4114800"/>
            <a:ext cx="5486400" cy="1828800"/>
          </a:xfrm>
          <a:prstGeom prst="roundRect">
            <a:avLst>
              <a:gd name="adj" fmla="val 4000"/>
            </a:avLst>
          </a:prstGeom>
          <a:solidFill>
            <a:srgbClr val="FFFFFF"/>
          </a:solidFill>
          <a:ln w="12700">
            <a:solidFill>
              <a:srgbClr val="D8E0EA"/>
            </a:solidFill>
            <a:prstDash val="solid"/>
          </a:ln>
        </p:spPr>
      </p:sp>
      <p:sp>
        <p:nvSpPr>
          <p:cNvPr id="22" name="Shape 19"/>
          <p:cNvSpPr/>
          <p:nvPr/>
        </p:nvSpPr>
        <p:spPr>
          <a:xfrm>
            <a:off x="502920" y="4114800"/>
            <a:ext cx="5486400" cy="91440"/>
          </a:xfrm>
          <a:prstGeom prst="rect">
            <a:avLst/>
          </a:prstGeom>
          <a:solidFill>
            <a:srgbClr val="1EAAC8"/>
          </a:solidFill>
          <a:ln w="12700">
            <a:solidFill>
              <a:srgbClr val="1EAAC8">
                <a:alpha val="0"/>
              </a:srgbClr>
            </a:solidFill>
            <a:prstDash val="solid"/>
          </a:ln>
        </p:spPr>
      </p:sp>
      <p:sp>
        <p:nvSpPr>
          <p:cNvPr id="23" name="Text 20"/>
          <p:cNvSpPr/>
          <p:nvPr/>
        </p:nvSpPr>
        <p:spPr>
          <a:xfrm>
            <a:off x="667512" y="4297680"/>
            <a:ext cx="51572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SECURITY-FIRST</a:t>
            </a:r>
            <a:endParaRPr lang="en-US" sz="900" dirty="0"/>
          </a:p>
        </p:txBody>
      </p:sp>
      <p:sp>
        <p:nvSpPr>
          <p:cNvPr id="24" name="Text 21"/>
          <p:cNvSpPr/>
          <p:nvPr/>
        </p:nvSpPr>
        <p:spPr>
          <a:xfrm>
            <a:off x="667512"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Built in, not bolted on</a:t>
            </a:r>
            <a:endParaRPr lang="en-US" sz="1600" dirty="0"/>
          </a:p>
        </p:txBody>
      </p:sp>
      <p:sp>
        <p:nvSpPr>
          <p:cNvPr id="25" name="Text 22"/>
          <p:cNvSpPr/>
          <p:nvPr/>
        </p:nvSpPr>
        <p:spPr>
          <a:xfrm>
            <a:off x="667512"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CISSP-led, with our own 24/7 Security Operations Center and CrowdStrike / Huntress-grade tooling. Security isn't an add-on line item for us — it's how we run everything.</a:t>
            </a:r>
            <a:endParaRPr lang="en-US" sz="1150" dirty="0"/>
          </a:p>
        </p:txBody>
      </p:sp>
      <p:sp>
        <p:nvSpPr>
          <p:cNvPr id="26" name="Shape 23"/>
          <p:cNvSpPr/>
          <p:nvPr/>
        </p:nvSpPr>
        <p:spPr>
          <a:xfrm>
            <a:off x="6199632" y="4114800"/>
            <a:ext cx="5486400" cy="1828800"/>
          </a:xfrm>
          <a:prstGeom prst="roundRect">
            <a:avLst>
              <a:gd name="adj" fmla="val 4000"/>
            </a:avLst>
          </a:prstGeom>
          <a:solidFill>
            <a:srgbClr val="FFFFFF"/>
          </a:solidFill>
          <a:ln w="12700">
            <a:solidFill>
              <a:srgbClr val="D8E0EA"/>
            </a:solidFill>
            <a:prstDash val="solid"/>
          </a:ln>
        </p:spPr>
      </p:sp>
      <p:sp>
        <p:nvSpPr>
          <p:cNvPr id="27" name="Shape 24"/>
          <p:cNvSpPr/>
          <p:nvPr/>
        </p:nvSpPr>
        <p:spPr>
          <a:xfrm>
            <a:off x="6199632" y="4114800"/>
            <a:ext cx="5486400" cy="91440"/>
          </a:xfrm>
          <a:prstGeom prst="rect">
            <a:avLst/>
          </a:prstGeom>
          <a:solidFill>
            <a:srgbClr val="CBDB2D"/>
          </a:solidFill>
          <a:ln w="12700">
            <a:solidFill>
              <a:srgbClr val="CBDB2D">
                <a:alpha val="0"/>
              </a:srgbClr>
            </a:solidFill>
            <a:prstDash val="solid"/>
          </a:ln>
        </p:spPr>
      </p:sp>
      <p:sp>
        <p:nvSpPr>
          <p:cNvPr id="28" name="Text 25"/>
          <p:cNvSpPr/>
          <p:nvPr/>
        </p:nvSpPr>
        <p:spPr>
          <a:xfrm>
            <a:off x="6364224" y="4297680"/>
            <a:ext cx="515721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AI-FORWARD + NONPROFIT-AWARE</a:t>
            </a:r>
            <a:endParaRPr lang="en-US" sz="900" dirty="0"/>
          </a:p>
        </p:txBody>
      </p:sp>
      <p:sp>
        <p:nvSpPr>
          <p:cNvPr id="29" name="Text 26"/>
          <p:cNvSpPr/>
          <p:nvPr/>
        </p:nvSpPr>
        <p:spPr>
          <a:xfrm>
            <a:off x="6364224"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We build, and we right-size</a:t>
            </a:r>
            <a:endParaRPr lang="en-US" sz="1600" dirty="0"/>
          </a:p>
        </p:txBody>
      </p:sp>
      <p:sp>
        <p:nvSpPr>
          <p:cNvPr id="30" name="Text 27"/>
          <p:cNvSpPr/>
          <p:nvPr/>
        </p:nvSpPr>
        <p:spPr>
          <a:xfrm>
            <a:off x="6364224"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We develop practical AI and custom software — and we know the nonprofit licensing programs (TechSoup, Microsoft 365 nonprofit) that keep a 501(c)(3)'s costs down.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HOW WE WORK</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kind of work we do for organizations like yours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Representative engagement profiles — the shape of the work, no client names and no cherry-picked numbers. The constant: protect sensitive data and the people behind it, on a right-sized budget.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PROFILE A · MULTI-SITE NONPROFIT</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Managed IT, many offices</a:t>
            </a:r>
            <a:endParaRPr lang="en-US" sz="1500" dirty="0"/>
          </a:p>
        </p:txBody>
      </p:sp>
      <p:sp>
        <p:nvSpPr>
          <p:cNvPr id="15" name="Text 12"/>
          <p:cNvSpPr/>
          <p:nvPr/>
        </p:nvSpPr>
        <p:spPr>
          <a:xfrm>
            <a:off x="667512"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nonprofit with several small offices and no full IT department. Scope: standardized and secured Microsoft 365 with nonprofit licensing, MFA for everyone, managed endpoints, and tested backups — so leadership could stop worrying about IT and focus on the mission.</a:t>
            </a:r>
            <a:endParaRPr lang="en-US" sz="1100" dirty="0"/>
          </a:p>
        </p:txBody>
      </p:sp>
      <p:sp>
        <p:nvSpPr>
          <p:cNvPr id="16" name="Text 13"/>
          <p:cNvSpPr/>
          <p:nvPr/>
        </p:nvSpPr>
        <p:spPr>
          <a:xfrm>
            <a:off x="667512" y="51846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Right-sized, nonprofit-priced.</a:t>
            </a:r>
            <a:endParaRPr lang="en-US" sz="900" dirty="0"/>
          </a:p>
        </p:txBody>
      </p:sp>
      <p:sp>
        <p:nvSpPr>
          <p:cNvPr id="17" name="Shape 14"/>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PROFILE B · HANDLES MONEY + PII</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Fraud &amp; BEC hardening</a:t>
            </a:r>
            <a:endParaRPr lang="en-US" sz="1500" dirty="0"/>
          </a:p>
        </p:txBody>
      </p:sp>
      <p:sp>
        <p:nvSpPr>
          <p:cNvPr id="21" name="Text 18"/>
          <p:cNvSpPr/>
          <p:nvPr/>
        </p:nvSpPr>
        <p:spPr>
          <a:xfrm>
            <a:off x="4471416"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An organization that disburses funds and holds sensitive personal data. Scope: email security and anti-phishing, identity hardening, and a verification process for any payment- or account-change request — the controls that stop wire-fraud and payment diversion.</a:t>
            </a:r>
            <a:endParaRPr lang="en-US" sz="1100" dirty="0"/>
          </a:p>
        </p:txBody>
      </p:sp>
      <p:sp>
        <p:nvSpPr>
          <p:cNvPr id="22" name="Text 19"/>
          <p:cNvSpPr/>
          <p:nvPr/>
        </p:nvSpPr>
        <p:spPr>
          <a:xfrm>
            <a:off x="4471416" y="51846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The controls that stop payment fraud.</a:t>
            </a:r>
            <a:endParaRPr lang="en-US" sz="900" dirty="0"/>
          </a:p>
        </p:txBody>
      </p:sp>
      <p:sp>
        <p:nvSpPr>
          <p:cNvPr id="23" name="Shape 20"/>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PROFILE C · RECORDS-HEAVY OPS</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Document &amp; workflow AI</a:t>
            </a:r>
            <a:endParaRPr lang="en-US" sz="1500" dirty="0"/>
          </a:p>
        </p:txBody>
      </p:sp>
      <p:sp>
        <p:nvSpPr>
          <p:cNvPr id="27" name="Text 24"/>
          <p:cNvSpPr/>
          <p:nvPr/>
        </p:nvSpPr>
        <p:spPr>
          <a:xfrm>
            <a:off x="8275320"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An operation buried in recurring paperwork and reporting. Scope: AI document-intelligence and workflow automation explored to cut repetitive processing — the same pattern we'd look at for annual accountings and per-client reporting, once the IT foundation is solid.</a:t>
            </a:r>
            <a:endParaRPr lang="en-US" sz="1100" dirty="0"/>
          </a:p>
        </p:txBody>
      </p:sp>
      <p:sp>
        <p:nvSpPr>
          <p:cNvPr id="28" name="Text 25"/>
          <p:cNvSpPr/>
          <p:nvPr/>
        </p:nvSpPr>
        <p:spPr>
          <a:xfrm>
            <a:off x="8275320" y="51846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The pattern for your accounting &amp; reporting.</a:t>
            </a:r>
            <a:endParaRPr lang="en-US" sz="900" dirty="0"/>
          </a:p>
        </p:txBody>
      </p:sp>
      <p:sp>
        <p:nvSpPr>
          <p:cNvPr id="29" name="Shape 26"/>
          <p:cNvSpPr/>
          <p:nvPr/>
        </p:nvSpPr>
        <p:spPr>
          <a:xfrm>
            <a:off x="502920" y="5715000"/>
            <a:ext cx="11201400" cy="566928"/>
          </a:xfrm>
          <a:prstGeom prst="roundRect">
            <a:avLst>
              <a:gd name="adj" fmla="val 9677"/>
            </a:avLst>
          </a:prstGeom>
          <a:solidFill>
            <a:srgbClr val="1A1A2E"/>
          </a:solidFill>
          <a:ln w="12700">
            <a:solidFill>
              <a:srgbClr val="1A1A2E">
                <a:alpha val="0"/>
              </a:srgbClr>
            </a:solidFill>
            <a:prstDash val="solid"/>
          </a:ln>
        </p:spPr>
      </p:sp>
      <p:sp>
        <p:nvSpPr>
          <p:cNvPr id="30" name="Text 27"/>
          <p:cNvSpPr/>
          <p:nvPr/>
        </p:nvSpPr>
        <p:spPr>
          <a:xfrm>
            <a:off x="502920" y="5715000"/>
            <a:ext cx="112014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Different situations, one constant: we protect sensitive data and the people behind it — without taking the wheel from you.</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HOW WE'D FIT</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Managed or co-managed — your call, not ours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We don't yet know who runs your IT today, and that's fine. Whichever shape fits, you stay in control and we right-size to a nonprofit.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11" name="Shape 8"/>
          <p:cNvSpPr/>
          <p:nvPr/>
        </p:nvSpPr>
        <p:spPr>
          <a:xfrm>
            <a:off x="502920" y="2103120"/>
            <a:ext cx="2606040" cy="4114800"/>
          </a:xfrm>
          <a:prstGeom prst="roundRect">
            <a:avLst>
              <a:gd name="adj" fmla="val 2807"/>
            </a:avLst>
          </a:prstGeom>
          <a:solidFill>
            <a:srgbClr val="FFFFFF"/>
          </a:solidFill>
          <a:ln w="12700">
            <a:solidFill>
              <a:srgbClr val="D8E0EA"/>
            </a:solidFill>
            <a:prstDash val="solid"/>
          </a:ln>
        </p:spPr>
      </p:sp>
      <p:sp>
        <p:nvSpPr>
          <p:cNvPr id="12" name="Shape 9"/>
          <p:cNvSpPr/>
          <p:nvPr/>
        </p:nvSpPr>
        <p:spPr>
          <a:xfrm>
            <a:off x="502920" y="2103120"/>
            <a:ext cx="260604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Fully managed IT</a:t>
            </a:r>
            <a:endParaRPr lang="en-US" sz="1400" dirty="0"/>
          </a:p>
        </p:txBody>
      </p:sp>
      <p:sp>
        <p:nvSpPr>
          <p:cNvPr id="14" name="Text 11"/>
          <p:cNvSpPr/>
          <p:nvPr/>
        </p:nvSpPr>
        <p:spPr>
          <a:xfrm>
            <a:off x="667512" y="2743200"/>
            <a:ext cx="2331720" cy="365760"/>
          </a:xfrm>
          <a:prstGeom prst="rect">
            <a:avLst/>
          </a:prstGeom>
          <a:noFill/>
          <a:ln/>
        </p:spPr>
        <p:txBody>
          <a:bodyPr wrap="square" lIns="0" tIns="0" rIns="0" bIns="0" rtlCol="0" anchor="t"/>
          <a:lstStyle/>
          <a:p>
            <a:pPr indent="0" marL="0">
              <a:buNone/>
            </a:pPr>
            <a:r>
              <a:rPr lang="en-US" sz="950" i="1" dirty="0">
                <a:solidFill>
                  <a:srgbClr val="006DB6"/>
                </a:solidFill>
                <a:latin typeface="Arial" pitchFamily="34" charset="0"/>
                <a:ea typeface="Arial" pitchFamily="34" charset="-122"/>
                <a:cs typeface="Arial" pitchFamily="34" charset="-120"/>
              </a:rPr>
              <a:t>(if no one really owns IT today)</a:t>
            </a:r>
            <a:endParaRPr lang="en-US" sz="950" dirty="0"/>
          </a:p>
        </p:txBody>
      </p:sp>
      <p:sp>
        <p:nvSpPr>
          <p:cNvPr id="15" name="Shape 12"/>
          <p:cNvSpPr/>
          <p:nvPr/>
        </p:nvSpPr>
        <p:spPr>
          <a:xfrm>
            <a:off x="685800" y="3255264"/>
            <a:ext cx="91440" cy="91440"/>
          </a:xfrm>
          <a:prstGeom prst="ellipse">
            <a:avLst/>
          </a:prstGeom>
          <a:solidFill>
            <a:srgbClr val="006DB6"/>
          </a:solidFill>
          <a:ln w="12700">
            <a:solidFill>
              <a:srgbClr val="006DB6">
                <a:alpha val="0"/>
              </a:srgbClr>
            </a:solidFill>
            <a:prstDash val="solid"/>
          </a:ln>
        </p:spPr>
      </p:sp>
      <p:sp>
        <p:nvSpPr>
          <p:cNvPr id="16" name="Text 13"/>
          <p:cNvSpPr/>
          <p:nvPr/>
        </p:nvSpPr>
        <p:spPr>
          <a:xfrm>
            <a:off x="85039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We run day-to-day IT end-to-end</a:t>
            </a:r>
            <a:endParaRPr lang="en-US" sz="1100" dirty="0"/>
          </a:p>
        </p:txBody>
      </p:sp>
      <p:sp>
        <p:nvSpPr>
          <p:cNvPr id="17" name="Shape 14"/>
          <p:cNvSpPr/>
          <p:nvPr/>
        </p:nvSpPr>
        <p:spPr>
          <a:xfrm>
            <a:off x="685800" y="3822192"/>
            <a:ext cx="91440" cy="91440"/>
          </a:xfrm>
          <a:prstGeom prst="ellipse">
            <a:avLst/>
          </a:prstGeom>
          <a:solidFill>
            <a:srgbClr val="006DB6"/>
          </a:solidFill>
          <a:ln w="12700">
            <a:solidFill>
              <a:srgbClr val="006DB6">
                <a:alpha val="0"/>
              </a:srgbClr>
            </a:solidFill>
            <a:prstDash val="solid"/>
          </a:ln>
        </p:spPr>
      </p:sp>
      <p:sp>
        <p:nvSpPr>
          <p:cNvPr id="18" name="Text 15"/>
          <p:cNvSpPr/>
          <p:nvPr/>
        </p:nvSpPr>
        <p:spPr>
          <a:xfrm>
            <a:off x="85039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Help desk your staff can just call</a:t>
            </a:r>
            <a:endParaRPr lang="en-US" sz="1100" dirty="0"/>
          </a:p>
        </p:txBody>
      </p:sp>
      <p:sp>
        <p:nvSpPr>
          <p:cNvPr id="19" name="Shape 16"/>
          <p:cNvSpPr/>
          <p:nvPr/>
        </p:nvSpPr>
        <p:spPr>
          <a:xfrm>
            <a:off x="685800" y="4389120"/>
            <a:ext cx="91440" cy="91440"/>
          </a:xfrm>
          <a:prstGeom prst="ellipse">
            <a:avLst/>
          </a:prstGeom>
          <a:solidFill>
            <a:srgbClr val="006DB6"/>
          </a:solidFill>
          <a:ln w="12700">
            <a:solidFill>
              <a:srgbClr val="006DB6">
                <a:alpha val="0"/>
              </a:srgbClr>
            </a:solidFill>
            <a:prstDash val="solid"/>
          </a:ln>
        </p:spPr>
      </p:sp>
      <p:sp>
        <p:nvSpPr>
          <p:cNvPr id="20" name="Text 17"/>
          <p:cNvSpPr/>
          <p:nvPr/>
        </p:nvSpPr>
        <p:spPr>
          <a:xfrm>
            <a:off x="85039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Security, backup &amp; updates handled</a:t>
            </a:r>
            <a:endParaRPr lang="en-US" sz="1100" dirty="0"/>
          </a:p>
        </p:txBody>
      </p:sp>
      <p:sp>
        <p:nvSpPr>
          <p:cNvPr id="21" name="Shape 18"/>
          <p:cNvSpPr/>
          <p:nvPr/>
        </p:nvSpPr>
        <p:spPr>
          <a:xfrm>
            <a:off x="685800" y="4956048"/>
            <a:ext cx="91440" cy="91440"/>
          </a:xfrm>
          <a:prstGeom prst="ellipse">
            <a:avLst/>
          </a:prstGeom>
          <a:solidFill>
            <a:srgbClr val="006DB6"/>
          </a:solidFill>
          <a:ln w="12700">
            <a:solidFill>
              <a:srgbClr val="006DB6">
                <a:alpha val="0"/>
              </a:srgbClr>
            </a:solidFill>
            <a:prstDash val="solid"/>
          </a:ln>
        </p:spPr>
      </p:sp>
      <p:sp>
        <p:nvSpPr>
          <p:cNvPr id="22" name="Text 19"/>
          <p:cNvSpPr/>
          <p:nvPr/>
        </p:nvSpPr>
        <p:spPr>
          <a:xfrm>
            <a:off x="85039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One predictable monthly cost</a:t>
            </a:r>
            <a:endParaRPr lang="en-US" sz="1100" dirty="0"/>
          </a:p>
        </p:txBody>
      </p:sp>
      <p:sp>
        <p:nvSpPr>
          <p:cNvPr id="23" name="Shape 20"/>
          <p:cNvSpPr/>
          <p:nvPr/>
        </p:nvSpPr>
        <p:spPr>
          <a:xfrm>
            <a:off x="685800" y="5522976"/>
            <a:ext cx="91440" cy="91440"/>
          </a:xfrm>
          <a:prstGeom prst="ellipse">
            <a:avLst/>
          </a:prstGeom>
          <a:solidFill>
            <a:srgbClr val="006DB6"/>
          </a:solidFill>
          <a:ln w="12700">
            <a:solidFill>
              <a:srgbClr val="006DB6">
                <a:alpha val="0"/>
              </a:srgbClr>
            </a:solidFill>
            <a:prstDash val="solid"/>
          </a:ln>
        </p:spPr>
      </p:sp>
      <p:sp>
        <p:nvSpPr>
          <p:cNvPr id="24" name="Text 21"/>
          <p:cNvSpPr/>
          <p:nvPr/>
        </p:nvSpPr>
        <p:spPr>
          <a:xfrm>
            <a:off x="85039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 set priorities; we do the work</a:t>
            </a:r>
            <a:endParaRPr lang="en-US" sz="1100" dirty="0"/>
          </a:p>
        </p:txBody>
      </p:sp>
      <p:sp>
        <p:nvSpPr>
          <p:cNvPr id="25" name="Shape 22"/>
          <p:cNvSpPr/>
          <p:nvPr/>
        </p:nvSpPr>
        <p:spPr>
          <a:xfrm>
            <a:off x="3291840" y="2103120"/>
            <a:ext cx="2606040" cy="4114800"/>
          </a:xfrm>
          <a:prstGeom prst="roundRect">
            <a:avLst>
              <a:gd name="adj" fmla="val 2807"/>
            </a:avLst>
          </a:prstGeom>
          <a:solidFill>
            <a:srgbClr val="FFFFFF"/>
          </a:solidFill>
          <a:ln w="12700">
            <a:solidFill>
              <a:srgbClr val="D8E0EA"/>
            </a:solidFill>
            <a:prstDash val="solid"/>
          </a:ln>
        </p:spPr>
      </p:sp>
      <p:sp>
        <p:nvSpPr>
          <p:cNvPr id="26" name="Shape 23"/>
          <p:cNvSpPr/>
          <p:nvPr/>
        </p:nvSpPr>
        <p:spPr>
          <a:xfrm>
            <a:off x="3291840" y="2103120"/>
            <a:ext cx="2606040" cy="91440"/>
          </a:xfrm>
          <a:prstGeom prst="rect">
            <a:avLst/>
          </a:prstGeom>
          <a:solidFill>
            <a:srgbClr val="F67D4B"/>
          </a:solidFill>
          <a:ln w="12700">
            <a:solidFill>
              <a:srgbClr val="F67D4B">
                <a:alpha val="0"/>
              </a:srgbClr>
            </a:solidFill>
            <a:prstDash val="solid"/>
          </a:ln>
        </p:spPr>
      </p:sp>
      <p:sp>
        <p:nvSpPr>
          <p:cNvPr id="27" name="Text 24"/>
          <p:cNvSpPr/>
          <p:nvPr/>
        </p:nvSpPr>
        <p:spPr>
          <a:xfrm>
            <a:off x="345643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Co-managed IT</a:t>
            </a:r>
            <a:endParaRPr lang="en-US" sz="1400" dirty="0"/>
          </a:p>
        </p:txBody>
      </p:sp>
      <p:sp>
        <p:nvSpPr>
          <p:cNvPr id="28" name="Text 25"/>
          <p:cNvSpPr/>
          <p:nvPr/>
        </p:nvSpPr>
        <p:spPr>
          <a:xfrm>
            <a:off x="3456432" y="2743200"/>
            <a:ext cx="2331720" cy="365760"/>
          </a:xfrm>
          <a:prstGeom prst="rect">
            <a:avLst/>
          </a:prstGeom>
          <a:noFill/>
          <a:ln/>
        </p:spPr>
        <p:txBody>
          <a:bodyPr wrap="square" lIns="0" tIns="0" rIns="0" bIns="0" rtlCol="0" anchor="t"/>
          <a:lstStyle/>
          <a:p>
            <a:pPr indent="0" marL="0">
              <a:buNone/>
            </a:pPr>
            <a:r>
              <a:rPr lang="en-US" sz="950" i="1" dirty="0">
                <a:solidFill>
                  <a:srgbClr val="F67D4B"/>
                </a:solidFill>
                <a:latin typeface="Arial" pitchFamily="34" charset="0"/>
                <a:ea typeface="Arial" pitchFamily="34" charset="-122"/>
                <a:cs typeface="Arial" pitchFamily="34" charset="-120"/>
              </a:rPr>
              <a:t>(if you have an internal person or shop)</a:t>
            </a:r>
            <a:endParaRPr lang="en-US" sz="950" dirty="0"/>
          </a:p>
        </p:txBody>
      </p:sp>
      <p:sp>
        <p:nvSpPr>
          <p:cNvPr id="29" name="Shape 26"/>
          <p:cNvSpPr/>
          <p:nvPr/>
        </p:nvSpPr>
        <p:spPr>
          <a:xfrm>
            <a:off x="3474720" y="3255264"/>
            <a:ext cx="91440" cy="91440"/>
          </a:xfrm>
          <a:prstGeom prst="ellipse">
            <a:avLst/>
          </a:prstGeom>
          <a:solidFill>
            <a:srgbClr val="F67D4B"/>
          </a:solidFill>
          <a:ln w="12700">
            <a:solidFill>
              <a:srgbClr val="F67D4B">
                <a:alpha val="0"/>
              </a:srgbClr>
            </a:solidFill>
            <a:prstDash val="solid"/>
          </a:ln>
        </p:spPr>
      </p:sp>
      <p:sp>
        <p:nvSpPr>
          <p:cNvPr id="30" name="Text 27"/>
          <p:cNvSpPr/>
          <p:nvPr/>
        </p:nvSpPr>
        <p:spPr>
          <a:xfrm>
            <a:off x="363931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We augment whoever handles IT now</a:t>
            </a:r>
            <a:endParaRPr lang="en-US" sz="1100" dirty="0"/>
          </a:p>
        </p:txBody>
      </p:sp>
      <p:sp>
        <p:nvSpPr>
          <p:cNvPr id="31" name="Shape 28"/>
          <p:cNvSpPr/>
          <p:nvPr/>
        </p:nvSpPr>
        <p:spPr>
          <a:xfrm>
            <a:off x="3474720" y="3822192"/>
            <a:ext cx="91440" cy="91440"/>
          </a:xfrm>
          <a:prstGeom prst="ellipse">
            <a:avLst/>
          </a:prstGeom>
          <a:solidFill>
            <a:srgbClr val="F67D4B"/>
          </a:solidFill>
          <a:ln w="12700">
            <a:solidFill>
              <a:srgbClr val="F67D4B">
                <a:alpha val="0"/>
              </a:srgbClr>
            </a:solidFill>
            <a:prstDash val="solid"/>
          </a:ln>
        </p:spPr>
      </p:sp>
      <p:sp>
        <p:nvSpPr>
          <p:cNvPr id="32" name="Text 29"/>
          <p:cNvSpPr/>
          <p:nvPr/>
        </p:nvSpPr>
        <p:spPr>
          <a:xfrm>
            <a:off x="363931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They stay in charge of the roadmap</a:t>
            </a:r>
            <a:endParaRPr lang="en-US" sz="1100" dirty="0"/>
          </a:p>
        </p:txBody>
      </p:sp>
      <p:sp>
        <p:nvSpPr>
          <p:cNvPr id="33" name="Shape 30"/>
          <p:cNvSpPr/>
          <p:nvPr/>
        </p:nvSpPr>
        <p:spPr>
          <a:xfrm>
            <a:off x="3474720" y="4389120"/>
            <a:ext cx="91440" cy="91440"/>
          </a:xfrm>
          <a:prstGeom prst="ellipse">
            <a:avLst/>
          </a:prstGeom>
          <a:solidFill>
            <a:srgbClr val="F67D4B"/>
          </a:solidFill>
          <a:ln w="12700">
            <a:solidFill>
              <a:srgbClr val="F67D4B">
                <a:alpha val="0"/>
              </a:srgbClr>
            </a:solidFill>
            <a:prstDash val="solid"/>
          </a:ln>
        </p:spPr>
      </p:sp>
      <p:sp>
        <p:nvSpPr>
          <p:cNvPr id="34" name="Text 31"/>
          <p:cNvSpPr/>
          <p:nvPr/>
        </p:nvSpPr>
        <p:spPr>
          <a:xfrm>
            <a:off x="363931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We add 24/7, security &amp; project bandwidth</a:t>
            </a:r>
            <a:endParaRPr lang="en-US" sz="1100" dirty="0"/>
          </a:p>
        </p:txBody>
      </p:sp>
      <p:sp>
        <p:nvSpPr>
          <p:cNvPr id="35" name="Shape 32"/>
          <p:cNvSpPr/>
          <p:nvPr/>
        </p:nvSpPr>
        <p:spPr>
          <a:xfrm>
            <a:off x="3474720" y="4956048"/>
            <a:ext cx="91440" cy="91440"/>
          </a:xfrm>
          <a:prstGeom prst="ellipse">
            <a:avLst/>
          </a:prstGeom>
          <a:solidFill>
            <a:srgbClr val="F67D4B"/>
          </a:solidFill>
          <a:ln w="12700">
            <a:solidFill>
              <a:srgbClr val="F67D4B">
                <a:alpha val="0"/>
              </a:srgbClr>
            </a:solidFill>
            <a:prstDash val="solid"/>
          </a:ln>
        </p:spPr>
      </p:sp>
      <p:sp>
        <p:nvSpPr>
          <p:cNvPr id="36" name="Text 33"/>
          <p:cNvSpPr/>
          <p:nvPr/>
        </p:nvSpPr>
        <p:spPr>
          <a:xfrm>
            <a:off x="363931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Cover nights, weekends &amp; vacations</a:t>
            </a:r>
            <a:endParaRPr lang="en-US" sz="1100" dirty="0"/>
          </a:p>
        </p:txBody>
      </p:sp>
      <p:sp>
        <p:nvSpPr>
          <p:cNvPr id="37" name="Shape 34"/>
          <p:cNvSpPr/>
          <p:nvPr/>
        </p:nvSpPr>
        <p:spPr>
          <a:xfrm>
            <a:off x="3474720" y="5522976"/>
            <a:ext cx="91440" cy="91440"/>
          </a:xfrm>
          <a:prstGeom prst="ellipse">
            <a:avLst/>
          </a:prstGeom>
          <a:solidFill>
            <a:srgbClr val="F67D4B"/>
          </a:solidFill>
          <a:ln w="12700">
            <a:solidFill>
              <a:srgbClr val="F67D4B">
                <a:alpha val="0"/>
              </a:srgbClr>
            </a:solidFill>
            <a:prstDash val="solid"/>
          </a:ln>
        </p:spPr>
      </p:sp>
      <p:sp>
        <p:nvSpPr>
          <p:cNvPr id="38" name="Text 35"/>
          <p:cNvSpPr/>
          <p:nvPr/>
        </p:nvSpPr>
        <p:spPr>
          <a:xfrm>
            <a:off x="363931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Pick the layers you actually need</a:t>
            </a:r>
            <a:endParaRPr lang="en-US" sz="1100" dirty="0"/>
          </a:p>
        </p:txBody>
      </p:sp>
      <p:sp>
        <p:nvSpPr>
          <p:cNvPr id="39" name="Shape 36"/>
          <p:cNvSpPr/>
          <p:nvPr/>
        </p:nvSpPr>
        <p:spPr>
          <a:xfrm>
            <a:off x="6199632" y="2103120"/>
            <a:ext cx="5504688" cy="1261872"/>
          </a:xfrm>
          <a:prstGeom prst="roundRect">
            <a:avLst>
              <a:gd name="adj" fmla="val 5797"/>
            </a:avLst>
          </a:prstGeom>
          <a:solidFill>
            <a:srgbClr val="F8FAFC"/>
          </a:solidFill>
          <a:ln w="12700">
            <a:solidFill>
              <a:srgbClr val="D8E0EA"/>
            </a:solidFill>
            <a:prstDash val="solid"/>
          </a:ln>
        </p:spPr>
      </p:sp>
      <p:sp>
        <p:nvSpPr>
          <p:cNvPr id="40" name="Shape 37"/>
          <p:cNvSpPr/>
          <p:nvPr/>
        </p:nvSpPr>
        <p:spPr>
          <a:xfrm>
            <a:off x="6355080" y="2286000"/>
            <a:ext cx="685800" cy="685800"/>
          </a:xfrm>
          <a:prstGeom prst="roundRect">
            <a:avLst>
              <a:gd name="adj" fmla="val 13333"/>
            </a:avLst>
          </a:prstGeom>
          <a:solidFill>
            <a:srgbClr val="006DB6"/>
          </a:solidFill>
          <a:ln w="12700">
            <a:solidFill>
              <a:srgbClr val="006DB6">
                <a:alpha val="0"/>
              </a:srgbClr>
            </a:solidFill>
            <a:prstDash val="solid"/>
          </a:ln>
        </p:spPr>
      </p:sp>
      <p:sp>
        <p:nvSpPr>
          <p:cNvPr id="41" name="Text 38"/>
          <p:cNvSpPr/>
          <p:nvPr/>
        </p:nvSpPr>
        <p:spPr>
          <a:xfrm>
            <a:off x="6355080" y="2286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42" name="Text 39"/>
          <p:cNvSpPr/>
          <p:nvPr/>
        </p:nvSpPr>
        <p:spPr>
          <a:xfrm>
            <a:off x="7178040" y="2267712"/>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 keep control</a:t>
            </a:r>
            <a:endParaRPr lang="en-US" sz="1400" dirty="0"/>
          </a:p>
        </p:txBody>
      </p:sp>
      <p:sp>
        <p:nvSpPr>
          <p:cNvPr id="43" name="Text 40"/>
          <p:cNvSpPr/>
          <p:nvPr/>
        </p:nvSpPr>
        <p:spPr>
          <a:xfrm>
            <a:off x="7178040" y="2560320"/>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 own the relationship and the roadmap. We never make changes you didn't approve, and you can see everything we do.</a:t>
            </a:r>
            <a:endParaRPr lang="en-US" sz="1050" dirty="0"/>
          </a:p>
        </p:txBody>
      </p:sp>
      <p:sp>
        <p:nvSpPr>
          <p:cNvPr id="44" name="Shape 41"/>
          <p:cNvSpPr/>
          <p:nvPr/>
        </p:nvSpPr>
        <p:spPr>
          <a:xfrm>
            <a:off x="6199632" y="3493008"/>
            <a:ext cx="5504688" cy="1261872"/>
          </a:xfrm>
          <a:prstGeom prst="roundRect">
            <a:avLst>
              <a:gd name="adj" fmla="val 5797"/>
            </a:avLst>
          </a:prstGeom>
          <a:solidFill>
            <a:srgbClr val="F8FAFC"/>
          </a:solidFill>
          <a:ln w="12700">
            <a:solidFill>
              <a:srgbClr val="D8E0EA"/>
            </a:solidFill>
            <a:prstDash val="solid"/>
          </a:ln>
        </p:spPr>
      </p:sp>
      <p:sp>
        <p:nvSpPr>
          <p:cNvPr id="45" name="Shape 42"/>
          <p:cNvSpPr/>
          <p:nvPr/>
        </p:nvSpPr>
        <p:spPr>
          <a:xfrm>
            <a:off x="6355080" y="3675888"/>
            <a:ext cx="685800" cy="685800"/>
          </a:xfrm>
          <a:prstGeom prst="roundRect">
            <a:avLst>
              <a:gd name="adj" fmla="val 13333"/>
            </a:avLst>
          </a:prstGeom>
          <a:solidFill>
            <a:srgbClr val="1EAAC8"/>
          </a:solidFill>
          <a:ln w="12700">
            <a:solidFill>
              <a:srgbClr val="1EAAC8">
                <a:alpha val="0"/>
              </a:srgbClr>
            </a:solidFill>
            <a:prstDash val="solid"/>
          </a:ln>
        </p:spPr>
      </p:sp>
      <p:sp>
        <p:nvSpPr>
          <p:cNvPr id="46" name="Text 43"/>
          <p:cNvSpPr/>
          <p:nvPr/>
        </p:nvSpPr>
        <p:spPr>
          <a:xfrm>
            <a:off x="6355080" y="367588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47" name="Text 44"/>
          <p:cNvSpPr/>
          <p:nvPr/>
        </p:nvSpPr>
        <p:spPr>
          <a:xfrm>
            <a:off x="7178040" y="3657600"/>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We cover what a small team can't</a:t>
            </a:r>
            <a:endParaRPr lang="en-US" sz="1400" dirty="0"/>
          </a:p>
        </p:txBody>
      </p:sp>
      <p:sp>
        <p:nvSpPr>
          <p:cNvPr id="48" name="Text 45"/>
          <p:cNvSpPr/>
          <p:nvPr/>
        </p:nvSpPr>
        <p:spPr>
          <a:xfrm>
            <a:off x="7178040" y="3950208"/>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24/7 security monitoring, after-hours and weekend response, backup, and surge bandwidth for projects — across all seven offices.</a:t>
            </a:r>
            <a:endParaRPr lang="en-US" sz="1050" dirty="0"/>
          </a:p>
        </p:txBody>
      </p:sp>
      <p:sp>
        <p:nvSpPr>
          <p:cNvPr id="49" name="Shape 46"/>
          <p:cNvSpPr/>
          <p:nvPr/>
        </p:nvSpPr>
        <p:spPr>
          <a:xfrm>
            <a:off x="6199632" y="4882896"/>
            <a:ext cx="5504688" cy="1261872"/>
          </a:xfrm>
          <a:prstGeom prst="roundRect">
            <a:avLst>
              <a:gd name="adj" fmla="val 5797"/>
            </a:avLst>
          </a:prstGeom>
          <a:solidFill>
            <a:srgbClr val="F8FAFC"/>
          </a:solidFill>
          <a:ln w="12700">
            <a:solidFill>
              <a:srgbClr val="D8E0EA"/>
            </a:solidFill>
            <a:prstDash val="solid"/>
          </a:ln>
        </p:spPr>
      </p:sp>
      <p:sp>
        <p:nvSpPr>
          <p:cNvPr id="50" name="Shape 47"/>
          <p:cNvSpPr/>
          <p:nvPr/>
        </p:nvSpPr>
        <p:spPr>
          <a:xfrm>
            <a:off x="6355080" y="5065776"/>
            <a:ext cx="685800" cy="685800"/>
          </a:xfrm>
          <a:prstGeom prst="roundRect">
            <a:avLst>
              <a:gd name="adj" fmla="val 13333"/>
            </a:avLst>
          </a:prstGeom>
          <a:solidFill>
            <a:srgbClr val="F67D4B"/>
          </a:solidFill>
          <a:ln w="12700">
            <a:solidFill>
              <a:srgbClr val="F67D4B">
                <a:alpha val="0"/>
              </a:srgbClr>
            </a:solidFill>
            <a:prstDash val="solid"/>
          </a:ln>
        </p:spPr>
      </p:sp>
      <p:sp>
        <p:nvSpPr>
          <p:cNvPr id="51" name="Text 48"/>
          <p:cNvSpPr/>
          <p:nvPr/>
        </p:nvSpPr>
        <p:spPr>
          <a:xfrm>
            <a:off x="6355080" y="5065776"/>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52" name="Text 49"/>
          <p:cNvSpPr/>
          <p:nvPr/>
        </p:nvSpPr>
        <p:spPr>
          <a:xfrm>
            <a:off x="7178040" y="5047488"/>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Right-sized for a nonprofit</a:t>
            </a:r>
            <a:endParaRPr lang="en-US" sz="1400" dirty="0"/>
          </a:p>
        </p:txBody>
      </p:sp>
      <p:sp>
        <p:nvSpPr>
          <p:cNvPr id="53" name="Text 50"/>
          <p:cNvSpPr/>
          <p:nvPr/>
        </p:nvSpPr>
        <p:spPr>
          <a:xfrm>
            <a:off x="7178040" y="5340096"/>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apply nonprofit licensing (TechSoup, Microsoft 365 nonprofit) and scope only what you need — protection that fits the budget.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SECURITY &amp; YOUR FIDUCIARY DUTY</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Six layers a payee that moves money has to cover</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You hold SSNs and bank details and disburse benefit funds for vulnerable people. The bar is high — and SSA expressly asks payees to protect this data. Which layers keep you up at night?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11" name="Shape 8"/>
          <p:cNvSpPr/>
          <p:nvPr/>
        </p:nvSpPr>
        <p:spPr>
          <a:xfrm>
            <a:off x="502920" y="2103120"/>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01</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Identity &amp; access</a:t>
            </a:r>
            <a:endParaRPr lang="en-US" sz="1500" dirty="0"/>
          </a:p>
        </p:txBody>
      </p:sp>
      <p:sp>
        <p:nvSpPr>
          <p:cNvPr id="15" name="Text 12"/>
          <p:cNvSpPr/>
          <p:nvPr/>
        </p:nvSpPr>
        <p:spPr>
          <a:xfrm>
            <a:off x="667512"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MFA on every login, conditional access, and role-based access to beneficiary data — exactly what SSA asks payees to document. Most breaches start at a stolen sign-in.</a:t>
            </a:r>
            <a:endParaRPr lang="en-US" sz="1050" dirty="0"/>
          </a:p>
        </p:txBody>
      </p:sp>
      <p:sp>
        <p:nvSpPr>
          <p:cNvPr id="16" name="Shape 13"/>
          <p:cNvSpPr/>
          <p:nvPr/>
        </p:nvSpPr>
        <p:spPr>
          <a:xfrm>
            <a:off x="4306824" y="2103120"/>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8" name="Text 15"/>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02</a:t>
            </a:r>
            <a:endParaRPr lang="en-US" sz="900" dirty="0"/>
          </a:p>
        </p:txBody>
      </p:sp>
      <p:sp>
        <p:nvSpPr>
          <p:cNvPr id="19" name="Text 16"/>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Endpoints &amp; devices</a:t>
            </a:r>
            <a:endParaRPr lang="en-US" sz="1500" dirty="0"/>
          </a:p>
        </p:txBody>
      </p:sp>
      <p:sp>
        <p:nvSpPr>
          <p:cNvPr id="20" name="Text 17"/>
          <p:cNvSpPr/>
          <p:nvPr/>
        </p:nvSpPr>
        <p:spPr>
          <a:xfrm>
            <a:off x="4471416"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EDR + threat detection on every laptop across all offices, disk encryption, and enforced patching — on the network and off it.</a:t>
            </a:r>
            <a:endParaRPr lang="en-US" sz="1050" dirty="0"/>
          </a:p>
        </p:txBody>
      </p:sp>
      <p:sp>
        <p:nvSpPr>
          <p:cNvPr id="21" name="Shape 18"/>
          <p:cNvSpPr/>
          <p:nvPr/>
        </p:nvSpPr>
        <p:spPr>
          <a:xfrm>
            <a:off x="8110728" y="2103120"/>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3" name="Text 20"/>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03</a:t>
            </a:r>
            <a:endParaRPr lang="en-US" sz="900" dirty="0"/>
          </a:p>
        </p:txBody>
      </p:sp>
      <p:sp>
        <p:nvSpPr>
          <p:cNvPr id="24" name="Text 21"/>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Email &amp; payment fraud</a:t>
            </a:r>
            <a:endParaRPr lang="en-US" sz="1500" dirty="0"/>
          </a:p>
        </p:txBody>
      </p:sp>
      <p:sp>
        <p:nvSpPr>
          <p:cNvPr id="25" name="Text 22"/>
          <p:cNvSpPr/>
          <p:nvPr/>
        </p:nvSpPr>
        <p:spPr>
          <a:xfrm>
            <a:off x="8275320"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Anti-phishing plus a verification process for any request to change a payment, bank account, or card load. Business email compromise is the #2 cybercrime by dollar loss.</a:t>
            </a:r>
            <a:endParaRPr lang="en-US" sz="1050" dirty="0"/>
          </a:p>
        </p:txBody>
      </p:sp>
      <p:sp>
        <p:nvSpPr>
          <p:cNvPr id="26" name="Shape 23"/>
          <p:cNvSpPr/>
          <p:nvPr/>
        </p:nvSpPr>
        <p:spPr>
          <a:xfrm>
            <a:off x="502920" y="420624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206240"/>
            <a:ext cx="3611880" cy="91440"/>
          </a:xfrm>
          <a:prstGeom prst="rect">
            <a:avLst/>
          </a:prstGeom>
          <a:solidFill>
            <a:srgbClr val="CBDB2D"/>
          </a:solidFill>
          <a:ln w="12700">
            <a:solidFill>
              <a:srgbClr val="CBDB2D">
                <a:alpha val="0"/>
              </a:srgbClr>
            </a:solidFill>
            <a:prstDash val="solid"/>
          </a:ln>
        </p:spPr>
      </p:sp>
      <p:sp>
        <p:nvSpPr>
          <p:cNvPr id="28" name="Text 25"/>
          <p:cNvSpPr/>
          <p:nvPr/>
        </p:nvSpPr>
        <p:spPr>
          <a:xfrm>
            <a:off x="667512" y="438912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LAYER 04</a:t>
            </a:r>
            <a:endParaRPr lang="en-US" sz="900" dirty="0"/>
          </a:p>
        </p:txBody>
      </p:sp>
      <p:sp>
        <p:nvSpPr>
          <p:cNvPr id="29" name="Text 26"/>
          <p:cNvSpPr/>
          <p:nvPr/>
        </p:nvSpPr>
        <p:spPr>
          <a:xfrm>
            <a:off x="667512"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Data, backup &amp; ransomware</a:t>
            </a:r>
            <a:endParaRPr lang="en-US" sz="1500" dirty="0"/>
          </a:p>
        </p:txBody>
      </p:sp>
      <p:sp>
        <p:nvSpPr>
          <p:cNvPr id="30" name="Text 27"/>
          <p:cNvSpPr/>
          <p:nvPr/>
        </p:nvSpPr>
        <p:spPr>
          <a:xfrm>
            <a:off x="667512"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Immutable, tested backups of beneficiary records and accounting systems with fast recovery. A sync to the cloud is not a backup.</a:t>
            </a:r>
            <a:endParaRPr lang="en-US" sz="1050" dirty="0"/>
          </a:p>
        </p:txBody>
      </p:sp>
      <p:sp>
        <p:nvSpPr>
          <p:cNvPr id="31" name="Shape 28"/>
          <p:cNvSpPr/>
          <p:nvPr/>
        </p:nvSpPr>
        <p:spPr>
          <a:xfrm>
            <a:off x="4306824" y="420624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206240"/>
            <a:ext cx="3611880" cy="91440"/>
          </a:xfrm>
          <a:prstGeom prst="rect">
            <a:avLst/>
          </a:prstGeom>
          <a:solidFill>
            <a:srgbClr val="0F766E"/>
          </a:solidFill>
          <a:ln w="12700">
            <a:solidFill>
              <a:srgbClr val="0F766E">
                <a:alpha val="0"/>
              </a:srgbClr>
            </a:solidFill>
            <a:prstDash val="solid"/>
          </a:ln>
        </p:spPr>
      </p:sp>
      <p:sp>
        <p:nvSpPr>
          <p:cNvPr id="33" name="Text 30"/>
          <p:cNvSpPr/>
          <p:nvPr/>
        </p:nvSpPr>
        <p:spPr>
          <a:xfrm>
            <a:off x="4471416" y="438912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LAYER 05</a:t>
            </a:r>
            <a:endParaRPr lang="en-US" sz="900" dirty="0"/>
          </a:p>
        </p:txBody>
      </p:sp>
      <p:sp>
        <p:nvSpPr>
          <p:cNvPr id="34" name="Text 31"/>
          <p:cNvSpPr/>
          <p:nvPr/>
        </p:nvSpPr>
        <p:spPr>
          <a:xfrm>
            <a:off x="4471416"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Audit-ready records</a:t>
            </a:r>
            <a:endParaRPr lang="en-US" sz="1500" dirty="0"/>
          </a:p>
        </p:txBody>
      </p:sp>
      <p:sp>
        <p:nvSpPr>
          <p:cNvPr id="35" name="Text 32"/>
          <p:cNvSpPr/>
          <p:nvPr/>
        </p:nvSpPr>
        <p:spPr>
          <a:xfrm>
            <a:off x="4471416"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Records stored, retained, and retrievable for an SSA Protection-and-Advocacy onsite review or a VA field examination — without a fire drill.</a:t>
            </a:r>
            <a:endParaRPr lang="en-US" sz="1050" dirty="0"/>
          </a:p>
        </p:txBody>
      </p:sp>
      <p:sp>
        <p:nvSpPr>
          <p:cNvPr id="36" name="Shape 33"/>
          <p:cNvSpPr/>
          <p:nvPr/>
        </p:nvSpPr>
        <p:spPr>
          <a:xfrm>
            <a:off x="8110728" y="420624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20624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38912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LAYER 06</a:t>
            </a:r>
            <a:endParaRPr lang="en-US" sz="900" dirty="0"/>
          </a:p>
        </p:txBody>
      </p:sp>
      <p:sp>
        <p:nvSpPr>
          <p:cNvPr id="39" name="Text 36"/>
          <p:cNvSpPr/>
          <p:nvPr/>
        </p:nvSpPr>
        <p:spPr>
          <a:xfrm>
            <a:off x="8275320"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24/7 SOC &amp; response</a:t>
            </a:r>
            <a:endParaRPr lang="en-US" sz="1500" dirty="0"/>
          </a:p>
        </p:txBody>
      </p:sp>
      <p:sp>
        <p:nvSpPr>
          <p:cNvPr id="40" name="Text 37"/>
          <p:cNvSpPr/>
          <p:nvPr/>
        </p:nvSpPr>
        <p:spPr>
          <a:xfrm>
            <a:off x="8275320"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Eyes-on-glass monitoring with a defined response when something looks wrong — the around-the-clock coverage a small team can't staff alone.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FEW WAYS WE COULD HELP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Three places a partner usually earns its keep</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Not a menu to buy today — hypotheses to react to. Tell us which of these is real for you, and which isn't.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TAKE WORK OFF THE PLATE</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Managed / Co-Managed IT</a:t>
            </a:r>
            <a:endParaRPr lang="en-US" sz="1550" dirty="0"/>
          </a:p>
        </p:txBody>
      </p:sp>
      <p:sp>
        <p:nvSpPr>
          <p:cNvPr id="15" name="Text 12"/>
          <p:cNvSpPr/>
          <p:nvPr/>
        </p:nvSpPr>
        <p:spPr>
          <a:xfrm>
            <a:off x="667512"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Help desk your staff can just call, managed devices and Microsoft 365 across all seven offices, patching and monitoring, and surge bandwidth for projects — with nonprofit licensing applied. We flex to whoever runs IT today.</a:t>
            </a:r>
            <a:endParaRPr lang="en-US" sz="1100" dirty="0"/>
          </a:p>
        </p:txBody>
      </p:sp>
      <p:sp>
        <p:nvSpPr>
          <p:cNvPr id="16" name="Text 13"/>
          <p:cNvSpPr/>
          <p:nvPr/>
        </p:nvSpPr>
        <p:spPr>
          <a:xfrm>
            <a:off x="667512" y="51846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One team, all offices, right-sized.</a:t>
            </a:r>
            <a:endParaRPr lang="en-US" sz="900" dirty="0"/>
          </a:p>
        </p:txBody>
      </p:sp>
      <p:sp>
        <p:nvSpPr>
          <p:cNvPr id="17" name="Shape 14"/>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PROTECT FUNDS, SSNS &amp; THE PEOPLE</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Security &amp; Data Protection</a:t>
            </a:r>
            <a:endParaRPr lang="en-US" sz="1550" dirty="0"/>
          </a:p>
        </p:txBody>
      </p:sp>
      <p:sp>
        <p:nvSpPr>
          <p:cNvPr id="21" name="Text 18"/>
          <p:cNvSpPr/>
          <p:nvPr/>
        </p:nvSpPr>
        <p:spPr>
          <a:xfrm>
            <a:off x="4471416"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MFA and identity hardening, EDR, email and payment-fraud defense, tested backups, and records you can produce for an SSA or VA review. The protection a fiduciary handling benefit money needs — and SSA asks for.</a:t>
            </a:r>
            <a:endParaRPr lang="en-US" sz="1100" dirty="0"/>
          </a:p>
        </p:txBody>
      </p:sp>
      <p:sp>
        <p:nvSpPr>
          <p:cNvPr id="22" name="Text 19"/>
          <p:cNvSpPr/>
          <p:nvPr/>
        </p:nvSpPr>
        <p:spPr>
          <a:xfrm>
            <a:off x="4471416" y="51846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Built for a payee's duty of care.</a:t>
            </a:r>
            <a:endParaRPr lang="en-US" sz="900" dirty="0"/>
          </a:p>
        </p:txBody>
      </p:sp>
      <p:sp>
        <p:nvSpPr>
          <p:cNvPr id="23" name="Shape 20"/>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BEYOND KEEPING THE LIGHTS ON</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Strategic IT + AI Efficiency</a:t>
            </a:r>
            <a:endParaRPr lang="en-US" sz="1550" dirty="0"/>
          </a:p>
        </p:txBody>
      </p:sp>
      <p:sp>
        <p:nvSpPr>
          <p:cNvPr id="27" name="Text 24"/>
          <p:cNvSpPr/>
          <p:nvPr/>
        </p:nvSpPr>
        <p:spPr>
          <a:xfrm>
            <a:off x="8275320"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planning cadence — and practical AI for your operation: drafting the annual SSA/VA accountings, reconciling per-beneficiary ledgers, and processing intake paperwork. The repetitive work AI can take off your staff, once the basics are solid.</a:t>
            </a:r>
            <a:endParaRPr lang="en-US" sz="1100" dirty="0"/>
          </a:p>
        </p:txBody>
      </p:sp>
      <p:sp>
        <p:nvSpPr>
          <p:cNvPr id="28" name="Text 25"/>
          <p:cNvSpPr/>
          <p:nvPr/>
        </p:nvSpPr>
        <p:spPr>
          <a:xfrm>
            <a:off x="8275320" y="51846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The layer most providers don't bring.</a:t>
            </a:r>
            <a:endParaRPr lang="en-US" sz="900" dirty="0"/>
          </a:p>
        </p:txBody>
      </p:sp>
      <p:sp>
        <p:nvSpPr>
          <p:cNvPr id="29" name="Shape 26"/>
          <p:cNvSpPr/>
          <p:nvPr/>
        </p:nvSpPr>
        <p:spPr>
          <a:xfrm>
            <a:off x="502920" y="5715000"/>
            <a:ext cx="11201400" cy="566928"/>
          </a:xfrm>
          <a:prstGeom prst="roundRect">
            <a:avLst>
              <a:gd name="adj" fmla="val 9677"/>
            </a:avLst>
          </a:prstGeom>
          <a:solidFill>
            <a:srgbClr val="1A1A2E"/>
          </a:solidFill>
          <a:ln w="12700">
            <a:solidFill>
              <a:srgbClr val="1A1A2E">
                <a:alpha val="0"/>
              </a:srgbClr>
            </a:solidFill>
            <a:prstDash val="solid"/>
          </a:ln>
        </p:spPr>
      </p:sp>
      <p:sp>
        <p:nvSpPr>
          <p:cNvPr id="30" name="Text 27"/>
          <p:cNvSpPr/>
          <p:nvPr/>
        </p:nvSpPr>
        <p:spPr>
          <a:xfrm>
            <a:off x="502920" y="5715000"/>
            <a:ext cx="112014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Most teams your size feel one of these the most. Today's job is finding out which — then going deep there.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YOUR TURN</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questions that actually shape a fit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This is the part that matters most. The more candid you are here, the more useful our free assessment and any proposal will be.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11" name="Shape 8"/>
          <p:cNvSpPr/>
          <p:nvPr/>
        </p:nvSpPr>
        <p:spPr>
          <a:xfrm>
            <a:off x="502920" y="2148840"/>
            <a:ext cx="5486400" cy="914400"/>
          </a:xfrm>
          <a:prstGeom prst="roundRect">
            <a:avLst>
              <a:gd name="adj" fmla="val 6000"/>
            </a:avLst>
          </a:prstGeom>
          <a:solidFill>
            <a:srgbClr val="FFFFFF"/>
          </a:solidFill>
          <a:ln w="12700">
            <a:solidFill>
              <a:srgbClr val="D8E0EA"/>
            </a:solidFill>
            <a:prstDash val="solid"/>
          </a:ln>
        </p:spPr>
      </p:sp>
      <p:sp>
        <p:nvSpPr>
          <p:cNvPr id="12" name="Shape 9"/>
          <p:cNvSpPr/>
          <p:nvPr/>
        </p:nvSpPr>
        <p:spPr>
          <a:xfrm>
            <a:off x="649224" y="2331720"/>
            <a:ext cx="548640" cy="548640"/>
          </a:xfrm>
          <a:prstGeom prst="roundRect">
            <a:avLst>
              <a:gd name="adj" fmla="val 13333"/>
            </a:avLst>
          </a:prstGeom>
          <a:solidFill>
            <a:srgbClr val="006DB6"/>
          </a:solidFill>
          <a:ln w="12700">
            <a:solidFill>
              <a:srgbClr val="006DB6">
                <a:alpha val="0"/>
              </a:srgbClr>
            </a:solidFill>
            <a:prstDash val="solid"/>
          </a:ln>
        </p:spPr>
      </p:sp>
      <p:sp>
        <p:nvSpPr>
          <p:cNvPr id="13" name="Text 10"/>
          <p:cNvSpPr/>
          <p:nvPr/>
        </p:nvSpPr>
        <p:spPr>
          <a:xfrm>
            <a:off x="649224"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1325880" y="2240280"/>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Who handles your IT today — an internal person, an outside provider, or a bit of both?</a:t>
            </a:r>
            <a:endParaRPr lang="en-US" sz="1100" dirty="0"/>
          </a:p>
        </p:txBody>
      </p:sp>
      <p:sp>
        <p:nvSpPr>
          <p:cNvPr id="15" name="Shape 12"/>
          <p:cNvSpPr/>
          <p:nvPr/>
        </p:nvSpPr>
        <p:spPr>
          <a:xfrm>
            <a:off x="6199632" y="2148840"/>
            <a:ext cx="5486400" cy="914400"/>
          </a:xfrm>
          <a:prstGeom prst="roundRect">
            <a:avLst>
              <a:gd name="adj" fmla="val 6000"/>
            </a:avLst>
          </a:prstGeom>
          <a:solidFill>
            <a:srgbClr val="FFFFFF"/>
          </a:solidFill>
          <a:ln w="12700">
            <a:solidFill>
              <a:srgbClr val="D8E0EA"/>
            </a:solidFill>
            <a:prstDash val="solid"/>
          </a:ln>
        </p:spPr>
      </p:sp>
      <p:sp>
        <p:nvSpPr>
          <p:cNvPr id="16" name="Shape 13"/>
          <p:cNvSpPr/>
          <p:nvPr/>
        </p:nvSpPr>
        <p:spPr>
          <a:xfrm>
            <a:off x="6345936" y="2331720"/>
            <a:ext cx="548640" cy="548640"/>
          </a:xfrm>
          <a:prstGeom prst="roundRect">
            <a:avLst>
              <a:gd name="adj" fmla="val 13333"/>
            </a:avLst>
          </a:prstGeom>
          <a:solidFill>
            <a:srgbClr val="1EAAC8"/>
          </a:solidFill>
          <a:ln w="12700">
            <a:solidFill>
              <a:srgbClr val="1EAAC8">
                <a:alpha val="0"/>
              </a:srgbClr>
            </a:solidFill>
            <a:prstDash val="solid"/>
          </a:ln>
        </p:spPr>
      </p:sp>
      <p:sp>
        <p:nvSpPr>
          <p:cNvPr id="17" name="Text 14"/>
          <p:cNvSpPr/>
          <p:nvPr/>
        </p:nvSpPr>
        <p:spPr>
          <a:xfrm>
            <a:off x="6345936"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Text 15"/>
          <p:cNvSpPr/>
          <p:nvPr/>
        </p:nvSpPr>
        <p:spPr>
          <a:xfrm>
            <a:off x="7022592" y="2240280"/>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Across your seven offices, which are staffed, and how do your people connect and share files?</a:t>
            </a:r>
            <a:endParaRPr lang="en-US" sz="1100" dirty="0"/>
          </a:p>
        </p:txBody>
      </p:sp>
      <p:sp>
        <p:nvSpPr>
          <p:cNvPr id="19" name="Shape 16"/>
          <p:cNvSpPr/>
          <p:nvPr/>
        </p:nvSpPr>
        <p:spPr>
          <a:xfrm>
            <a:off x="502920" y="3172968"/>
            <a:ext cx="5486400" cy="914400"/>
          </a:xfrm>
          <a:prstGeom prst="roundRect">
            <a:avLst>
              <a:gd name="adj" fmla="val 6000"/>
            </a:avLst>
          </a:prstGeom>
          <a:solidFill>
            <a:srgbClr val="FFFFFF"/>
          </a:solidFill>
          <a:ln w="12700">
            <a:solidFill>
              <a:srgbClr val="D8E0EA"/>
            </a:solidFill>
            <a:prstDash val="solid"/>
          </a:ln>
        </p:spPr>
      </p:sp>
      <p:sp>
        <p:nvSpPr>
          <p:cNvPr id="20" name="Shape 17"/>
          <p:cNvSpPr/>
          <p:nvPr/>
        </p:nvSpPr>
        <p:spPr>
          <a:xfrm>
            <a:off x="649224" y="3355848"/>
            <a:ext cx="548640" cy="548640"/>
          </a:xfrm>
          <a:prstGeom prst="roundRect">
            <a:avLst>
              <a:gd name="adj" fmla="val 13333"/>
            </a:avLst>
          </a:prstGeom>
          <a:solidFill>
            <a:srgbClr val="006DB6"/>
          </a:solidFill>
          <a:ln w="12700">
            <a:solidFill>
              <a:srgbClr val="006DB6">
                <a:alpha val="0"/>
              </a:srgbClr>
            </a:solidFill>
            <a:prstDash val="solid"/>
          </a:ln>
        </p:spPr>
      </p:sp>
      <p:sp>
        <p:nvSpPr>
          <p:cNvPr id="21" name="Text 18"/>
          <p:cNvSpPr/>
          <p:nvPr/>
        </p:nvSpPr>
        <p:spPr>
          <a:xfrm>
            <a:off x="649224"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19"/>
          <p:cNvSpPr/>
          <p:nvPr/>
        </p:nvSpPr>
        <p:spPr>
          <a:xfrm>
            <a:off x="1325880" y="3264408"/>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What runs the per-beneficiary accounting, bill-pay, and prepaid-card loading — a payee platform, QuickBooks, spreadsheets?</a:t>
            </a:r>
            <a:endParaRPr lang="en-US" sz="1100" dirty="0"/>
          </a:p>
        </p:txBody>
      </p:sp>
      <p:sp>
        <p:nvSpPr>
          <p:cNvPr id="23" name="Shape 20"/>
          <p:cNvSpPr/>
          <p:nvPr/>
        </p:nvSpPr>
        <p:spPr>
          <a:xfrm>
            <a:off x="6199632" y="3172968"/>
            <a:ext cx="5486400" cy="914400"/>
          </a:xfrm>
          <a:prstGeom prst="roundRect">
            <a:avLst>
              <a:gd name="adj" fmla="val 6000"/>
            </a:avLst>
          </a:prstGeom>
          <a:solidFill>
            <a:srgbClr val="FFFFFF"/>
          </a:solidFill>
          <a:ln w="12700">
            <a:solidFill>
              <a:srgbClr val="D8E0EA"/>
            </a:solidFill>
            <a:prstDash val="solid"/>
          </a:ln>
        </p:spPr>
      </p:sp>
      <p:sp>
        <p:nvSpPr>
          <p:cNvPr id="24" name="Shape 21"/>
          <p:cNvSpPr/>
          <p:nvPr/>
        </p:nvSpPr>
        <p:spPr>
          <a:xfrm>
            <a:off x="6345936" y="3355848"/>
            <a:ext cx="548640" cy="548640"/>
          </a:xfrm>
          <a:prstGeom prst="roundRect">
            <a:avLst>
              <a:gd name="adj" fmla="val 13333"/>
            </a:avLst>
          </a:prstGeom>
          <a:solidFill>
            <a:srgbClr val="1EAAC8"/>
          </a:solidFill>
          <a:ln w="12700">
            <a:solidFill>
              <a:srgbClr val="1EAAC8">
                <a:alpha val="0"/>
              </a:srgbClr>
            </a:solidFill>
            <a:prstDash val="solid"/>
          </a:ln>
        </p:spPr>
      </p:sp>
      <p:sp>
        <p:nvSpPr>
          <p:cNvPr id="25" name="Text 22"/>
          <p:cNvSpPr/>
          <p:nvPr/>
        </p:nvSpPr>
        <p:spPr>
          <a:xfrm>
            <a:off x="6345936"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3"/>
          <p:cNvSpPr/>
          <p:nvPr/>
        </p:nvSpPr>
        <p:spPr>
          <a:xfrm>
            <a:off x="7022592" y="3264408"/>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Are you on Microsoft 365 or Google Workspace — and is multi-factor login turned on for everyone?</a:t>
            </a:r>
            <a:endParaRPr lang="en-US" sz="1100" dirty="0"/>
          </a:p>
        </p:txBody>
      </p:sp>
      <p:sp>
        <p:nvSpPr>
          <p:cNvPr id="27" name="Shape 24"/>
          <p:cNvSpPr/>
          <p:nvPr/>
        </p:nvSpPr>
        <p:spPr>
          <a:xfrm>
            <a:off x="502920" y="4197096"/>
            <a:ext cx="5486400" cy="914400"/>
          </a:xfrm>
          <a:prstGeom prst="roundRect">
            <a:avLst>
              <a:gd name="adj" fmla="val 6000"/>
            </a:avLst>
          </a:prstGeom>
          <a:solidFill>
            <a:srgbClr val="FFFFFF"/>
          </a:solidFill>
          <a:ln w="12700">
            <a:solidFill>
              <a:srgbClr val="D8E0EA"/>
            </a:solidFill>
            <a:prstDash val="solid"/>
          </a:ln>
        </p:spPr>
      </p:sp>
      <p:sp>
        <p:nvSpPr>
          <p:cNvPr id="28" name="Shape 25"/>
          <p:cNvSpPr/>
          <p:nvPr/>
        </p:nvSpPr>
        <p:spPr>
          <a:xfrm>
            <a:off x="649224" y="4379976"/>
            <a:ext cx="548640" cy="548640"/>
          </a:xfrm>
          <a:prstGeom prst="roundRect">
            <a:avLst>
              <a:gd name="adj" fmla="val 13333"/>
            </a:avLst>
          </a:prstGeom>
          <a:solidFill>
            <a:srgbClr val="006DB6"/>
          </a:solidFill>
          <a:ln w="12700">
            <a:solidFill>
              <a:srgbClr val="006DB6">
                <a:alpha val="0"/>
              </a:srgbClr>
            </a:solidFill>
            <a:prstDash val="solid"/>
          </a:ln>
        </p:spPr>
      </p:sp>
      <p:sp>
        <p:nvSpPr>
          <p:cNvPr id="29" name="Text 26"/>
          <p:cNvSpPr/>
          <p:nvPr/>
        </p:nvSpPr>
        <p:spPr>
          <a:xfrm>
            <a:off x="649224"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7"/>
          <p:cNvSpPr/>
          <p:nvPr/>
        </p:nvSpPr>
        <p:spPr>
          <a:xfrm>
            <a:off x="1325880" y="4288536"/>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How do you guard against a fraudulent request to change a payment, bank account, or card load?</a:t>
            </a:r>
            <a:endParaRPr lang="en-US" sz="1100" dirty="0"/>
          </a:p>
        </p:txBody>
      </p:sp>
      <p:sp>
        <p:nvSpPr>
          <p:cNvPr id="31" name="Shape 28"/>
          <p:cNvSpPr/>
          <p:nvPr/>
        </p:nvSpPr>
        <p:spPr>
          <a:xfrm>
            <a:off x="6199632" y="4197096"/>
            <a:ext cx="5486400" cy="914400"/>
          </a:xfrm>
          <a:prstGeom prst="roundRect">
            <a:avLst>
              <a:gd name="adj" fmla="val 6000"/>
            </a:avLst>
          </a:prstGeom>
          <a:solidFill>
            <a:srgbClr val="FFFFFF"/>
          </a:solidFill>
          <a:ln w="12700">
            <a:solidFill>
              <a:srgbClr val="D8E0EA"/>
            </a:solidFill>
            <a:prstDash val="solid"/>
          </a:ln>
        </p:spPr>
      </p:sp>
      <p:sp>
        <p:nvSpPr>
          <p:cNvPr id="32" name="Shape 29"/>
          <p:cNvSpPr/>
          <p:nvPr/>
        </p:nvSpPr>
        <p:spPr>
          <a:xfrm>
            <a:off x="6345936" y="4379976"/>
            <a:ext cx="548640" cy="548640"/>
          </a:xfrm>
          <a:prstGeom prst="roundRect">
            <a:avLst>
              <a:gd name="adj" fmla="val 13333"/>
            </a:avLst>
          </a:prstGeom>
          <a:solidFill>
            <a:srgbClr val="1EAAC8"/>
          </a:solidFill>
          <a:ln w="12700">
            <a:solidFill>
              <a:srgbClr val="1EAAC8">
                <a:alpha val="0"/>
              </a:srgbClr>
            </a:solidFill>
            <a:prstDash val="solid"/>
          </a:ln>
        </p:spPr>
      </p:sp>
      <p:sp>
        <p:nvSpPr>
          <p:cNvPr id="33" name="Text 30"/>
          <p:cNvSpPr/>
          <p:nvPr/>
        </p:nvSpPr>
        <p:spPr>
          <a:xfrm>
            <a:off x="6345936"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4" name="Text 31"/>
          <p:cNvSpPr/>
          <p:nvPr/>
        </p:nvSpPr>
        <p:spPr>
          <a:xfrm>
            <a:off x="7022592" y="4288536"/>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How are SSA/VA records stored and backed up — and how do you produce them for an onsite review or field exam?</a:t>
            </a:r>
            <a:endParaRPr lang="en-US" sz="1100" dirty="0"/>
          </a:p>
        </p:txBody>
      </p:sp>
      <p:sp>
        <p:nvSpPr>
          <p:cNvPr id="35" name="Shape 32"/>
          <p:cNvSpPr/>
          <p:nvPr/>
        </p:nvSpPr>
        <p:spPr>
          <a:xfrm>
            <a:off x="502920" y="5221224"/>
            <a:ext cx="5486400" cy="914400"/>
          </a:xfrm>
          <a:prstGeom prst="roundRect">
            <a:avLst>
              <a:gd name="adj" fmla="val 6000"/>
            </a:avLst>
          </a:prstGeom>
          <a:solidFill>
            <a:srgbClr val="FFFFFF"/>
          </a:solidFill>
          <a:ln w="12700">
            <a:solidFill>
              <a:srgbClr val="D8E0EA"/>
            </a:solidFill>
            <a:prstDash val="solid"/>
          </a:ln>
        </p:spPr>
      </p:sp>
      <p:sp>
        <p:nvSpPr>
          <p:cNvPr id="36" name="Shape 33"/>
          <p:cNvSpPr/>
          <p:nvPr/>
        </p:nvSpPr>
        <p:spPr>
          <a:xfrm>
            <a:off x="649224" y="5404104"/>
            <a:ext cx="548640" cy="548640"/>
          </a:xfrm>
          <a:prstGeom prst="roundRect">
            <a:avLst>
              <a:gd name="adj" fmla="val 13333"/>
            </a:avLst>
          </a:prstGeom>
          <a:solidFill>
            <a:srgbClr val="006DB6"/>
          </a:solidFill>
          <a:ln w="12700">
            <a:solidFill>
              <a:srgbClr val="006DB6">
                <a:alpha val="0"/>
              </a:srgbClr>
            </a:solidFill>
            <a:prstDash val="solid"/>
          </a:ln>
        </p:spPr>
      </p:sp>
      <p:sp>
        <p:nvSpPr>
          <p:cNvPr id="37" name="Text 34"/>
          <p:cNvSpPr/>
          <p:nvPr/>
        </p:nvSpPr>
        <p:spPr>
          <a:xfrm>
            <a:off x="649224"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8" name="Text 35"/>
          <p:cNvSpPr/>
          <p:nvPr/>
        </p:nvSpPr>
        <p:spPr>
          <a:xfrm>
            <a:off x="1325880" y="5312664"/>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Where does your staff lose the most time to manual paperwork — annual accountings, intake, reconciliation?</a:t>
            </a:r>
            <a:endParaRPr lang="en-US" sz="1100" dirty="0"/>
          </a:p>
        </p:txBody>
      </p:sp>
      <p:sp>
        <p:nvSpPr>
          <p:cNvPr id="39" name="Shape 36"/>
          <p:cNvSpPr/>
          <p:nvPr/>
        </p:nvSpPr>
        <p:spPr>
          <a:xfrm>
            <a:off x="6199632" y="5221224"/>
            <a:ext cx="5486400" cy="914400"/>
          </a:xfrm>
          <a:prstGeom prst="roundRect">
            <a:avLst>
              <a:gd name="adj" fmla="val 6000"/>
            </a:avLst>
          </a:prstGeom>
          <a:solidFill>
            <a:srgbClr val="FFFFFF"/>
          </a:solidFill>
          <a:ln w="12700">
            <a:solidFill>
              <a:srgbClr val="D8E0EA"/>
            </a:solidFill>
            <a:prstDash val="solid"/>
          </a:ln>
        </p:spPr>
      </p:sp>
      <p:sp>
        <p:nvSpPr>
          <p:cNvPr id="40" name="Shape 37"/>
          <p:cNvSpPr/>
          <p:nvPr/>
        </p:nvSpPr>
        <p:spPr>
          <a:xfrm>
            <a:off x="6345936" y="5404104"/>
            <a:ext cx="548640" cy="548640"/>
          </a:xfrm>
          <a:prstGeom prst="roundRect">
            <a:avLst>
              <a:gd name="adj" fmla="val 13333"/>
            </a:avLst>
          </a:prstGeom>
          <a:solidFill>
            <a:srgbClr val="1EAAC8"/>
          </a:solidFill>
          <a:ln w="12700">
            <a:solidFill>
              <a:srgbClr val="1EAAC8">
                <a:alpha val="0"/>
              </a:srgbClr>
            </a:solidFill>
            <a:prstDash val="solid"/>
          </a:ln>
        </p:spPr>
      </p:sp>
      <p:sp>
        <p:nvSpPr>
          <p:cNvPr id="41" name="Text 38"/>
          <p:cNvSpPr/>
          <p:nvPr/>
        </p:nvSpPr>
        <p:spPr>
          <a:xfrm>
            <a:off x="6345936"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8</a:t>
            </a:r>
            <a:endParaRPr lang="en-US" sz="1800" dirty="0"/>
          </a:p>
        </p:txBody>
      </p:sp>
      <p:sp>
        <p:nvSpPr>
          <p:cNvPr id="42" name="Text 39"/>
          <p:cNvSpPr/>
          <p:nvPr/>
        </p:nvSpPr>
        <p:spPr>
          <a:xfrm>
            <a:off x="7022592" y="5312664"/>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Besides you, who weighs in on an IT decision — the board, finance, leadership? What would make this worth your time?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RGS/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FREE FIRST STEP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Start with a no-commitment read of your environment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Before anyone talks contracts, we give you something useful — a clear picture of where you stand, yours to keep.</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ROG Services  |  IT Discovery Meeting</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11" name="Shape 8"/>
          <p:cNvSpPr/>
          <p:nvPr/>
        </p:nvSpPr>
        <p:spPr>
          <a:xfrm>
            <a:off x="502920" y="2103120"/>
            <a:ext cx="5212080" cy="4069080"/>
          </a:xfrm>
          <a:prstGeom prst="roundRect">
            <a:avLst>
              <a:gd name="adj" fmla="val 1798"/>
            </a:avLst>
          </a:prstGeom>
          <a:solidFill>
            <a:srgbClr val="1A1A2E"/>
          </a:solidFill>
          <a:ln w="12700">
            <a:solidFill>
              <a:srgbClr val="1A1A2E">
                <a:alpha val="0"/>
              </a:srgbClr>
            </a:solidFill>
            <a:prstDash val="solid"/>
          </a:ln>
        </p:spPr>
      </p:sp>
      <p:sp>
        <p:nvSpPr>
          <p:cNvPr id="12" name="Shape 9"/>
          <p:cNvSpPr/>
          <p:nvPr/>
        </p:nvSpPr>
        <p:spPr>
          <a:xfrm>
            <a:off x="502920" y="2103120"/>
            <a:ext cx="5212080" cy="91440"/>
          </a:xfrm>
          <a:prstGeom prst="rect">
            <a:avLst/>
          </a:prstGeom>
          <a:solidFill>
            <a:srgbClr val="F67D4B"/>
          </a:solidFill>
          <a:ln w="12700">
            <a:solidFill>
              <a:srgbClr val="F67D4B">
                <a:alpha val="0"/>
              </a:srgbClr>
            </a:solidFill>
            <a:prstDash val="solid"/>
          </a:ln>
        </p:spPr>
      </p:sp>
      <p:sp>
        <p:nvSpPr>
          <p:cNvPr id="13" name="Text 10"/>
          <p:cNvSpPr/>
          <p:nvPr/>
        </p:nvSpPr>
        <p:spPr>
          <a:xfrm>
            <a:off x="731520" y="2331720"/>
            <a:ext cx="475488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FREE · NO CONTRACT · YOURS TO KEEP</a:t>
            </a:r>
            <a:endParaRPr lang="en-US" sz="1000" dirty="0"/>
          </a:p>
        </p:txBody>
      </p:sp>
      <p:sp>
        <p:nvSpPr>
          <p:cNvPr id="14" name="Text 11"/>
          <p:cNvSpPr/>
          <p:nvPr/>
        </p:nvSpPr>
        <p:spPr>
          <a:xfrm>
            <a:off x="731520" y="2606040"/>
            <a:ext cx="475488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Nexus Assess</a:t>
            </a:r>
            <a:endParaRPr lang="en-US" sz="2600" dirty="0"/>
          </a:p>
        </p:txBody>
      </p:sp>
      <p:sp>
        <p:nvSpPr>
          <p:cNvPr id="15" name="Text 12"/>
          <p:cNvSpPr/>
          <p:nvPr/>
        </p:nvSpPr>
        <p:spPr>
          <a:xfrm>
            <a:off x="731520" y="3154680"/>
            <a:ext cx="4754880" cy="365760"/>
          </a:xfrm>
          <a:prstGeom prst="rect">
            <a:avLst/>
          </a:prstGeom>
          <a:noFill/>
          <a:ln/>
        </p:spPr>
        <p:txBody>
          <a:bodyPr wrap="square" lIns="0" tIns="0" rIns="0" bIns="0" rtlCol="0" anchor="t"/>
          <a:lstStyle/>
          <a:p>
            <a:pPr indent="0" marL="0">
              <a:buNone/>
            </a:pPr>
            <a:r>
              <a:rPr lang="en-US" sz="1200" dirty="0">
                <a:solidFill>
                  <a:srgbClr val="FFFFFF">
                    <a:alpha val="90000"/>
                  </a:srgbClr>
                </a:solidFill>
                <a:latin typeface="Arial" pitchFamily="34" charset="0"/>
                <a:ea typeface="Arial" pitchFamily="34" charset="-122"/>
                <a:cs typeface="Arial" pitchFamily="34" charset="-120"/>
              </a:rPr>
              <a:t>A security and risk read of your actual environment:</a:t>
            </a:r>
            <a:endParaRPr lang="en-US" sz="1200" dirty="0"/>
          </a:p>
        </p:txBody>
      </p:sp>
      <p:sp>
        <p:nvSpPr>
          <p:cNvPr id="16" name="Shape 13"/>
          <p:cNvSpPr/>
          <p:nvPr/>
        </p:nvSpPr>
        <p:spPr>
          <a:xfrm>
            <a:off x="777240" y="3675888"/>
            <a:ext cx="109728" cy="109728"/>
          </a:xfrm>
          <a:prstGeom prst="ellipse">
            <a:avLst/>
          </a:prstGeom>
          <a:solidFill>
            <a:srgbClr val="1EAAC8"/>
          </a:solidFill>
          <a:ln w="12700">
            <a:solidFill>
              <a:srgbClr val="1EAAC8">
                <a:alpha val="0"/>
              </a:srgbClr>
            </a:solidFill>
            <a:prstDash val="solid"/>
          </a:ln>
        </p:spPr>
      </p:sp>
      <p:sp>
        <p:nvSpPr>
          <p:cNvPr id="17" name="Text 14"/>
          <p:cNvSpPr/>
          <p:nvPr/>
        </p:nvSpPr>
        <p:spPr>
          <a:xfrm>
            <a:off x="1005840" y="36118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Internal + external vulnerability scan</a:t>
            </a:r>
            <a:endParaRPr lang="en-US" sz="1200" dirty="0"/>
          </a:p>
        </p:txBody>
      </p:sp>
      <p:sp>
        <p:nvSpPr>
          <p:cNvPr id="18" name="Shape 15"/>
          <p:cNvSpPr/>
          <p:nvPr/>
        </p:nvSpPr>
        <p:spPr>
          <a:xfrm>
            <a:off x="777240" y="4133088"/>
            <a:ext cx="109728" cy="109728"/>
          </a:xfrm>
          <a:prstGeom prst="ellipse">
            <a:avLst/>
          </a:prstGeom>
          <a:solidFill>
            <a:srgbClr val="1EAAC8"/>
          </a:solidFill>
          <a:ln w="12700">
            <a:solidFill>
              <a:srgbClr val="1EAAC8">
                <a:alpha val="0"/>
              </a:srgbClr>
            </a:solidFill>
            <a:prstDash val="solid"/>
          </a:ln>
        </p:spPr>
      </p:sp>
      <p:sp>
        <p:nvSpPr>
          <p:cNvPr id="19" name="Text 16"/>
          <p:cNvSpPr/>
          <p:nvPr/>
        </p:nvSpPr>
        <p:spPr>
          <a:xfrm>
            <a:off x="1005840" y="40690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Dark-web credential exposure check</a:t>
            </a:r>
            <a:endParaRPr lang="en-US" sz="1200" dirty="0"/>
          </a:p>
        </p:txBody>
      </p:sp>
      <p:sp>
        <p:nvSpPr>
          <p:cNvPr id="20" name="Shape 17"/>
          <p:cNvSpPr/>
          <p:nvPr/>
        </p:nvSpPr>
        <p:spPr>
          <a:xfrm>
            <a:off x="777240" y="4590288"/>
            <a:ext cx="109728" cy="109728"/>
          </a:xfrm>
          <a:prstGeom prst="ellipse">
            <a:avLst/>
          </a:prstGeom>
          <a:solidFill>
            <a:srgbClr val="1EAAC8"/>
          </a:solidFill>
          <a:ln w="12700">
            <a:solidFill>
              <a:srgbClr val="1EAAC8">
                <a:alpha val="0"/>
              </a:srgbClr>
            </a:solidFill>
            <a:prstDash val="solid"/>
          </a:ln>
        </p:spPr>
      </p:sp>
      <p:sp>
        <p:nvSpPr>
          <p:cNvPr id="21" name="Text 18"/>
          <p:cNvSpPr/>
          <p:nvPr/>
        </p:nvSpPr>
        <p:spPr>
          <a:xfrm>
            <a:off x="1005840" y="45262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Microsoft 365 / Google Workspace security review</a:t>
            </a:r>
            <a:endParaRPr lang="en-US" sz="1200" dirty="0"/>
          </a:p>
        </p:txBody>
      </p:sp>
      <p:sp>
        <p:nvSpPr>
          <p:cNvPr id="22" name="Shape 19"/>
          <p:cNvSpPr/>
          <p:nvPr/>
        </p:nvSpPr>
        <p:spPr>
          <a:xfrm>
            <a:off x="777240" y="5047488"/>
            <a:ext cx="109728" cy="109728"/>
          </a:xfrm>
          <a:prstGeom prst="ellipse">
            <a:avLst/>
          </a:prstGeom>
          <a:solidFill>
            <a:srgbClr val="1EAAC8"/>
          </a:solidFill>
          <a:ln w="12700">
            <a:solidFill>
              <a:srgbClr val="1EAAC8">
                <a:alpha val="0"/>
              </a:srgbClr>
            </a:solidFill>
            <a:prstDash val="solid"/>
          </a:ln>
        </p:spPr>
      </p:sp>
      <p:sp>
        <p:nvSpPr>
          <p:cNvPr id="23" name="Text 20"/>
          <p:cNvSpPr/>
          <p:nvPr/>
        </p:nvSpPr>
        <p:spPr>
          <a:xfrm>
            <a:off x="1005840" y="49834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Prioritized roadmap — mapped to SSA/VA safeguarding</a:t>
            </a:r>
            <a:endParaRPr lang="en-US" sz="1200" dirty="0"/>
          </a:p>
        </p:txBody>
      </p:sp>
      <p:sp>
        <p:nvSpPr>
          <p:cNvPr id="24" name="Text 21"/>
          <p:cNvSpPr/>
          <p:nvPr/>
        </p:nvSpPr>
        <p:spPr>
          <a:xfrm>
            <a:off x="731520" y="5532120"/>
            <a:ext cx="4800600" cy="548640"/>
          </a:xfrm>
          <a:prstGeom prst="rect">
            <a:avLst/>
          </a:prstGeom>
          <a:noFill/>
          <a:ln/>
        </p:spPr>
        <p:txBody>
          <a:bodyPr wrap="square" lIns="0" tIns="0" rIns="0" bIns="0" rtlCol="0" anchor="t"/>
          <a:lstStyle/>
          <a:p>
            <a:pPr indent="0" marL="0">
              <a:buNone/>
            </a:pPr>
            <a:r>
              <a:rPr lang="en-US" sz="1050" i="1" dirty="0">
                <a:solidFill>
                  <a:srgbClr val="1EAAC8"/>
                </a:solidFill>
                <a:latin typeface="Arial" pitchFamily="34" charset="0"/>
                <a:ea typeface="Arial" pitchFamily="34" charset="-122"/>
                <a:cs typeface="Arial" pitchFamily="34" charset="-120"/>
              </a:rPr>
              <a:t>No obligation. Whether or not we ever work together, the roadmap is yours to act on with whoever supports you today.</a:t>
            </a:r>
            <a:endParaRPr lang="en-US" sz="1050" dirty="0"/>
          </a:p>
        </p:txBody>
      </p:sp>
      <p:sp>
        <p:nvSpPr>
          <p:cNvPr id="25" name="Shape 22"/>
          <p:cNvSpPr/>
          <p:nvPr/>
        </p:nvSpPr>
        <p:spPr>
          <a:xfrm>
            <a:off x="5989320" y="2103120"/>
            <a:ext cx="5715000" cy="1234440"/>
          </a:xfrm>
          <a:prstGeom prst="roundRect">
            <a:avLst>
              <a:gd name="adj" fmla="val 5926"/>
            </a:avLst>
          </a:prstGeom>
          <a:solidFill>
            <a:srgbClr val="FFFFFF"/>
          </a:solidFill>
          <a:ln w="12700">
            <a:solidFill>
              <a:srgbClr val="D8E0EA"/>
            </a:solidFill>
            <a:prstDash val="solid"/>
          </a:ln>
        </p:spPr>
      </p:sp>
      <p:sp>
        <p:nvSpPr>
          <p:cNvPr id="26" name="Shape 23"/>
          <p:cNvSpPr/>
          <p:nvPr/>
        </p:nvSpPr>
        <p:spPr>
          <a:xfrm>
            <a:off x="6144768" y="2304288"/>
            <a:ext cx="868680" cy="822960"/>
          </a:xfrm>
          <a:prstGeom prst="roundRect">
            <a:avLst>
              <a:gd name="adj" fmla="val 11111"/>
            </a:avLst>
          </a:prstGeom>
          <a:solidFill>
            <a:srgbClr val="F67D4B"/>
          </a:solidFill>
          <a:ln w="12700">
            <a:solidFill>
              <a:srgbClr val="F67D4B">
                <a:alpha val="0"/>
              </a:srgbClr>
            </a:solidFill>
            <a:prstDash val="solid"/>
          </a:ln>
        </p:spPr>
      </p:sp>
      <p:sp>
        <p:nvSpPr>
          <p:cNvPr id="27" name="Text 24"/>
          <p:cNvSpPr/>
          <p:nvPr/>
        </p:nvSpPr>
        <p:spPr>
          <a:xfrm>
            <a:off x="6144768" y="23042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01</a:t>
            </a:r>
            <a:endParaRPr lang="en-US" sz="2200" dirty="0"/>
          </a:p>
        </p:txBody>
      </p:sp>
      <p:sp>
        <p:nvSpPr>
          <p:cNvPr id="28" name="Text 25"/>
          <p:cNvSpPr/>
          <p:nvPr/>
        </p:nvSpPr>
        <p:spPr>
          <a:xfrm>
            <a:off x="7178040" y="22860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Today — discovery</a:t>
            </a:r>
            <a:endParaRPr lang="en-US" sz="1500" dirty="0"/>
          </a:p>
        </p:txBody>
      </p:sp>
      <p:sp>
        <p:nvSpPr>
          <p:cNvPr id="29" name="Text 26"/>
          <p:cNvSpPr/>
          <p:nvPr/>
        </p:nvSpPr>
        <p:spPr>
          <a:xfrm>
            <a:off x="7178040" y="26700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relaxed conversation about your environment and what matters most. No commitment.</a:t>
            </a:r>
            <a:endParaRPr lang="en-US" sz="1050" dirty="0"/>
          </a:p>
        </p:txBody>
      </p:sp>
      <p:sp>
        <p:nvSpPr>
          <p:cNvPr id="30" name="Shape 27"/>
          <p:cNvSpPr/>
          <p:nvPr/>
        </p:nvSpPr>
        <p:spPr>
          <a:xfrm>
            <a:off x="5989320" y="3474720"/>
            <a:ext cx="5715000" cy="1234440"/>
          </a:xfrm>
          <a:prstGeom prst="roundRect">
            <a:avLst>
              <a:gd name="adj" fmla="val 5926"/>
            </a:avLst>
          </a:prstGeom>
          <a:solidFill>
            <a:srgbClr val="FFFFFF"/>
          </a:solidFill>
          <a:ln w="12700">
            <a:solidFill>
              <a:srgbClr val="D8E0EA"/>
            </a:solidFill>
            <a:prstDash val="solid"/>
          </a:ln>
        </p:spPr>
      </p:sp>
      <p:sp>
        <p:nvSpPr>
          <p:cNvPr id="31" name="Shape 28"/>
          <p:cNvSpPr/>
          <p:nvPr/>
        </p:nvSpPr>
        <p:spPr>
          <a:xfrm>
            <a:off x="6144768" y="3675888"/>
            <a:ext cx="868680" cy="822960"/>
          </a:xfrm>
          <a:prstGeom prst="roundRect">
            <a:avLst>
              <a:gd name="adj" fmla="val 11111"/>
            </a:avLst>
          </a:prstGeom>
          <a:solidFill>
            <a:srgbClr val="006DB6"/>
          </a:solidFill>
          <a:ln w="12700">
            <a:solidFill>
              <a:srgbClr val="006DB6">
                <a:alpha val="0"/>
              </a:srgbClr>
            </a:solidFill>
            <a:prstDash val="solid"/>
          </a:ln>
        </p:spPr>
      </p:sp>
      <p:sp>
        <p:nvSpPr>
          <p:cNvPr id="32" name="Text 29"/>
          <p:cNvSpPr/>
          <p:nvPr/>
        </p:nvSpPr>
        <p:spPr>
          <a:xfrm>
            <a:off x="6144768" y="36758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02</a:t>
            </a:r>
            <a:endParaRPr lang="en-US" sz="2200" dirty="0"/>
          </a:p>
        </p:txBody>
      </p:sp>
      <p:sp>
        <p:nvSpPr>
          <p:cNvPr id="33" name="Text 30"/>
          <p:cNvSpPr/>
          <p:nvPr/>
        </p:nvSpPr>
        <p:spPr>
          <a:xfrm>
            <a:off x="7178040" y="36576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Free Nexus Assess</a:t>
            </a:r>
            <a:endParaRPr lang="en-US" sz="1500" dirty="0"/>
          </a:p>
        </p:txBody>
      </p:sp>
      <p:sp>
        <p:nvSpPr>
          <p:cNvPr id="34" name="Text 31"/>
          <p:cNvSpPr/>
          <p:nvPr/>
        </p:nvSpPr>
        <p:spPr>
          <a:xfrm>
            <a:off x="7178040" y="40416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scan and review, then hand you a plain-language risk roadmap mapped to your safeguarding duties.</a:t>
            </a:r>
            <a:endParaRPr lang="en-US" sz="1050" dirty="0"/>
          </a:p>
        </p:txBody>
      </p:sp>
      <p:sp>
        <p:nvSpPr>
          <p:cNvPr id="35" name="Shape 32"/>
          <p:cNvSpPr/>
          <p:nvPr/>
        </p:nvSpPr>
        <p:spPr>
          <a:xfrm>
            <a:off x="5989320" y="4846320"/>
            <a:ext cx="5715000" cy="1234440"/>
          </a:xfrm>
          <a:prstGeom prst="roundRect">
            <a:avLst>
              <a:gd name="adj" fmla="val 5926"/>
            </a:avLst>
          </a:prstGeom>
          <a:solidFill>
            <a:srgbClr val="FFFFFF"/>
          </a:solidFill>
          <a:ln w="12700">
            <a:solidFill>
              <a:srgbClr val="D8E0EA"/>
            </a:solidFill>
            <a:prstDash val="solid"/>
          </a:ln>
        </p:spPr>
      </p:sp>
      <p:sp>
        <p:nvSpPr>
          <p:cNvPr id="36" name="Shape 33"/>
          <p:cNvSpPr/>
          <p:nvPr/>
        </p:nvSpPr>
        <p:spPr>
          <a:xfrm>
            <a:off x="6144768" y="5047488"/>
            <a:ext cx="868680" cy="822960"/>
          </a:xfrm>
          <a:prstGeom prst="roundRect">
            <a:avLst>
              <a:gd name="adj" fmla="val 11111"/>
            </a:avLst>
          </a:prstGeom>
          <a:solidFill>
            <a:srgbClr val="1EAAC8"/>
          </a:solidFill>
          <a:ln w="12700">
            <a:solidFill>
              <a:srgbClr val="1EAAC8">
                <a:alpha val="0"/>
              </a:srgbClr>
            </a:solidFill>
            <a:prstDash val="solid"/>
          </a:ln>
        </p:spPr>
      </p:sp>
      <p:sp>
        <p:nvSpPr>
          <p:cNvPr id="37" name="Text 34"/>
          <p:cNvSpPr/>
          <p:nvPr/>
        </p:nvSpPr>
        <p:spPr>
          <a:xfrm>
            <a:off x="6144768" y="50474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03</a:t>
            </a:r>
            <a:endParaRPr lang="en-US" sz="2200" dirty="0"/>
          </a:p>
        </p:txBody>
      </p:sp>
      <p:sp>
        <p:nvSpPr>
          <p:cNvPr id="38" name="Text 35"/>
          <p:cNvSpPr/>
          <p:nvPr/>
        </p:nvSpPr>
        <p:spPr>
          <a:xfrm>
            <a:off x="7178040" y="50292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Right-sized proposal</a:t>
            </a:r>
            <a:endParaRPr lang="en-US" sz="1500" dirty="0"/>
          </a:p>
        </p:txBody>
      </p:sp>
      <p:sp>
        <p:nvSpPr>
          <p:cNvPr id="39" name="Text 36"/>
          <p:cNvSpPr/>
          <p:nvPr/>
        </p:nvSpPr>
        <p:spPr>
          <a:xfrm>
            <a:off x="7178040" y="54132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Managed or co-managed — only the layers you want, scoped to your real environment, nonprofit licensing applied.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DB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alpha val="30000"/>
            </a:srgbClr>
          </a:solidFill>
          <a:ln w="12700">
            <a:solidFill>
              <a:srgbClr val="1A1A2E">
                <a:alpha val="0"/>
              </a:srgbClr>
            </a:solidFill>
            <a:prstDash val="solid"/>
          </a:ln>
        </p:spPr>
      </p:sp>
      <p:sp>
        <p:nvSpPr>
          <p:cNvPr id="3" name="Shape 1"/>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4" name="Shape 2"/>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5" name="Image 0" descr="C:/vscode/tech-branding/tech-branding/Clients/RGS/assets/Technijian Logo - white text.png">    </p:cNvPr>
          <p:cNvPicPr>
            <a:picLocks noChangeAspect="1"/>
          </p:cNvPicPr>
          <p:nvPr/>
        </p:nvPicPr>
        <p:blipFill>
          <a:blip r:embed="rId1"/>
          <a:stretch>
            <a:fillRect/>
          </a:stretch>
        </p:blipFill>
        <p:spPr>
          <a:xfrm>
            <a:off x="502920" y="365760"/>
            <a:ext cx="2011680" cy="420854"/>
          </a:xfrm>
          <a:prstGeom prst="rect">
            <a:avLst/>
          </a:prstGeom>
        </p:spPr>
      </p:pic>
      <p:sp>
        <p:nvSpPr>
          <p:cNvPr id="6" name="Text 3"/>
          <p:cNvSpPr/>
          <p:nvPr/>
        </p:nvSpPr>
        <p:spPr>
          <a:xfrm>
            <a:off x="502920" y="960120"/>
            <a:ext cx="548640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NEXT STEP</a:t>
            </a:r>
            <a:endParaRPr lang="en-US" sz="1000" dirty="0"/>
          </a:p>
        </p:txBody>
      </p:sp>
      <p:sp>
        <p:nvSpPr>
          <p:cNvPr id="7" name="Text 4"/>
          <p:cNvSpPr/>
          <p:nvPr/>
        </p:nvSpPr>
        <p:spPr>
          <a:xfrm>
            <a:off x="502920" y="12344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One small step. </a:t>
            </a:r>
            <a:pPr indent="0" marL="0">
              <a:buNone/>
            </a:pPr>
            <a:r>
              <a:rPr lang="en-US" sz="3400" b="1" dirty="0">
                <a:solidFill>
                  <a:srgbClr val="F67D4B"/>
                </a:solidFill>
                <a:latin typeface="Arial" pitchFamily="34" charset="0"/>
                <a:ea typeface="Arial" pitchFamily="34" charset="-122"/>
                <a:cs typeface="Arial" pitchFamily="34" charset="-120"/>
              </a:rPr>
              <a:t>Nothing to sign.</a:t>
            </a:r>
            <a:endParaRPr lang="en-US" sz="3400" dirty="0"/>
          </a:p>
        </p:txBody>
      </p:sp>
      <p:sp>
        <p:nvSpPr>
          <p:cNvPr id="8" name="Shape 5"/>
          <p:cNvSpPr/>
          <p:nvPr/>
        </p:nvSpPr>
        <p:spPr>
          <a:xfrm>
            <a:off x="502920" y="2331720"/>
            <a:ext cx="5577840" cy="2560320"/>
          </a:xfrm>
          <a:prstGeom prst="roundRect">
            <a:avLst>
              <a:gd name="adj" fmla="val 2857"/>
            </a:avLst>
          </a:prstGeom>
          <a:solidFill>
            <a:srgbClr val="FFFFFF">
              <a:alpha val="12000"/>
            </a:srgbClr>
          </a:solidFill>
          <a:ln w="12700">
            <a:solidFill>
              <a:srgbClr val="1EAAC8"/>
            </a:solidFill>
            <a:prstDash val="solid"/>
          </a:ln>
        </p:spPr>
      </p:sp>
      <p:sp>
        <p:nvSpPr>
          <p:cNvPr id="9" name="Text 6"/>
          <p:cNvSpPr/>
          <p:nvPr/>
        </p:nvSpPr>
        <p:spPr>
          <a:xfrm>
            <a:off x="731520" y="2468880"/>
            <a:ext cx="5120640" cy="22860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RECOMMENDED</a:t>
            </a:r>
            <a:endParaRPr lang="en-US" sz="1000" dirty="0"/>
          </a:p>
        </p:txBody>
      </p:sp>
      <p:sp>
        <p:nvSpPr>
          <p:cNvPr id="10" name="Text 7"/>
          <p:cNvSpPr/>
          <p:nvPr/>
        </p:nvSpPr>
        <p:spPr>
          <a:xfrm>
            <a:off x="731520" y="2697480"/>
            <a:ext cx="51206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Book your free Nexus Assess</a:t>
            </a:r>
            <a:endParaRPr lang="en-US" sz="1800" dirty="0"/>
          </a:p>
        </p:txBody>
      </p:sp>
      <p:sp>
        <p:nvSpPr>
          <p:cNvPr id="11" name="Text 8"/>
          <p:cNvSpPr/>
          <p:nvPr/>
        </p:nvSpPr>
        <p:spPr>
          <a:xfrm>
            <a:off x="731520" y="3246120"/>
            <a:ext cx="5120640" cy="155448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We scan your environment and Microsoft 365 / Google Workspace, then hand you a prioritized risk roadmap within about 10 business days — yours to keep, no contract, no obligation.</a:t>
            </a:r>
            <a:endParaRPr lang="en-US" sz="1200" dirty="0"/>
          </a:p>
        </p:txBody>
      </p:sp>
      <p:sp>
        <p:nvSpPr>
          <p:cNvPr id="12" name="Shape 9"/>
          <p:cNvSpPr/>
          <p:nvPr/>
        </p:nvSpPr>
        <p:spPr>
          <a:xfrm>
            <a:off x="6355080" y="2331720"/>
            <a:ext cx="5577840" cy="2560320"/>
          </a:xfrm>
          <a:prstGeom prst="roundRect">
            <a:avLst>
              <a:gd name="adj" fmla="val 2857"/>
            </a:avLst>
          </a:prstGeom>
          <a:solidFill>
            <a:srgbClr val="FFFFFF">
              <a:alpha val="12000"/>
            </a:srgbClr>
          </a:solidFill>
          <a:ln w="12700">
            <a:solidFill>
              <a:srgbClr val="F67D4B"/>
            </a:solidFill>
            <a:prstDash val="solid"/>
          </a:ln>
        </p:spPr>
      </p:sp>
      <p:sp>
        <p:nvSpPr>
          <p:cNvPr id="13" name="Text 10"/>
          <p:cNvSpPr/>
          <p:nvPr/>
        </p:nvSpPr>
        <p:spPr>
          <a:xfrm>
            <a:off x="6583680" y="2468880"/>
            <a:ext cx="5120640" cy="22860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HAPPY TO SHARE</a:t>
            </a:r>
            <a:endParaRPr lang="en-US" sz="1000" dirty="0"/>
          </a:p>
        </p:txBody>
      </p:sp>
      <p:sp>
        <p:nvSpPr>
          <p:cNvPr id="14" name="Text 11"/>
          <p:cNvSpPr/>
          <p:nvPr/>
        </p:nvSpPr>
        <p:spPr>
          <a:xfrm>
            <a:off x="6583680" y="2697480"/>
            <a:ext cx="51206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Our security + AI playbook</a:t>
            </a:r>
            <a:endParaRPr lang="en-US" sz="1800" dirty="0"/>
          </a:p>
        </p:txBody>
      </p:sp>
      <p:sp>
        <p:nvSpPr>
          <p:cNvPr id="15" name="Text 12"/>
          <p:cNvSpPr/>
          <p:nvPr/>
        </p:nvSpPr>
        <p:spPr>
          <a:xfrm>
            <a:off x="6583680" y="3246120"/>
            <a:ext cx="5120640" cy="155448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I'll walk you through the broader security and practical-AI playbook we run for ourselves and our clients, nonprofits included — useful context whether or not we work together.</a:t>
            </a:r>
            <a:endParaRPr lang="en-US" sz="1200" dirty="0"/>
          </a:p>
        </p:txBody>
      </p:sp>
      <p:sp>
        <p:nvSpPr>
          <p:cNvPr id="16" name="Shape 13"/>
          <p:cNvSpPr/>
          <p:nvPr/>
        </p:nvSpPr>
        <p:spPr>
          <a:xfrm>
            <a:off x="502920" y="5212080"/>
            <a:ext cx="11155680" cy="777240"/>
          </a:xfrm>
          <a:prstGeom prst="roundRect">
            <a:avLst>
              <a:gd name="adj" fmla="val 47059"/>
            </a:avLst>
          </a:prstGeom>
          <a:solidFill>
            <a:srgbClr val="F67D4B"/>
          </a:solidFill>
          <a:ln w="12700">
            <a:solidFill>
              <a:srgbClr val="F67D4B">
                <a:alpha val="0"/>
              </a:srgbClr>
            </a:solidFill>
            <a:prstDash val="solid"/>
          </a:ln>
        </p:spPr>
      </p:sp>
      <p:sp>
        <p:nvSpPr>
          <p:cNvPr id="17" name="Text 14"/>
          <p:cNvSpPr/>
          <p:nvPr/>
        </p:nvSpPr>
        <p:spPr>
          <a:xfrm>
            <a:off x="502920" y="5212080"/>
            <a:ext cx="11155680" cy="777240"/>
          </a:xfrm>
          <a:prstGeom prst="rect">
            <a:avLst/>
          </a:prstGeom>
          <a:noFill/>
          <a:ln/>
        </p:spPr>
        <p:txBody>
          <a:bodyPr wrap="square" lIns="0" tIns="0" rIns="0" bIns="0" rtlCol="0" anchor="ctr"/>
          <a:lstStyle/>
          <a:p>
            <a:pPr algn="ctr" indent="0" marL="0">
              <a:buNone/>
            </a:pPr>
            <a:r>
              <a:rPr lang="en-US" sz="1600" b="1" dirty="0">
                <a:solidFill>
                  <a:srgbClr val="FFFFFF"/>
                </a:solidFill>
              </a:rPr>
              <a:t>Let's book your free Nexus Assess   ·   </a:t>
            </a:r>
            <a:pPr algn="ctr" indent="0" marL="0">
              <a:buNone/>
            </a:pPr>
            <a:r>
              <a:rPr lang="en-US" sz="1400" dirty="0">
                <a:solidFill>
                  <a:srgbClr val="FFFFFF">
                    <a:alpha val="90000"/>
                  </a:srgbClr>
                </a:solidFill>
              </a:rPr>
              <a:t>rjain@technijian.com   ·   949.379.8499   ·   technijian.com</a:t>
            </a:r>
            <a:endParaRPr lang="en-US" sz="1600" dirty="0"/>
          </a:p>
        </p:txBody>
      </p:sp>
      <p:sp>
        <p:nvSpPr>
          <p:cNvPr id="18" name="Text 15"/>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100" dirty="0">
                <a:solidFill>
                  <a:srgbClr val="FFFFFF">
                    <a:alpha val="65000"/>
                  </a:srgbClr>
                </a:solidFill>
                <a:latin typeface="Arial" pitchFamily="34" charset="0"/>
                <a:ea typeface="Arial" pitchFamily="34" charset="-122"/>
                <a:cs typeface="Arial" pitchFamily="34" charset="-120"/>
              </a:rPr>
              <a:t>18 Technology Dr. Ste 141, Irvine CA 92618  ·  Panchkula, India  ·  technology as a solution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Technijian for ROG Services</dc:title>
  <dc:subject>Technijian for ROG Services — Managed &amp; Co-Managed IT, Security &amp; Strategic Support</dc:subject>
  <dc:creator>Technijian</dc:creator>
  <cp:lastModifiedBy>Technijian</cp:lastModifiedBy>
  <cp:revision>1</cp:revision>
  <dcterms:created xsi:type="dcterms:W3CDTF">2026-06-22T16:19:17Z</dcterms:created>
  <dcterms:modified xsi:type="dcterms:W3CDTF">2026-06-22T16:19:17Z</dcterms:modified>
</cp:coreProperties>
</file>